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Open flat, no hype. 'We didn't build a voice bot. We built the floor it works on.' Name the buyer immediately: a collections head at a bank or NBFC. Tell them the deck is 15 minutes and the demo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[0:30-1:45] Tell it as a story, slowly. Walk the four rows on the right. The point to land: every hour between the bounce and a structured intervention raises the chance of rolling into the next DPD bucket. This is not a conversation quality problem. It is a latency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[1:45-2:45] This is the sentence the whole deck hangs on. Say it once, pause. A borrower contacted on day 12 has already reclassified the debt. The winning product is not a better script, it is killing the delay between the event and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[2:45-3:45] Four cards, one line each, quick. Then land the last line — the compliance desk running a regulated operation out of a spreadsheet is the setup for the moat slide later. Don't oversell the numbers; say they are published industry ranges.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[3:45-4:45] Read only the right-hand column out loud. The credibility move here is the last row: we deliberately do NOT replace hardship, field and legal judgement. A judge who works in BFSI will trust the rest of the deck more because of that one 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[4:45-5:45] This is the competitive slide. Name them if asked: Vapi, Bland, Retell, ElevenLabs Agents. They are excellent at the mouth and that is genuinely hard. But none of them can answer the right-hand column, because those answers live in a ledger, a consent registry and an authority matrix — not in a transcript.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[5:45-5:55] Breath. Signal the shift from problem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[5:55-7:00] Walk top to bottom. The line to deliver at the end: if a better voice model ships next month we swap the top layer in a day — the three below it are what took the work and what a competitor cannot copy from a demo video.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[7:00-8:00] The most important architecture slide. Say the headline, then the pipeline, then the last line. If a judge asks 'isn't that less AI?' — answer: it is less improvisation. The intelligence moved from the prompt into engines that can be tested, replayed and defended to a regulator.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[8:00-9:00] Do not read all four. Pick authority matrix and live QA — they are the two nobody expects. Authority: the reason a human telecaller cannot close a waiver is policy, so we encoded the policy instead of hoping the model behaves. Live QA: a critical flag can interrupt the call while it is still happening.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[9:00-9:50] Left to right on the diagram, then the four rails at the bottom left. Key line: the model cannot hand off by saying 'transferring you to legal' in a transcript — that pattern is injectable. Handoff is a tool call against an allowlist, and it writes from_bot_id / to_bot_id.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[9:50-10:00] Transition. This is the section that turns a project into a platform.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[10:00-11:00] Layers 1-3 are the 2026 enterprise consensus — skills, agents, MCP. Layer 4 is ours and it is the whole argument: the thing that makes this safe to hand to a non-engineer is that the dangerous decisions were never in the editable surface to begin with.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[11:00-11:50] Don't read all nine fields. Say: an agent is a card, versioned like code, and the right-hand panel is the reason ops can be trusted with it — you cannot publish an agent that fails its own eval pack. That is CI for agents.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[11:50-12:35] Move fast here, it is a proof-of-breadth slide. If short on time, say only: eight screens, all live, all editable by ops — and point at the demo.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[12:35-13:15] The deny-list plus CI contract test is worth calling out — it means 'read-only' is enforced by the build, not by a reviewer's memory. The client side is how a bank stops us being another island.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[13:15-14:00] Slow down. This is the slide that separates us from every voice-AI vendor in the room. Under RBI the lender is vicariously liable for a recovery agent — and a voice bot is a recovery agent. So an after-hours dial is not an ops mistake, it is a product bug. We treated it as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[14:00-14:35] Evidence slide. Six numbers, seven shipped items, one measured stack. If a judge doubts depth, this is the slide to sit on. Be honest that reco, treatment and auto-barge are running in shadow mode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[14:35-15:10] Be scrupulous here — say out loud that the bottom band is published McKinsey ranges and not our telemetry. That honesty is what makes the rest believable. Our own number to watch is PTP kept %, because PTP made is vanity.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[15:10-15:45] Read the middle column fast and the right column slowly. Do not be dismissive of the competition — concede that their voice quality is excellent. The claim is that we are in a different category, not that we are a better bot.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[15:45-16:00] Land the headline, pause, then go straight into the demo. Do not add a summary — the last slide is the summary. If Q&amp;A comes first, the two questions to expect are 'why not just a better prompt' (answer: authority and audit) and 'how fast is it really' (answer: warm TTFB 1.3-1.9s, and pooling was the fix).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Rounded Rectangle 2"/>
          <p:cNvSpPr/>
          <p:nvPr/>
        </p:nvSpPr>
        <p:spPr>
          <a:xfrm>
            <a:off x="0" y="0"/>
            <a:ext cx="310896" cy="6858000"/>
          </a:xfrm>
          <a:prstGeom prst="roundRect">
            <a:avLst>
              <a:gd name="adj" fmla="val 0"/>
            </a:avLst>
          </a:prstGeom>
          <a:solidFill>
            <a:srgbClr val="114FF4"/>
          </a:solidFill>
          <a:ln>
            <a:noFill/>
          </a:ln>
          <a:effectLst/>
        </p:spPr>
        <p:txBody>
          <a:bodyPr rtlCol="0" anchor="ctr"/>
          <a:lstStyle/>
          <a:p>
            <a:pPr algn="ctr"/>
          </a:p>
        </p:txBody>
      </p:sp>
      <p:sp>
        <p:nvSpPr>
          <p:cNvPr id="4" name="TextBox 3"/>
          <p:cNvSpPr txBox="1"/>
          <p:nvPr/>
        </p:nvSpPr>
        <p:spPr>
          <a:xfrm>
            <a:off x="1051560" y="1417320"/>
            <a:ext cx="9601200" cy="320040"/>
          </a:xfrm>
          <a:prstGeom prst="rect">
            <a:avLst/>
          </a:prstGeom>
          <a:noFill/>
        </p:spPr>
        <p:txBody>
          <a:bodyPr wrap="square" lIns="0" rIns="0" tIns="0" bIns="0" anchor="t">
            <a:spAutoFit/>
          </a:bodyPr>
          <a:lstStyle/>
          <a:p>
            <a:pPr algn="l">
              <a:spcAft>
                <a:spcPts val="0"/>
              </a:spcAft>
            </a:pPr>
            <a:r>
              <a:rPr sz="1200" b="1" spc="200">
                <a:solidFill>
                  <a:srgbClr val="A1B9FC"/>
                </a:solidFill>
                <a:latin typeface="Roboto"/>
              </a:rPr>
              <a:t>BIGTAPP ANALYTICS  ·  INTERNAL HACKATHON 2026</a:t>
            </a:r>
          </a:p>
        </p:txBody>
      </p:sp>
      <p:sp>
        <p:nvSpPr>
          <p:cNvPr id="5" name="TextBox 4"/>
          <p:cNvSpPr txBox="1"/>
          <p:nvPr/>
        </p:nvSpPr>
        <p:spPr>
          <a:xfrm>
            <a:off x="1051560" y="1965960"/>
            <a:ext cx="10058400" cy="1371600"/>
          </a:xfrm>
          <a:prstGeom prst="rect">
            <a:avLst/>
          </a:prstGeom>
          <a:noFill/>
        </p:spPr>
        <p:txBody>
          <a:bodyPr wrap="square" lIns="0" rIns="0" tIns="0" bIns="0" anchor="t">
            <a:spAutoFit/>
          </a:bodyPr>
          <a:lstStyle/>
          <a:p>
            <a:pPr algn="l">
              <a:lnSpc>
                <a:spcPct val="95000"/>
              </a:lnSpc>
              <a:spcAft>
                <a:spcPts val="0"/>
              </a:spcAft>
            </a:pPr>
            <a:r>
              <a:rPr sz="7600" b="1">
                <a:solidFill>
                  <a:srgbClr val="FFFFFF"/>
                </a:solidFill>
                <a:latin typeface="Proxima Nova"/>
              </a:rPr>
              <a:t>BIGBOUND AI</a:t>
            </a:r>
          </a:p>
        </p:txBody>
      </p:sp>
      <p:sp>
        <p:nvSpPr>
          <p:cNvPr id="6" name="TextBox 5"/>
          <p:cNvSpPr txBox="1"/>
          <p:nvPr/>
        </p:nvSpPr>
        <p:spPr>
          <a:xfrm>
            <a:off x="1051560" y="3246120"/>
            <a:ext cx="9144000" cy="822960"/>
          </a:xfrm>
          <a:prstGeom prst="rect">
            <a:avLst/>
          </a:prstGeom>
          <a:noFill/>
        </p:spPr>
        <p:txBody>
          <a:bodyPr wrap="square" lIns="0" rIns="0" tIns="0" bIns="0" anchor="t">
            <a:spAutoFit/>
          </a:bodyPr>
          <a:lstStyle/>
          <a:p>
            <a:pPr algn="l">
              <a:lnSpc>
                <a:spcPct val="110000"/>
              </a:lnSpc>
              <a:spcAft>
                <a:spcPts val="0"/>
              </a:spcAft>
            </a:pPr>
            <a:r>
              <a:rPr sz="2500" b="0">
                <a:solidFill>
                  <a:srgbClr val="D0DCFD"/>
                </a:solidFill>
                <a:latin typeface="Proxima Nova"/>
              </a:rPr>
              <a:t>The regulated collections floor, run by agents.</a:t>
            </a:r>
          </a:p>
        </p:txBody>
      </p:sp>
      <p:sp>
        <p:nvSpPr>
          <p:cNvPr id="7" name="Rounded Rectangle 6"/>
          <p:cNvSpPr/>
          <p:nvPr/>
        </p:nvSpPr>
        <p:spPr>
          <a:xfrm>
            <a:off x="1051560" y="4343400"/>
            <a:ext cx="3703320" cy="18288"/>
          </a:xfrm>
          <a:prstGeom prst="roundRect">
            <a:avLst>
              <a:gd name="adj" fmla="val 0"/>
            </a:avLst>
          </a:prstGeom>
          <a:solidFill>
            <a:srgbClr val="2E2E2E"/>
          </a:solidFill>
          <a:ln>
            <a:noFill/>
          </a:ln>
          <a:effectLst/>
        </p:spPr>
        <p:txBody>
          <a:bodyPr rtlCol="0" anchor="ctr"/>
          <a:lstStyle/>
          <a:p>
            <a:pPr algn="ctr"/>
          </a:p>
        </p:txBody>
      </p:sp>
      <p:sp>
        <p:nvSpPr>
          <p:cNvPr id="8" name="TextBox 7"/>
          <p:cNvSpPr txBox="1"/>
          <p:nvPr/>
        </p:nvSpPr>
        <p:spPr>
          <a:xfrm>
            <a:off x="1051560" y="4709160"/>
            <a:ext cx="9692640" cy="914400"/>
          </a:xfrm>
          <a:prstGeom prst="rect">
            <a:avLst/>
          </a:prstGeom>
          <a:noFill/>
        </p:spPr>
        <p:txBody>
          <a:bodyPr wrap="square" lIns="0" rIns="0" tIns="0" bIns="0" anchor="t">
            <a:spAutoFit/>
          </a:bodyPr>
          <a:lstStyle/>
          <a:p>
            <a:pPr algn="l">
              <a:lnSpc>
                <a:spcPct val="135000"/>
              </a:lnSpc>
              <a:spcAft>
                <a:spcPts val="0"/>
              </a:spcAft>
            </a:pPr>
            <a:r>
              <a:rPr sz="1400" b="0">
                <a:solidFill>
                  <a:srgbClr val="A7A7A7"/>
                </a:solidFill>
                <a:latin typeface="Roboto"/>
              </a:rPr>
              <a:t>A voice agent is a mouth. We built the operation behind it — the decision engines, the compliance gates, and the studio a collections head uses to ship their own agents.</a:t>
            </a:r>
          </a:p>
        </p:txBody>
      </p:sp>
      <p:sp>
        <p:nvSpPr>
          <p:cNvPr id="9" name="TextBox 8"/>
          <p:cNvSpPr txBox="1"/>
          <p:nvPr/>
        </p:nvSpPr>
        <p:spPr>
          <a:xfrm>
            <a:off x="1051560" y="5897880"/>
            <a:ext cx="6035040" cy="274320"/>
          </a:xfrm>
          <a:prstGeom prst="rect">
            <a:avLst/>
          </a:prstGeom>
          <a:noFill/>
        </p:spPr>
        <p:txBody>
          <a:bodyPr wrap="square" lIns="0" rIns="0" tIns="0" bIns="0" anchor="t">
            <a:spAutoFit/>
          </a:bodyPr>
          <a:lstStyle/>
          <a:p>
            <a:pPr algn="l">
              <a:spcAft>
                <a:spcPts val="0"/>
              </a:spcAft>
            </a:pPr>
            <a:r>
              <a:rPr sz="1100" b="0">
                <a:solidFill>
                  <a:srgbClr val="7B7B7B"/>
                </a:solidFill>
                <a:latin typeface="Roboto"/>
              </a:rPr>
              <a:t>Susanth  ·  Gen AI and Data Science Engineer, BigTapp</a:t>
            </a:r>
          </a:p>
        </p:txBody>
      </p:sp>
      <p:sp>
        <p:nvSpPr>
          <p:cNvPr id="10" name="TextBox 9"/>
          <p:cNvSpPr txBox="1"/>
          <p:nvPr/>
        </p:nvSpPr>
        <p:spPr>
          <a:xfrm>
            <a:off x="6400800" y="5897880"/>
            <a:ext cx="4846320" cy="274320"/>
          </a:xfrm>
          <a:prstGeom prst="rect">
            <a:avLst/>
          </a:prstGeom>
          <a:noFill/>
        </p:spPr>
        <p:txBody>
          <a:bodyPr wrap="square" lIns="0" rIns="0" tIns="0" bIns="0" anchor="t">
            <a:spAutoFit/>
          </a:bodyPr>
          <a:lstStyle/>
          <a:p>
            <a:pPr algn="r">
              <a:spcAft>
                <a:spcPts val="0"/>
              </a:spcAft>
            </a:pPr>
            <a:r>
              <a:rPr sz="1100" b="0">
                <a:solidFill>
                  <a:srgbClr val="7B7B7B"/>
                </a:solidFill>
                <a:latin typeface="Roboto"/>
              </a:rPr>
              <a:t>15 minutes  ·  live demo to follow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A1B9FC"/>
                </a:solidFill>
                <a:latin typeface="Roboto"/>
              </a:rPr>
              <a:t>THE MOMENT EVERYTHING IS DECIDED</a:t>
            </a:r>
          </a:p>
        </p:txBody>
      </p:sp>
      <p:sp>
        <p:nvSpPr>
          <p:cNvPr id="4" name="TextBox 3"/>
          <p:cNvSpPr txBox="1"/>
          <p:nvPr/>
        </p:nvSpPr>
        <p:spPr>
          <a:xfrm>
            <a:off x="685800" y="1143000"/>
            <a:ext cx="5577840" cy="1417320"/>
          </a:xfrm>
          <a:prstGeom prst="rect">
            <a:avLst/>
          </a:prstGeom>
          <a:noFill/>
        </p:spPr>
        <p:txBody>
          <a:bodyPr wrap="square" lIns="0" rIns="0" tIns="0" bIns="0" anchor="t">
            <a:spAutoFit/>
          </a:bodyPr>
          <a:lstStyle/>
          <a:p>
            <a:pPr algn="l">
              <a:lnSpc>
                <a:spcPct val="95000"/>
              </a:lnSpc>
              <a:spcAft>
                <a:spcPts val="0"/>
              </a:spcAft>
            </a:pPr>
            <a:r>
              <a:rPr sz="9600" b="1">
                <a:solidFill>
                  <a:srgbClr val="114FF4"/>
                </a:solidFill>
                <a:latin typeface="Proxima Nova"/>
              </a:rPr>
              <a:t>00:12</a:t>
            </a:r>
          </a:p>
        </p:txBody>
      </p:sp>
      <p:sp>
        <p:nvSpPr>
          <p:cNvPr id="5" name="TextBox 4"/>
          <p:cNvSpPr txBox="1"/>
          <p:nvPr/>
        </p:nvSpPr>
        <p:spPr>
          <a:xfrm>
            <a:off x="685800" y="2578608"/>
            <a:ext cx="5577840" cy="365760"/>
          </a:xfrm>
          <a:prstGeom prst="rect">
            <a:avLst/>
          </a:prstGeom>
          <a:noFill/>
        </p:spPr>
        <p:txBody>
          <a:bodyPr wrap="square" lIns="0" rIns="0" tIns="0" bIns="0" anchor="t">
            <a:spAutoFit/>
          </a:bodyPr>
          <a:lstStyle/>
          <a:p>
            <a:pPr algn="l">
              <a:spcAft>
                <a:spcPts val="0"/>
              </a:spcAft>
            </a:pPr>
            <a:r>
              <a:rPr sz="1700" b="1" spc="400">
                <a:solidFill>
                  <a:srgbClr val="A1B9FC"/>
                </a:solidFill>
                <a:latin typeface="Proxima Nova"/>
              </a:rPr>
              <a:t>A.M.</a:t>
            </a:r>
          </a:p>
        </p:txBody>
      </p:sp>
      <p:sp>
        <p:nvSpPr>
          <p:cNvPr id="6" name="TextBox 5"/>
          <p:cNvSpPr txBox="1"/>
          <p:nvPr/>
        </p:nvSpPr>
        <p:spPr>
          <a:xfrm>
            <a:off x="685800" y="3246120"/>
            <a:ext cx="5303520" cy="1463040"/>
          </a:xfrm>
          <a:prstGeom prst="rect">
            <a:avLst/>
          </a:prstGeom>
          <a:noFill/>
        </p:spPr>
        <p:txBody>
          <a:bodyPr wrap="square" lIns="0" rIns="0" tIns="0" bIns="0" anchor="t">
            <a:spAutoFit/>
          </a:bodyPr>
          <a:lstStyle/>
          <a:p>
            <a:pPr algn="l">
              <a:lnSpc>
                <a:spcPct val="135000"/>
              </a:lnSpc>
              <a:spcAft>
                <a:spcPts val="800"/>
              </a:spcAft>
            </a:pPr>
            <a:r>
              <a:rPr sz="1700" b="0">
                <a:solidFill>
                  <a:srgbClr val="FFFFFF"/>
                </a:solidFill>
                <a:latin typeface="Roboto"/>
              </a:rPr>
              <a:t>A NACH mandate bounces. ₹18,400.</a:t>
            </a:r>
          </a:p>
          <a:p>
            <a:pPr algn="l">
              <a:lnSpc>
                <a:spcPct val="135000"/>
              </a:lnSpc>
              <a:spcAft>
                <a:spcPts val="800"/>
              </a:spcAft>
            </a:pPr>
            <a:r>
              <a:rPr sz="1700" b="0">
                <a:solidFill>
                  <a:srgbClr val="FFFFFF"/>
                </a:solidFill>
                <a:latin typeface="Roboto"/>
              </a:rPr>
              <a:t>Nobody is awake. Nothing is on fire. Nothing happens.</a:t>
            </a:r>
          </a:p>
        </p:txBody>
      </p:sp>
      <p:sp>
        <p:nvSpPr>
          <p:cNvPr id="7" name="TextBox 6"/>
          <p:cNvSpPr txBox="1"/>
          <p:nvPr/>
        </p:nvSpPr>
        <p:spPr>
          <a:xfrm>
            <a:off x="685800" y="4800600"/>
            <a:ext cx="5303520" cy="1097280"/>
          </a:xfrm>
          <a:prstGeom prst="rect">
            <a:avLst/>
          </a:prstGeom>
          <a:noFill/>
        </p:spPr>
        <p:txBody>
          <a:bodyPr wrap="square" lIns="0" rIns="0" tIns="0" bIns="0" anchor="t">
            <a:spAutoFit/>
          </a:bodyPr>
          <a:lstStyle/>
          <a:p>
            <a:pPr algn="l">
              <a:lnSpc>
                <a:spcPct val="140000"/>
              </a:lnSpc>
              <a:spcAft>
                <a:spcPts val="0"/>
              </a:spcAft>
            </a:pPr>
            <a:r>
              <a:rPr sz="1300" b="0">
                <a:solidFill>
                  <a:srgbClr val="A7A7A7"/>
                </a:solidFill>
                <a:latin typeface="Roboto"/>
              </a:rPr>
              <a:t>By the time a human sees this account, the borrower has already decided what kind of borrower they are going to be.</a:t>
            </a:r>
          </a:p>
        </p:txBody>
      </p:sp>
      <p:sp>
        <p:nvSpPr>
          <p:cNvPr id="8" name="Rounded Rectangle 7"/>
          <p:cNvSpPr/>
          <p:nvPr/>
        </p:nvSpPr>
        <p:spPr>
          <a:xfrm>
            <a:off x="6446520" y="1325880"/>
            <a:ext cx="5056632" cy="932688"/>
          </a:xfrm>
          <a:prstGeom prst="roundRect">
            <a:avLst>
              <a:gd name="adj" fmla="val 3500"/>
            </a:avLst>
          </a:prstGeom>
          <a:solidFill>
            <a:srgbClr val="2E2E2E"/>
          </a:solidFill>
          <a:ln>
            <a:noFill/>
          </a:ln>
          <a:effectLst/>
        </p:spPr>
        <p:txBody>
          <a:bodyPr rtlCol="0" anchor="ctr"/>
          <a:lstStyle/>
          <a:p>
            <a:pPr algn="ctr"/>
          </a:p>
        </p:txBody>
      </p:sp>
      <p:sp>
        <p:nvSpPr>
          <p:cNvPr id="9" name="TextBox 8"/>
          <p:cNvSpPr txBox="1"/>
          <p:nvPr/>
        </p:nvSpPr>
        <p:spPr>
          <a:xfrm>
            <a:off x="6720840" y="1490472"/>
            <a:ext cx="1051560" cy="292608"/>
          </a:xfrm>
          <a:prstGeom prst="rect">
            <a:avLst/>
          </a:prstGeom>
          <a:noFill/>
        </p:spPr>
        <p:txBody>
          <a:bodyPr wrap="square" lIns="0" rIns="0" tIns="0" bIns="0" anchor="t">
            <a:spAutoFit/>
          </a:bodyPr>
          <a:lstStyle/>
          <a:p>
            <a:pPr algn="l">
              <a:spcAft>
                <a:spcPts val="0"/>
              </a:spcAft>
            </a:pPr>
            <a:r>
              <a:rPr sz="1400" b="1">
                <a:solidFill>
                  <a:srgbClr val="A1B9FC"/>
                </a:solidFill>
                <a:latin typeface="Proxima Nova"/>
              </a:rPr>
              <a:t>09:00</a:t>
            </a:r>
          </a:p>
        </p:txBody>
      </p:sp>
      <p:sp>
        <p:nvSpPr>
          <p:cNvPr id="10" name="TextBox 9"/>
          <p:cNvSpPr txBox="1"/>
          <p:nvPr/>
        </p:nvSpPr>
        <p:spPr>
          <a:xfrm>
            <a:off x="7818120" y="1472184"/>
            <a:ext cx="3474720" cy="658368"/>
          </a:xfrm>
          <a:prstGeom prst="rect">
            <a:avLst/>
          </a:prstGeom>
          <a:noFill/>
        </p:spPr>
        <p:txBody>
          <a:bodyPr wrap="square" lIns="0" rIns="0" tIns="0" bIns="0" anchor="t">
            <a:spAutoFit/>
          </a:bodyPr>
          <a:lstStyle/>
          <a:p>
            <a:pPr algn="l">
              <a:lnSpc>
                <a:spcPct val="130000"/>
              </a:lnSpc>
              <a:spcAft>
                <a:spcPts val="0"/>
              </a:spcAft>
            </a:pPr>
            <a:r>
              <a:rPr sz="1200" b="0">
                <a:solidFill>
                  <a:srgbClr val="FFFFFF"/>
                </a:solidFill>
                <a:latin typeface="Roboto"/>
              </a:rPr>
              <a:t>Batch MIS lands. The account joins a list of 4,000.</a:t>
            </a:r>
          </a:p>
        </p:txBody>
      </p:sp>
      <p:sp>
        <p:nvSpPr>
          <p:cNvPr id="11" name="Rounded Rectangle 10"/>
          <p:cNvSpPr/>
          <p:nvPr/>
        </p:nvSpPr>
        <p:spPr>
          <a:xfrm>
            <a:off x="6446520" y="2386584"/>
            <a:ext cx="5056632" cy="932688"/>
          </a:xfrm>
          <a:prstGeom prst="roundRect">
            <a:avLst>
              <a:gd name="adj" fmla="val 3500"/>
            </a:avLst>
          </a:prstGeom>
          <a:solidFill>
            <a:srgbClr val="2E2E2E"/>
          </a:solidFill>
          <a:ln>
            <a:noFill/>
          </a:ln>
          <a:effectLst/>
        </p:spPr>
        <p:txBody>
          <a:bodyPr rtlCol="0" anchor="ctr"/>
          <a:lstStyle/>
          <a:p>
            <a:pPr algn="ctr"/>
          </a:p>
        </p:txBody>
      </p:sp>
      <p:sp>
        <p:nvSpPr>
          <p:cNvPr id="12" name="TextBox 11"/>
          <p:cNvSpPr txBox="1"/>
          <p:nvPr/>
        </p:nvSpPr>
        <p:spPr>
          <a:xfrm>
            <a:off x="6720840" y="2551176"/>
            <a:ext cx="1051560" cy="292608"/>
          </a:xfrm>
          <a:prstGeom prst="rect">
            <a:avLst/>
          </a:prstGeom>
          <a:noFill/>
        </p:spPr>
        <p:txBody>
          <a:bodyPr wrap="square" lIns="0" rIns="0" tIns="0" bIns="0" anchor="t">
            <a:spAutoFit/>
          </a:bodyPr>
          <a:lstStyle/>
          <a:p>
            <a:pPr algn="l">
              <a:spcAft>
                <a:spcPts val="0"/>
              </a:spcAft>
            </a:pPr>
            <a:r>
              <a:rPr sz="1400" b="1">
                <a:solidFill>
                  <a:srgbClr val="A1B9FC"/>
                </a:solidFill>
                <a:latin typeface="Proxima Nova"/>
              </a:rPr>
              <a:t>DAY 3</a:t>
            </a:r>
          </a:p>
        </p:txBody>
      </p:sp>
      <p:sp>
        <p:nvSpPr>
          <p:cNvPr id="13" name="TextBox 12"/>
          <p:cNvSpPr txBox="1"/>
          <p:nvPr/>
        </p:nvSpPr>
        <p:spPr>
          <a:xfrm>
            <a:off x="7818120" y="2532888"/>
            <a:ext cx="3474720" cy="658368"/>
          </a:xfrm>
          <a:prstGeom prst="rect">
            <a:avLst/>
          </a:prstGeom>
          <a:noFill/>
        </p:spPr>
        <p:txBody>
          <a:bodyPr wrap="square" lIns="0" rIns="0" tIns="0" bIns="0" anchor="t">
            <a:spAutoFit/>
          </a:bodyPr>
          <a:lstStyle/>
          <a:p>
            <a:pPr algn="l">
              <a:lnSpc>
                <a:spcPct val="130000"/>
              </a:lnSpc>
              <a:spcAft>
                <a:spcPts val="0"/>
              </a:spcAft>
            </a:pPr>
            <a:r>
              <a:rPr sz="1200" b="0">
                <a:solidFill>
                  <a:srgbClr val="FFFFFF"/>
                </a:solidFill>
                <a:latin typeface="Roboto"/>
              </a:rPr>
              <a:t>A telecaller finally dials. No answer — unknown number.</a:t>
            </a:r>
          </a:p>
        </p:txBody>
      </p:sp>
      <p:sp>
        <p:nvSpPr>
          <p:cNvPr id="14" name="Rounded Rectangle 13"/>
          <p:cNvSpPr/>
          <p:nvPr/>
        </p:nvSpPr>
        <p:spPr>
          <a:xfrm>
            <a:off x="6446520" y="3447287"/>
            <a:ext cx="5056632" cy="932688"/>
          </a:xfrm>
          <a:prstGeom prst="roundRect">
            <a:avLst>
              <a:gd name="adj" fmla="val 3500"/>
            </a:avLst>
          </a:prstGeom>
          <a:solidFill>
            <a:srgbClr val="2E2E2E"/>
          </a:solidFill>
          <a:ln>
            <a:noFill/>
          </a:ln>
          <a:effectLst/>
        </p:spPr>
        <p:txBody>
          <a:bodyPr rtlCol="0" anchor="ctr"/>
          <a:lstStyle/>
          <a:p>
            <a:pPr algn="ctr"/>
          </a:p>
        </p:txBody>
      </p:sp>
      <p:sp>
        <p:nvSpPr>
          <p:cNvPr id="15" name="TextBox 14"/>
          <p:cNvSpPr txBox="1"/>
          <p:nvPr/>
        </p:nvSpPr>
        <p:spPr>
          <a:xfrm>
            <a:off x="6720840" y="3611879"/>
            <a:ext cx="1051560" cy="292608"/>
          </a:xfrm>
          <a:prstGeom prst="rect">
            <a:avLst/>
          </a:prstGeom>
          <a:noFill/>
        </p:spPr>
        <p:txBody>
          <a:bodyPr wrap="square" lIns="0" rIns="0" tIns="0" bIns="0" anchor="t">
            <a:spAutoFit/>
          </a:bodyPr>
          <a:lstStyle/>
          <a:p>
            <a:pPr algn="l">
              <a:spcAft>
                <a:spcPts val="0"/>
              </a:spcAft>
            </a:pPr>
            <a:r>
              <a:rPr sz="1400" b="1">
                <a:solidFill>
                  <a:srgbClr val="A1B9FC"/>
                </a:solidFill>
                <a:latin typeface="Proxima Nova"/>
              </a:rPr>
              <a:t>DAY 12</a:t>
            </a:r>
          </a:p>
        </p:txBody>
      </p:sp>
      <p:sp>
        <p:nvSpPr>
          <p:cNvPr id="16" name="TextBox 15"/>
          <p:cNvSpPr txBox="1"/>
          <p:nvPr/>
        </p:nvSpPr>
        <p:spPr>
          <a:xfrm>
            <a:off x="7818120" y="3593591"/>
            <a:ext cx="3474720" cy="658368"/>
          </a:xfrm>
          <a:prstGeom prst="rect">
            <a:avLst/>
          </a:prstGeom>
          <a:noFill/>
        </p:spPr>
        <p:txBody>
          <a:bodyPr wrap="square" lIns="0" rIns="0" tIns="0" bIns="0" anchor="t">
            <a:spAutoFit/>
          </a:bodyPr>
          <a:lstStyle/>
          <a:p>
            <a:pPr algn="l">
              <a:lnSpc>
                <a:spcPct val="130000"/>
              </a:lnSpc>
              <a:spcAft>
                <a:spcPts val="0"/>
              </a:spcAft>
            </a:pPr>
            <a:r>
              <a:rPr sz="1200" b="0">
                <a:solidFill>
                  <a:srgbClr val="FFFFFF"/>
                </a:solidFill>
                <a:latin typeface="Roboto"/>
              </a:rPr>
              <a:t>First real conversation. Salary credit window: gone.</a:t>
            </a:r>
          </a:p>
        </p:txBody>
      </p:sp>
      <p:sp>
        <p:nvSpPr>
          <p:cNvPr id="17" name="Rounded Rectangle 16"/>
          <p:cNvSpPr/>
          <p:nvPr/>
        </p:nvSpPr>
        <p:spPr>
          <a:xfrm>
            <a:off x="6446520" y="4507992"/>
            <a:ext cx="5056632" cy="932688"/>
          </a:xfrm>
          <a:prstGeom prst="roundRect">
            <a:avLst>
              <a:gd name="adj" fmla="val 3500"/>
            </a:avLst>
          </a:prstGeom>
          <a:solidFill>
            <a:srgbClr val="3A2424"/>
          </a:solidFill>
          <a:ln>
            <a:noFill/>
          </a:ln>
          <a:effectLst/>
        </p:spPr>
        <p:txBody>
          <a:bodyPr rtlCol="0" anchor="ctr"/>
          <a:lstStyle/>
          <a:p>
            <a:pPr algn="ctr"/>
          </a:p>
        </p:txBody>
      </p:sp>
      <p:sp>
        <p:nvSpPr>
          <p:cNvPr id="18" name="TextBox 17"/>
          <p:cNvSpPr txBox="1"/>
          <p:nvPr/>
        </p:nvSpPr>
        <p:spPr>
          <a:xfrm>
            <a:off x="6720840" y="4672583"/>
            <a:ext cx="1051560" cy="292608"/>
          </a:xfrm>
          <a:prstGeom prst="rect">
            <a:avLst/>
          </a:prstGeom>
          <a:noFill/>
        </p:spPr>
        <p:txBody>
          <a:bodyPr wrap="square" lIns="0" rIns="0" tIns="0" bIns="0" anchor="t">
            <a:spAutoFit/>
          </a:bodyPr>
          <a:lstStyle/>
          <a:p>
            <a:pPr algn="l">
              <a:spcAft>
                <a:spcPts val="0"/>
              </a:spcAft>
            </a:pPr>
            <a:r>
              <a:rPr sz="1400" b="1">
                <a:solidFill>
                  <a:srgbClr val="FF9A9A"/>
                </a:solidFill>
                <a:latin typeface="Proxima Nova"/>
              </a:rPr>
              <a:t>DAY 31</a:t>
            </a:r>
          </a:p>
        </p:txBody>
      </p:sp>
      <p:sp>
        <p:nvSpPr>
          <p:cNvPr id="19" name="TextBox 18"/>
          <p:cNvSpPr txBox="1"/>
          <p:nvPr/>
        </p:nvSpPr>
        <p:spPr>
          <a:xfrm>
            <a:off x="7818120" y="4654296"/>
            <a:ext cx="3474720" cy="658368"/>
          </a:xfrm>
          <a:prstGeom prst="rect">
            <a:avLst/>
          </a:prstGeom>
          <a:noFill/>
        </p:spPr>
        <p:txBody>
          <a:bodyPr wrap="square" lIns="0" rIns="0" tIns="0" bIns="0" anchor="t">
            <a:spAutoFit/>
          </a:bodyPr>
          <a:lstStyle/>
          <a:p>
            <a:pPr algn="l">
              <a:lnSpc>
                <a:spcPct val="130000"/>
              </a:lnSpc>
              <a:spcAft>
                <a:spcPts val="0"/>
              </a:spcAft>
            </a:pPr>
            <a:r>
              <a:rPr sz="1200" b="0">
                <a:solidFill>
                  <a:srgbClr val="D3D3D3"/>
                </a:solidFill>
                <a:latin typeface="Roboto"/>
              </a:rPr>
              <a:t>SMA-1. Bureau reporting. Field visit at ₹1,200 a door.</a:t>
            </a:r>
          </a:p>
        </p:txBody>
      </p:sp>
      <p:sp>
        <p:nvSpPr>
          <p:cNvPr id="20" name="TextBox 19"/>
          <p:cNvSpPr txBox="1"/>
          <p:nvPr/>
        </p:nvSpPr>
        <p:spPr>
          <a:xfrm>
            <a:off x="6446520" y="5641848"/>
            <a:ext cx="5029200" cy="365760"/>
          </a:xfrm>
          <a:prstGeom prst="rect">
            <a:avLst/>
          </a:prstGeom>
          <a:noFill/>
        </p:spPr>
        <p:txBody>
          <a:bodyPr wrap="square" lIns="0" rIns="0" tIns="0" bIns="0" anchor="t">
            <a:spAutoFit/>
          </a:bodyPr>
          <a:lstStyle/>
          <a:p>
            <a:pPr algn="l">
              <a:spcAft>
                <a:spcPts val="0"/>
              </a:spcAft>
            </a:pPr>
            <a:r>
              <a:rPr sz="1300" b="1">
                <a:solidFill>
                  <a:srgbClr val="A1B9FC"/>
                </a:solidFill>
                <a:latin typeface="Roboto"/>
              </a:rPr>
              <a:t>Nobody did anything wrong. The clock just won.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THESIS</a:t>
            </a:r>
          </a:p>
        </p:txBody>
      </p:sp>
      <p:sp>
        <p:nvSpPr>
          <p:cNvPr id="4" name="TextBox 3"/>
          <p:cNvSpPr txBox="1"/>
          <p:nvPr/>
        </p:nvSpPr>
        <p:spPr>
          <a:xfrm>
            <a:off x="685800" y="1051560"/>
            <a:ext cx="10789920" cy="1234440"/>
          </a:xfrm>
          <a:prstGeom prst="rect">
            <a:avLst/>
          </a:prstGeom>
          <a:noFill/>
        </p:spPr>
        <p:txBody>
          <a:bodyPr wrap="square" lIns="0" rIns="0" tIns="0" bIns="0" anchor="t">
            <a:spAutoFit/>
          </a:bodyPr>
          <a:lstStyle/>
          <a:p>
            <a:pPr algn="l">
              <a:lnSpc>
                <a:spcPct val="100000"/>
              </a:lnSpc>
              <a:spcAft>
                <a:spcPts val="0"/>
              </a:spcAft>
            </a:pPr>
            <a:r>
              <a:rPr sz="4400" b="1">
                <a:solidFill>
                  <a:srgbClr val="232323"/>
                </a:solidFill>
                <a:latin typeface="Proxima Nova"/>
              </a:rPr>
              <a:t>THE PROFIT LEVER IS
DELAY, NOT DIALOGUE.</a:t>
            </a:r>
          </a:p>
        </p:txBody>
      </p:sp>
      <p:sp>
        <p:nvSpPr>
          <p:cNvPr id="5" name="Rounded Rectangle 4"/>
          <p:cNvSpPr/>
          <p:nvPr/>
        </p:nvSpPr>
        <p:spPr>
          <a:xfrm>
            <a:off x="685800" y="3246120"/>
            <a:ext cx="10817352" cy="18288"/>
          </a:xfrm>
          <a:prstGeom prst="roundRect">
            <a:avLst>
              <a:gd name="adj" fmla="val 0"/>
            </a:avLst>
          </a:prstGeom>
          <a:solidFill>
            <a:srgbClr val="D3D3D3"/>
          </a:solidFill>
          <a:ln>
            <a:noFill/>
          </a:ln>
          <a:effectLst/>
        </p:spPr>
        <p:txBody>
          <a:bodyPr rtlCol="0" anchor="ctr"/>
          <a:lstStyle/>
          <a:p>
            <a:pPr algn="ctr"/>
          </a:p>
        </p:txBody>
      </p:sp>
      <p:sp>
        <p:nvSpPr>
          <p:cNvPr id="6" name="TextBox 5"/>
          <p:cNvSpPr txBox="1"/>
          <p:nvPr/>
        </p:nvSpPr>
        <p:spPr>
          <a:xfrm>
            <a:off x="685800" y="3611880"/>
            <a:ext cx="3246120" cy="685800"/>
          </a:xfrm>
          <a:prstGeom prst="rect">
            <a:avLst/>
          </a:prstGeom>
          <a:noFill/>
        </p:spPr>
        <p:txBody>
          <a:bodyPr wrap="square" lIns="0" rIns="0" tIns="0" bIns="0" anchor="t">
            <a:spAutoFit/>
          </a:bodyPr>
          <a:lstStyle/>
          <a:p>
            <a:pPr algn="l">
              <a:lnSpc>
                <a:spcPct val="120000"/>
              </a:lnSpc>
              <a:spcAft>
                <a:spcPts val="0"/>
              </a:spcAft>
            </a:pPr>
            <a:r>
              <a:rPr sz="1500" b="1">
                <a:solidFill>
                  <a:srgbClr val="114FF4"/>
                </a:solidFill>
                <a:latin typeface="Proxima Nova"/>
              </a:rPr>
              <a:t>Indian lenders already know how to collect.</a:t>
            </a:r>
          </a:p>
        </p:txBody>
      </p:sp>
      <p:sp>
        <p:nvSpPr>
          <p:cNvPr id="7" name="TextBox 6"/>
          <p:cNvSpPr txBox="1"/>
          <p:nvPr/>
        </p:nvSpPr>
        <p:spPr>
          <a:xfrm>
            <a:off x="685800" y="4434840"/>
            <a:ext cx="3246120" cy="1737360"/>
          </a:xfrm>
          <a:prstGeom prst="rect">
            <a:avLst/>
          </a:prstGeom>
          <a:noFill/>
        </p:spPr>
        <p:txBody>
          <a:bodyPr wrap="square" lIns="0" rIns="0" tIns="0" bIns="0" anchor="t">
            <a:spAutoFit/>
          </a:bodyPr>
          <a:lstStyle/>
          <a:p>
            <a:pPr algn="l">
              <a:lnSpc>
                <a:spcPct val="145000"/>
              </a:lnSpc>
              <a:spcAft>
                <a:spcPts val="0"/>
              </a:spcAft>
            </a:pPr>
            <a:r>
              <a:rPr sz="1250" b="0">
                <a:solidFill>
                  <a:srgbClr val="444444"/>
                </a:solidFill>
                <a:latin typeface="Roboto"/>
              </a:rPr>
              <a:t>Their problem is that the first 30 days of delinquency are a high-volume, high-attrition, tightly regulated factory — and most of that factory is still a human with a headset, a CRM and a daily target.</a:t>
            </a:r>
          </a:p>
        </p:txBody>
      </p:sp>
      <p:sp>
        <p:nvSpPr>
          <p:cNvPr id="8" name="TextBox 7"/>
          <p:cNvSpPr txBox="1"/>
          <p:nvPr/>
        </p:nvSpPr>
        <p:spPr>
          <a:xfrm>
            <a:off x="4471416" y="3611880"/>
            <a:ext cx="3246120" cy="685800"/>
          </a:xfrm>
          <a:prstGeom prst="rect">
            <a:avLst/>
          </a:prstGeom>
          <a:noFill/>
        </p:spPr>
        <p:txBody>
          <a:bodyPr wrap="square" lIns="0" rIns="0" tIns="0" bIns="0" anchor="t">
            <a:spAutoFit/>
          </a:bodyPr>
          <a:lstStyle/>
          <a:p>
            <a:pPr algn="l">
              <a:lnSpc>
                <a:spcPct val="120000"/>
              </a:lnSpc>
              <a:spcAft>
                <a:spcPts val="0"/>
              </a:spcAft>
            </a:pPr>
            <a:r>
              <a:rPr sz="1500" b="1">
                <a:solidFill>
                  <a:srgbClr val="114FF4"/>
                </a:solidFill>
                <a:latin typeface="Proxima Nova"/>
              </a:rPr>
              <a:t>The voice agent is only the mouth.</a:t>
            </a:r>
          </a:p>
        </p:txBody>
      </p:sp>
      <p:sp>
        <p:nvSpPr>
          <p:cNvPr id="9" name="TextBox 8"/>
          <p:cNvSpPr txBox="1"/>
          <p:nvPr/>
        </p:nvSpPr>
        <p:spPr>
          <a:xfrm>
            <a:off x="4471416" y="4434840"/>
            <a:ext cx="3246120" cy="1737360"/>
          </a:xfrm>
          <a:prstGeom prst="rect">
            <a:avLst/>
          </a:prstGeom>
          <a:noFill/>
        </p:spPr>
        <p:txBody>
          <a:bodyPr wrap="square" lIns="0" rIns="0" tIns="0" bIns="0" anchor="t">
            <a:spAutoFit/>
          </a:bodyPr>
          <a:lstStyle/>
          <a:p>
            <a:pPr algn="l">
              <a:lnSpc>
                <a:spcPct val="145000"/>
              </a:lnSpc>
              <a:spcAft>
                <a:spcPts val="0"/>
              </a:spcAft>
            </a:pPr>
            <a:r>
              <a:rPr sz="1250" b="0">
                <a:solidFill>
                  <a:srgbClr val="444444"/>
                </a:solidFill>
                <a:latin typeface="Roboto"/>
              </a:rPr>
              <a:t>The P&amp;L is everything around the call: who gets contacted, how fast, on which channel, with what authority, and whether the promise actually gets paid.</a:t>
            </a:r>
          </a:p>
        </p:txBody>
      </p:sp>
      <p:sp>
        <p:nvSpPr>
          <p:cNvPr id="10" name="TextBox 9"/>
          <p:cNvSpPr txBox="1"/>
          <p:nvPr/>
        </p:nvSpPr>
        <p:spPr>
          <a:xfrm>
            <a:off x="8257031" y="3611880"/>
            <a:ext cx="3246120" cy="685800"/>
          </a:xfrm>
          <a:prstGeom prst="rect">
            <a:avLst/>
          </a:prstGeom>
          <a:noFill/>
        </p:spPr>
        <p:txBody>
          <a:bodyPr wrap="square" lIns="0" rIns="0" tIns="0" bIns="0" anchor="t">
            <a:spAutoFit/>
          </a:bodyPr>
          <a:lstStyle/>
          <a:p>
            <a:pPr algn="l">
              <a:lnSpc>
                <a:spcPct val="120000"/>
              </a:lnSpc>
              <a:spcAft>
                <a:spcPts val="0"/>
              </a:spcAft>
            </a:pPr>
            <a:r>
              <a:rPr sz="1500" b="1">
                <a:solidFill>
                  <a:srgbClr val="114FF4"/>
                </a:solidFill>
                <a:latin typeface="Proxima Nova"/>
              </a:rPr>
              <a:t>So we did not start from the call.</a:t>
            </a:r>
          </a:p>
        </p:txBody>
      </p:sp>
      <p:sp>
        <p:nvSpPr>
          <p:cNvPr id="11" name="TextBox 10"/>
          <p:cNvSpPr txBox="1"/>
          <p:nvPr/>
        </p:nvSpPr>
        <p:spPr>
          <a:xfrm>
            <a:off x="8257031" y="4434840"/>
            <a:ext cx="3246120" cy="1737360"/>
          </a:xfrm>
          <a:prstGeom prst="rect">
            <a:avLst/>
          </a:prstGeom>
          <a:noFill/>
        </p:spPr>
        <p:txBody>
          <a:bodyPr wrap="square" lIns="0" rIns="0" tIns="0" bIns="0" anchor="t">
            <a:spAutoFit/>
          </a:bodyPr>
          <a:lstStyle/>
          <a:p>
            <a:pPr algn="l">
              <a:lnSpc>
                <a:spcPct val="145000"/>
              </a:lnSpc>
              <a:spcAft>
                <a:spcPts val="0"/>
              </a:spcAft>
            </a:pPr>
            <a:r>
              <a:rPr sz="1250" b="0">
                <a:solidFill>
                  <a:srgbClr val="444444"/>
                </a:solidFill>
                <a:latin typeface="Roboto"/>
              </a:rPr>
              <a:t>We started from the chore, the delay, and the decision that has to fire the same hour as the event — then put voice on the high-volume early buckets.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PAIN WE ARE SOLVING</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THE FACTORY NOBODY AUTOMATED</a:t>
            </a:r>
          </a:p>
        </p:txBody>
      </p:sp>
      <p:sp>
        <p:nvSpPr>
          <p:cNvPr id="5" name="TextBox 4"/>
          <p:cNvSpPr txBox="1"/>
          <p:nvPr/>
        </p:nvSpPr>
        <p:spPr>
          <a:xfrm>
            <a:off x="685800" y="1874519"/>
            <a:ext cx="96012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A telecaller talks for maybe half a shift. The rest is allocation, wrap-up and chasing yesterday's promises.</a:t>
            </a:r>
          </a:p>
        </p:txBody>
      </p:sp>
      <p:sp>
        <p:nvSpPr>
          <p:cNvPr id="6" name="Rounded Rectangle 5"/>
          <p:cNvSpPr/>
          <p:nvPr/>
        </p:nvSpPr>
        <p:spPr>
          <a:xfrm>
            <a:off x="685800" y="2514600"/>
            <a:ext cx="2551176" cy="2834640"/>
          </a:xfrm>
          <a:prstGeom prst="roundRect">
            <a:avLst>
              <a:gd name="adj" fmla="val 3500"/>
            </a:avLst>
          </a:prstGeom>
          <a:solidFill>
            <a:srgbClr val="EFF3FE"/>
          </a:solidFill>
          <a:ln>
            <a:noFill/>
          </a:ln>
          <a:effectLst/>
        </p:spPr>
        <p:txBody>
          <a:bodyPr rtlCol="0" anchor="ctr"/>
          <a:lstStyle/>
          <a:p>
            <a:pPr algn="ctr"/>
          </a:p>
        </p:txBody>
      </p:sp>
      <p:sp>
        <p:nvSpPr>
          <p:cNvPr id="7" name="TextBox 6"/>
          <p:cNvSpPr txBox="1"/>
          <p:nvPr/>
        </p:nvSpPr>
        <p:spPr>
          <a:xfrm>
            <a:off x="941832" y="2816352"/>
            <a:ext cx="2194560" cy="658368"/>
          </a:xfrm>
          <a:prstGeom prst="rect">
            <a:avLst/>
          </a:prstGeom>
          <a:noFill/>
        </p:spPr>
        <p:txBody>
          <a:bodyPr wrap="square" lIns="0" rIns="0" tIns="0" bIns="0" anchor="t">
            <a:spAutoFit/>
          </a:bodyPr>
          <a:lstStyle/>
          <a:p>
            <a:pPr algn="l">
              <a:lnSpc>
                <a:spcPct val="100000"/>
              </a:lnSpc>
              <a:spcAft>
                <a:spcPts val="0"/>
              </a:spcAft>
            </a:pPr>
            <a:r>
              <a:rPr sz="3300" b="1">
                <a:solidFill>
                  <a:srgbClr val="114FF4"/>
                </a:solidFill>
                <a:latin typeface="Proxima Nova"/>
              </a:rPr>
              <a:t>~70%</a:t>
            </a:r>
          </a:p>
        </p:txBody>
      </p:sp>
      <p:sp>
        <p:nvSpPr>
          <p:cNvPr id="8" name="TextBox 7"/>
          <p:cNvSpPr txBox="1"/>
          <p:nvPr/>
        </p:nvSpPr>
        <p:spPr>
          <a:xfrm>
            <a:off x="941832" y="3611880"/>
            <a:ext cx="2103120" cy="548640"/>
          </a:xfrm>
          <a:prstGeom prst="rect">
            <a:avLst/>
          </a:prstGeom>
          <a:noFill/>
        </p:spPr>
        <p:txBody>
          <a:bodyPr wrap="square" lIns="0" rIns="0" tIns="0" bIns="0" anchor="t">
            <a:spAutoFit/>
          </a:bodyPr>
          <a:lstStyle/>
          <a:p>
            <a:pPr algn="l">
              <a:lnSpc>
                <a:spcPct val="120000"/>
              </a:lnSpc>
              <a:spcAft>
                <a:spcPts val="0"/>
              </a:spcAft>
            </a:pPr>
            <a:r>
              <a:rPr sz="1300" b="1">
                <a:solidFill>
                  <a:srgbClr val="232323"/>
                </a:solidFill>
                <a:latin typeface="Proxima Nova"/>
              </a:rPr>
              <a:t>of dials go unanswered</a:t>
            </a:r>
          </a:p>
        </p:txBody>
      </p:sp>
      <p:sp>
        <p:nvSpPr>
          <p:cNvPr id="9" name="TextBox 8"/>
          <p:cNvSpPr txBox="1"/>
          <p:nvPr/>
        </p:nvSpPr>
        <p:spPr>
          <a:xfrm>
            <a:off x="941832" y="4279392"/>
            <a:ext cx="2103120" cy="914400"/>
          </a:xfrm>
          <a:prstGeom prst="rect">
            <a:avLst/>
          </a:prstGeom>
          <a:noFill/>
        </p:spPr>
        <p:txBody>
          <a:bodyPr wrap="square" lIns="0" rIns="0" tIns="0" bIns="0" anchor="t">
            <a:spAutoFit/>
          </a:bodyPr>
          <a:lstStyle/>
          <a:p>
            <a:pPr algn="l">
              <a:lnSpc>
                <a:spcPct val="135000"/>
              </a:lnSpc>
              <a:spcAft>
                <a:spcPts val="0"/>
              </a:spcAft>
            </a:pPr>
            <a:r>
              <a:rPr sz="1100" b="0">
                <a:solidFill>
                  <a:srgbClr val="7B7B7B"/>
                </a:solidFill>
                <a:latin typeface="Roboto"/>
              </a:rPr>
              <a:t>Unknown numbers. Coverage, not persuasion, is the bottleneck.</a:t>
            </a:r>
          </a:p>
        </p:txBody>
      </p:sp>
      <p:sp>
        <p:nvSpPr>
          <p:cNvPr id="10" name="Rounded Rectangle 9"/>
          <p:cNvSpPr/>
          <p:nvPr/>
        </p:nvSpPr>
        <p:spPr>
          <a:xfrm>
            <a:off x="3401568" y="2514600"/>
            <a:ext cx="2551176" cy="2834640"/>
          </a:xfrm>
          <a:prstGeom prst="roundRect">
            <a:avLst>
              <a:gd name="adj" fmla="val 3500"/>
            </a:avLst>
          </a:prstGeom>
          <a:solidFill>
            <a:srgbClr val="EFF3FE"/>
          </a:solidFill>
          <a:ln>
            <a:noFill/>
          </a:ln>
          <a:effectLst/>
        </p:spPr>
        <p:txBody>
          <a:bodyPr rtlCol="0" anchor="ctr"/>
          <a:lstStyle/>
          <a:p>
            <a:pPr algn="ctr"/>
          </a:p>
        </p:txBody>
      </p:sp>
      <p:sp>
        <p:nvSpPr>
          <p:cNvPr id="11" name="TextBox 10"/>
          <p:cNvSpPr txBox="1"/>
          <p:nvPr/>
        </p:nvSpPr>
        <p:spPr>
          <a:xfrm>
            <a:off x="3657600" y="2816352"/>
            <a:ext cx="2194560" cy="658368"/>
          </a:xfrm>
          <a:prstGeom prst="rect">
            <a:avLst/>
          </a:prstGeom>
          <a:noFill/>
        </p:spPr>
        <p:txBody>
          <a:bodyPr wrap="square" lIns="0" rIns="0" tIns="0" bIns="0" anchor="t">
            <a:spAutoFit/>
          </a:bodyPr>
          <a:lstStyle/>
          <a:p>
            <a:pPr algn="l">
              <a:lnSpc>
                <a:spcPct val="100000"/>
              </a:lnSpc>
              <a:spcAft>
                <a:spcPts val="0"/>
              </a:spcAft>
            </a:pPr>
            <a:r>
              <a:rPr sz="3300" b="1">
                <a:solidFill>
                  <a:srgbClr val="114FF4"/>
                </a:solidFill>
                <a:latin typeface="Proxima Nova"/>
              </a:rPr>
              <a:t>20–40%</a:t>
            </a:r>
          </a:p>
        </p:txBody>
      </p:sp>
      <p:sp>
        <p:nvSpPr>
          <p:cNvPr id="12" name="TextBox 11"/>
          <p:cNvSpPr txBox="1"/>
          <p:nvPr/>
        </p:nvSpPr>
        <p:spPr>
          <a:xfrm>
            <a:off x="3657600" y="3611880"/>
            <a:ext cx="2103120" cy="548640"/>
          </a:xfrm>
          <a:prstGeom prst="rect">
            <a:avLst/>
          </a:prstGeom>
          <a:noFill/>
        </p:spPr>
        <p:txBody>
          <a:bodyPr wrap="square" lIns="0" rIns="0" tIns="0" bIns="0" anchor="t">
            <a:spAutoFit/>
          </a:bodyPr>
          <a:lstStyle/>
          <a:p>
            <a:pPr algn="l">
              <a:lnSpc>
                <a:spcPct val="120000"/>
              </a:lnSpc>
              <a:spcAft>
                <a:spcPts val="0"/>
              </a:spcAft>
            </a:pPr>
            <a:r>
              <a:rPr sz="1300" b="1">
                <a:solidFill>
                  <a:srgbClr val="232323"/>
                </a:solidFill>
                <a:latin typeface="Proxima Nova"/>
              </a:rPr>
              <a:t>of handle time is wrap-up</a:t>
            </a:r>
          </a:p>
        </p:txBody>
      </p:sp>
      <p:sp>
        <p:nvSpPr>
          <p:cNvPr id="13" name="TextBox 12"/>
          <p:cNvSpPr txBox="1"/>
          <p:nvPr/>
        </p:nvSpPr>
        <p:spPr>
          <a:xfrm>
            <a:off x="3657600" y="4279392"/>
            <a:ext cx="2103120" cy="914400"/>
          </a:xfrm>
          <a:prstGeom prst="rect">
            <a:avLst/>
          </a:prstGeom>
          <a:noFill/>
        </p:spPr>
        <p:txBody>
          <a:bodyPr wrap="square" lIns="0" rIns="0" tIns="0" bIns="0" anchor="t">
            <a:spAutoFit/>
          </a:bodyPr>
          <a:lstStyle/>
          <a:p>
            <a:pPr algn="l">
              <a:lnSpc>
                <a:spcPct val="135000"/>
              </a:lnSpc>
              <a:spcAft>
                <a:spcPts val="0"/>
              </a:spcAft>
            </a:pPr>
            <a:r>
              <a:rPr sz="1100" b="0">
                <a:solidFill>
                  <a:srgbClr val="7B7B7B"/>
                </a:solidFill>
                <a:latin typeface="Roboto"/>
              </a:rPr>
              <a:t>Notes, dispositions, CRM updates. Pure after-call work.</a:t>
            </a:r>
          </a:p>
        </p:txBody>
      </p:sp>
      <p:sp>
        <p:nvSpPr>
          <p:cNvPr id="14" name="Rounded Rectangle 13"/>
          <p:cNvSpPr/>
          <p:nvPr/>
        </p:nvSpPr>
        <p:spPr>
          <a:xfrm>
            <a:off x="6117336" y="2514600"/>
            <a:ext cx="2551176" cy="2834640"/>
          </a:xfrm>
          <a:prstGeom prst="roundRect">
            <a:avLst>
              <a:gd name="adj" fmla="val 3500"/>
            </a:avLst>
          </a:prstGeom>
          <a:solidFill>
            <a:srgbClr val="EFF3FE"/>
          </a:solidFill>
          <a:ln>
            <a:noFill/>
          </a:ln>
          <a:effectLst/>
        </p:spPr>
        <p:txBody>
          <a:bodyPr rtlCol="0" anchor="ctr"/>
          <a:lstStyle/>
          <a:p>
            <a:pPr algn="ctr"/>
          </a:p>
        </p:txBody>
      </p:sp>
      <p:sp>
        <p:nvSpPr>
          <p:cNvPr id="15" name="TextBox 14"/>
          <p:cNvSpPr txBox="1"/>
          <p:nvPr/>
        </p:nvSpPr>
        <p:spPr>
          <a:xfrm>
            <a:off x="6373368" y="2816352"/>
            <a:ext cx="2194560" cy="658368"/>
          </a:xfrm>
          <a:prstGeom prst="rect">
            <a:avLst/>
          </a:prstGeom>
          <a:noFill/>
        </p:spPr>
        <p:txBody>
          <a:bodyPr wrap="square" lIns="0" rIns="0" tIns="0" bIns="0" anchor="t">
            <a:spAutoFit/>
          </a:bodyPr>
          <a:lstStyle/>
          <a:p>
            <a:pPr algn="l">
              <a:lnSpc>
                <a:spcPct val="100000"/>
              </a:lnSpc>
              <a:spcAft>
                <a:spcPts val="0"/>
              </a:spcAft>
            </a:pPr>
            <a:r>
              <a:rPr sz="3300" b="1">
                <a:solidFill>
                  <a:srgbClr val="114FF4"/>
                </a:solidFill>
                <a:latin typeface="Proxima Nova"/>
              </a:rPr>
              <a:t>2–5%</a:t>
            </a:r>
          </a:p>
        </p:txBody>
      </p:sp>
      <p:sp>
        <p:nvSpPr>
          <p:cNvPr id="16" name="TextBox 15"/>
          <p:cNvSpPr txBox="1"/>
          <p:nvPr/>
        </p:nvSpPr>
        <p:spPr>
          <a:xfrm>
            <a:off x="6373368" y="3611880"/>
            <a:ext cx="2103120" cy="548640"/>
          </a:xfrm>
          <a:prstGeom prst="rect">
            <a:avLst/>
          </a:prstGeom>
          <a:noFill/>
        </p:spPr>
        <p:txBody>
          <a:bodyPr wrap="square" lIns="0" rIns="0" tIns="0" bIns="0" anchor="t">
            <a:spAutoFit/>
          </a:bodyPr>
          <a:lstStyle/>
          <a:p>
            <a:pPr algn="l">
              <a:lnSpc>
                <a:spcPct val="120000"/>
              </a:lnSpc>
              <a:spcAft>
                <a:spcPts val="0"/>
              </a:spcAft>
            </a:pPr>
            <a:r>
              <a:rPr sz="1300" b="1">
                <a:solidFill>
                  <a:srgbClr val="232323"/>
                </a:solidFill>
                <a:latin typeface="Proxima Nova"/>
              </a:rPr>
              <a:t>of calls are ever QA'd</a:t>
            </a:r>
          </a:p>
        </p:txBody>
      </p:sp>
      <p:sp>
        <p:nvSpPr>
          <p:cNvPr id="17" name="TextBox 16"/>
          <p:cNvSpPr txBox="1"/>
          <p:nvPr/>
        </p:nvSpPr>
        <p:spPr>
          <a:xfrm>
            <a:off x="6373368" y="4279392"/>
            <a:ext cx="2103120" cy="914400"/>
          </a:xfrm>
          <a:prstGeom prst="rect">
            <a:avLst/>
          </a:prstGeom>
          <a:noFill/>
        </p:spPr>
        <p:txBody>
          <a:bodyPr wrap="square" lIns="0" rIns="0" tIns="0" bIns="0" anchor="t">
            <a:spAutoFit/>
          </a:bodyPr>
          <a:lstStyle/>
          <a:p>
            <a:pPr algn="l">
              <a:lnSpc>
                <a:spcPct val="135000"/>
              </a:lnSpc>
              <a:spcAft>
                <a:spcPts val="0"/>
              </a:spcAft>
            </a:pPr>
            <a:r>
              <a:rPr sz="1100" b="0">
                <a:solidFill>
                  <a:srgbClr val="7B7B7B"/>
                </a:solidFill>
                <a:latin typeface="Roboto"/>
              </a:rPr>
              <a:t>Sampling is not monitoring. The complaint pulled is never the one heard.</a:t>
            </a:r>
          </a:p>
        </p:txBody>
      </p:sp>
      <p:sp>
        <p:nvSpPr>
          <p:cNvPr id="18" name="Rounded Rectangle 17"/>
          <p:cNvSpPr/>
          <p:nvPr/>
        </p:nvSpPr>
        <p:spPr>
          <a:xfrm>
            <a:off x="8833104" y="2514600"/>
            <a:ext cx="2551176" cy="2834640"/>
          </a:xfrm>
          <a:prstGeom prst="roundRect">
            <a:avLst>
              <a:gd name="adj" fmla="val 3500"/>
            </a:avLst>
          </a:prstGeom>
          <a:solidFill>
            <a:srgbClr val="EFF3FE"/>
          </a:solidFill>
          <a:ln>
            <a:noFill/>
          </a:ln>
          <a:effectLst/>
        </p:spPr>
        <p:txBody>
          <a:bodyPr rtlCol="0" anchor="ctr"/>
          <a:lstStyle/>
          <a:p>
            <a:pPr algn="ctr"/>
          </a:p>
        </p:txBody>
      </p:sp>
      <p:sp>
        <p:nvSpPr>
          <p:cNvPr id="19" name="TextBox 18"/>
          <p:cNvSpPr txBox="1"/>
          <p:nvPr/>
        </p:nvSpPr>
        <p:spPr>
          <a:xfrm>
            <a:off x="9089136" y="2816352"/>
            <a:ext cx="2194560" cy="658368"/>
          </a:xfrm>
          <a:prstGeom prst="rect">
            <a:avLst/>
          </a:prstGeom>
          <a:noFill/>
        </p:spPr>
        <p:txBody>
          <a:bodyPr wrap="square" lIns="0" rIns="0" tIns="0" bIns="0" anchor="t">
            <a:spAutoFit/>
          </a:bodyPr>
          <a:lstStyle/>
          <a:p>
            <a:pPr algn="l">
              <a:lnSpc>
                <a:spcPct val="100000"/>
              </a:lnSpc>
              <a:spcAft>
                <a:spcPts val="0"/>
              </a:spcAft>
            </a:pPr>
            <a:r>
              <a:rPr sz="3300" b="1">
                <a:solidFill>
                  <a:srgbClr val="114FF4"/>
                </a:solidFill>
                <a:latin typeface="Proxima Nova"/>
              </a:rPr>
              <a:t>40–50%</a:t>
            </a:r>
          </a:p>
        </p:txBody>
      </p:sp>
      <p:sp>
        <p:nvSpPr>
          <p:cNvPr id="20" name="TextBox 19"/>
          <p:cNvSpPr txBox="1"/>
          <p:nvPr/>
        </p:nvSpPr>
        <p:spPr>
          <a:xfrm>
            <a:off x="9089136" y="3611880"/>
            <a:ext cx="2103120" cy="548640"/>
          </a:xfrm>
          <a:prstGeom prst="rect">
            <a:avLst/>
          </a:prstGeom>
          <a:noFill/>
        </p:spPr>
        <p:txBody>
          <a:bodyPr wrap="square" lIns="0" rIns="0" tIns="0" bIns="0" anchor="t">
            <a:spAutoFit/>
          </a:bodyPr>
          <a:lstStyle/>
          <a:p>
            <a:pPr algn="l">
              <a:lnSpc>
                <a:spcPct val="120000"/>
              </a:lnSpc>
              <a:spcAft>
                <a:spcPts val="0"/>
              </a:spcAft>
            </a:pPr>
            <a:r>
              <a:rPr sz="1300" b="1">
                <a:solidFill>
                  <a:srgbClr val="232323"/>
                </a:solidFill>
                <a:latin typeface="Proxima Nova"/>
              </a:rPr>
              <a:t>field visits, nobody home</a:t>
            </a:r>
          </a:p>
        </p:txBody>
      </p:sp>
      <p:sp>
        <p:nvSpPr>
          <p:cNvPr id="21" name="TextBox 20"/>
          <p:cNvSpPr txBox="1"/>
          <p:nvPr/>
        </p:nvSpPr>
        <p:spPr>
          <a:xfrm>
            <a:off x="9089136" y="4279392"/>
            <a:ext cx="2103120" cy="914400"/>
          </a:xfrm>
          <a:prstGeom prst="rect">
            <a:avLst/>
          </a:prstGeom>
          <a:noFill/>
        </p:spPr>
        <p:txBody>
          <a:bodyPr wrap="square" lIns="0" rIns="0" tIns="0" bIns="0" anchor="t">
            <a:spAutoFit/>
          </a:bodyPr>
          <a:lstStyle/>
          <a:p>
            <a:pPr algn="l">
              <a:lnSpc>
                <a:spcPct val="135000"/>
              </a:lnSpc>
              <a:spcAft>
                <a:spcPts val="0"/>
              </a:spcAft>
            </a:pPr>
            <a:r>
              <a:rPr sz="1100" b="0">
                <a:solidFill>
                  <a:srgbClr val="7B7B7B"/>
                </a:solidFill>
                <a:latin typeface="Roboto"/>
              </a:rPr>
              <a:t>₹800–1,500 a visit, spent on an empty doorstep.</a:t>
            </a:r>
          </a:p>
        </p:txBody>
      </p:sp>
      <p:sp>
        <p:nvSpPr>
          <p:cNvPr id="22" name="TextBox 21"/>
          <p:cNvSpPr txBox="1"/>
          <p:nvPr/>
        </p:nvSpPr>
        <p:spPr>
          <a:xfrm>
            <a:off x="685800" y="5623560"/>
            <a:ext cx="10789920" cy="457200"/>
          </a:xfrm>
          <a:prstGeom prst="rect">
            <a:avLst/>
          </a:prstGeom>
          <a:noFill/>
        </p:spPr>
        <p:txBody>
          <a:bodyPr wrap="square" lIns="0" rIns="0" tIns="0" bIns="0" anchor="t">
            <a:spAutoFit/>
          </a:bodyPr>
          <a:lstStyle/>
          <a:p>
            <a:pPr algn="l">
              <a:lnSpc>
                <a:spcPct val="135000"/>
              </a:lnSpc>
              <a:spcAft>
                <a:spcPts val="0"/>
              </a:spcAft>
            </a:pPr>
            <a:r>
              <a:rPr sz="1300" b="1">
                <a:solidFill>
                  <a:srgbClr val="232323"/>
                </a:solidFill>
                <a:latin typeface="Roboto"/>
              </a:rPr>
              <a:t>Meanwhile the compliance desk enforces an 8am–7pm window, a DND registry and a frequency cap — in a spreadsheet, across three channels, by hand.</a:t>
            </a:r>
          </a:p>
        </p:txBody>
      </p:sp>
      <p:sp>
        <p:nvSpPr>
          <p:cNvPr id="23" name="TextBox 22"/>
          <p:cNvSpPr txBox="1"/>
          <p:nvPr/>
        </p:nvSpPr>
        <p:spPr>
          <a:xfrm>
            <a:off x="685800" y="6291072"/>
            <a:ext cx="10789920" cy="274320"/>
          </a:xfrm>
          <a:prstGeom prst="rect">
            <a:avLst/>
          </a:prstGeom>
          <a:noFill/>
        </p:spPr>
        <p:txBody>
          <a:bodyPr wrap="square" lIns="0" rIns="0" tIns="0" bIns="0" anchor="t">
            <a:spAutoFit/>
          </a:bodyPr>
          <a:lstStyle/>
          <a:p>
            <a:pPr algn="l">
              <a:spcAft>
                <a:spcPts val="0"/>
              </a:spcAft>
            </a:pPr>
            <a:r>
              <a:rPr sz="900" b="0">
                <a:solidFill>
                  <a:srgbClr val="7B7B7B"/>
                </a:solidFill>
                <a:latin typeface="Roboto"/>
              </a:rPr>
              <a:t>Directional industry ranges (AiXBFS, CarmaOne, McKinsey). Not our telemetry.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PAIN WE ARE SOLVING</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SIX JOBS ON ONE FLOOR</a:t>
            </a:r>
          </a:p>
        </p:txBody>
      </p:sp>
      <p:sp>
        <p:nvSpPr>
          <p:cNvPr id="5" name="TextBox 4"/>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We were explicit about which of them a machine should take, and which it must not.</a:t>
            </a:r>
          </a:p>
        </p:txBody>
      </p:sp>
      <p:sp>
        <p:nvSpPr>
          <p:cNvPr id="6" name="Rounded Rectangle 5"/>
          <p:cNvSpPr/>
          <p:nvPr/>
        </p:nvSpPr>
        <p:spPr>
          <a:xfrm>
            <a:off x="685800" y="2304288"/>
            <a:ext cx="10817352" cy="603504"/>
          </a:xfrm>
          <a:prstGeom prst="roundRect">
            <a:avLst>
              <a:gd name="adj" fmla="val 3500"/>
            </a:avLst>
          </a:prstGeom>
          <a:solidFill>
            <a:srgbClr val="F7F8FB"/>
          </a:solidFill>
          <a:ln>
            <a:noFill/>
          </a:ln>
          <a:effectLst/>
        </p:spPr>
        <p:txBody>
          <a:bodyPr rtlCol="0" anchor="ctr"/>
          <a:lstStyle/>
          <a:p>
            <a:pPr algn="ctr"/>
          </a:p>
        </p:txBody>
      </p:sp>
      <p:sp>
        <p:nvSpPr>
          <p:cNvPr id="7" name="TextBox 6"/>
          <p:cNvSpPr txBox="1"/>
          <p:nvPr/>
        </p:nvSpPr>
        <p:spPr>
          <a:xfrm>
            <a:off x="941832" y="2450592"/>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Tele-collection executive</a:t>
            </a:r>
          </a:p>
        </p:txBody>
      </p:sp>
      <p:sp>
        <p:nvSpPr>
          <p:cNvPr id="8" name="TextBox 7"/>
          <p:cNvSpPr txBox="1"/>
          <p:nvPr/>
        </p:nvSpPr>
        <p:spPr>
          <a:xfrm>
            <a:off x="3931920" y="2478024"/>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100–150 dials a day, identity check, EMI, PTP, notes</a:t>
            </a:r>
          </a:p>
        </p:txBody>
      </p:sp>
      <p:sp>
        <p:nvSpPr>
          <p:cNvPr id="9" name="TextBox 8"/>
          <p:cNvSpPr txBox="1"/>
          <p:nvPr/>
        </p:nvSpPr>
        <p:spPr>
          <a:xfrm>
            <a:off x="8686800" y="2468880"/>
            <a:ext cx="2560320" cy="365760"/>
          </a:xfrm>
          <a:prstGeom prst="rect">
            <a:avLst/>
          </a:prstGeom>
          <a:noFill/>
        </p:spPr>
        <p:txBody>
          <a:bodyPr wrap="square" lIns="0" rIns="0" tIns="0" bIns="0" anchor="t">
            <a:spAutoFit/>
          </a:bodyPr>
          <a:lstStyle/>
          <a:p>
            <a:pPr algn="r">
              <a:spcAft>
                <a:spcPts val="0"/>
              </a:spcAft>
            </a:pPr>
            <a:r>
              <a:rPr sz="1100" b="1" spc="80">
                <a:solidFill>
                  <a:srgbClr val="114FF4"/>
                </a:solidFill>
                <a:latin typeface="Roboto"/>
              </a:rPr>
              <a:t>REPLACE AT VOLUME</a:t>
            </a:r>
          </a:p>
        </p:txBody>
      </p:sp>
      <p:sp>
        <p:nvSpPr>
          <p:cNvPr id="10" name="TextBox 9"/>
          <p:cNvSpPr txBox="1"/>
          <p:nvPr/>
        </p:nvSpPr>
        <p:spPr>
          <a:xfrm>
            <a:off x="941832" y="3108960"/>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Floor / team lead</a:t>
            </a:r>
          </a:p>
        </p:txBody>
      </p:sp>
      <p:sp>
        <p:nvSpPr>
          <p:cNvPr id="11" name="TextBox 10"/>
          <p:cNvSpPr txBox="1"/>
          <p:nvPr/>
        </p:nvSpPr>
        <p:spPr>
          <a:xfrm>
            <a:off x="3931920" y="3136391"/>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Huddle, allocation, coaching, the daily Excel pack</a:t>
            </a:r>
          </a:p>
        </p:txBody>
      </p:sp>
      <p:sp>
        <p:nvSpPr>
          <p:cNvPr id="12" name="TextBox 11"/>
          <p:cNvSpPr txBox="1"/>
          <p:nvPr/>
        </p:nvSpPr>
        <p:spPr>
          <a:xfrm>
            <a:off x="8686800" y="3127248"/>
            <a:ext cx="2560320" cy="365760"/>
          </a:xfrm>
          <a:prstGeom prst="rect">
            <a:avLst/>
          </a:prstGeom>
          <a:noFill/>
        </p:spPr>
        <p:txBody>
          <a:bodyPr wrap="square" lIns="0" rIns="0" tIns="0" bIns="0" anchor="t">
            <a:spAutoFit/>
          </a:bodyPr>
          <a:lstStyle/>
          <a:p>
            <a:pPr algn="r">
              <a:spcAft>
                <a:spcPts val="0"/>
              </a:spcAft>
            </a:pPr>
            <a:r>
              <a:rPr sz="1100" b="1" spc="80">
                <a:solidFill>
                  <a:srgbClr val="7B7B7B"/>
                </a:solidFill>
                <a:latin typeface="Roboto"/>
              </a:rPr>
              <a:t>AUGMENT</a:t>
            </a:r>
          </a:p>
        </p:txBody>
      </p:sp>
      <p:sp>
        <p:nvSpPr>
          <p:cNvPr id="13" name="Rounded Rectangle 12"/>
          <p:cNvSpPr/>
          <p:nvPr/>
        </p:nvSpPr>
        <p:spPr>
          <a:xfrm>
            <a:off x="685800" y="3621023"/>
            <a:ext cx="10817352" cy="603504"/>
          </a:xfrm>
          <a:prstGeom prst="roundRect">
            <a:avLst>
              <a:gd name="adj" fmla="val 3500"/>
            </a:avLst>
          </a:prstGeom>
          <a:solidFill>
            <a:srgbClr val="F7F8FB"/>
          </a:solidFill>
          <a:ln>
            <a:noFill/>
          </a:ln>
          <a:effectLst/>
        </p:spPr>
        <p:txBody>
          <a:bodyPr rtlCol="0" anchor="ctr"/>
          <a:lstStyle/>
          <a:p>
            <a:pPr algn="ctr"/>
          </a:p>
        </p:txBody>
      </p:sp>
      <p:sp>
        <p:nvSpPr>
          <p:cNvPr id="14" name="TextBox 13"/>
          <p:cNvSpPr txBox="1"/>
          <p:nvPr/>
        </p:nvSpPr>
        <p:spPr>
          <a:xfrm>
            <a:off x="941832" y="3767327"/>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QA analyst</a:t>
            </a:r>
          </a:p>
        </p:txBody>
      </p:sp>
      <p:sp>
        <p:nvSpPr>
          <p:cNvPr id="15" name="TextBox 14"/>
          <p:cNvSpPr txBox="1"/>
          <p:nvPr/>
        </p:nvSpPr>
        <p:spPr>
          <a:xfrm>
            <a:off x="3931920" y="3794759"/>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Listens to 2–5% of calls, scores disclosure and threats</a:t>
            </a:r>
          </a:p>
        </p:txBody>
      </p:sp>
      <p:sp>
        <p:nvSpPr>
          <p:cNvPr id="16" name="TextBox 15"/>
          <p:cNvSpPr txBox="1"/>
          <p:nvPr/>
        </p:nvSpPr>
        <p:spPr>
          <a:xfrm>
            <a:off x="8686800" y="3785615"/>
            <a:ext cx="2560320" cy="365760"/>
          </a:xfrm>
          <a:prstGeom prst="rect">
            <a:avLst/>
          </a:prstGeom>
          <a:noFill/>
        </p:spPr>
        <p:txBody>
          <a:bodyPr wrap="square" lIns="0" rIns="0" tIns="0" bIns="0" anchor="t">
            <a:spAutoFit/>
          </a:bodyPr>
          <a:lstStyle/>
          <a:p>
            <a:pPr algn="r">
              <a:spcAft>
                <a:spcPts val="0"/>
              </a:spcAft>
            </a:pPr>
            <a:r>
              <a:rPr sz="1100" b="1" spc="80">
                <a:solidFill>
                  <a:srgbClr val="114FF4"/>
                </a:solidFill>
                <a:latin typeface="Roboto"/>
              </a:rPr>
              <a:t>REPLACE SAMPLING</a:t>
            </a:r>
          </a:p>
        </p:txBody>
      </p:sp>
      <p:sp>
        <p:nvSpPr>
          <p:cNvPr id="17" name="TextBox 16"/>
          <p:cNvSpPr txBox="1"/>
          <p:nvPr/>
        </p:nvSpPr>
        <p:spPr>
          <a:xfrm>
            <a:off x="941832" y="4425695"/>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Compliance / DND desk</a:t>
            </a:r>
          </a:p>
        </p:txBody>
      </p:sp>
      <p:sp>
        <p:nvSpPr>
          <p:cNvPr id="18" name="TextBox 17"/>
          <p:cNvSpPr txBox="1"/>
          <p:nvPr/>
        </p:nvSpPr>
        <p:spPr>
          <a:xfrm>
            <a:off x="3931920" y="4453127"/>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NDNC scrub, calling hours, opt-out, DPDP consent</a:t>
            </a:r>
          </a:p>
        </p:txBody>
      </p:sp>
      <p:sp>
        <p:nvSpPr>
          <p:cNvPr id="19" name="TextBox 18"/>
          <p:cNvSpPr txBox="1"/>
          <p:nvPr/>
        </p:nvSpPr>
        <p:spPr>
          <a:xfrm>
            <a:off x="8686800" y="4443983"/>
            <a:ext cx="2560320" cy="365760"/>
          </a:xfrm>
          <a:prstGeom prst="rect">
            <a:avLst/>
          </a:prstGeom>
          <a:noFill/>
        </p:spPr>
        <p:txBody>
          <a:bodyPr wrap="square" lIns="0" rIns="0" tIns="0" bIns="0" anchor="t">
            <a:spAutoFit/>
          </a:bodyPr>
          <a:lstStyle/>
          <a:p>
            <a:pPr algn="r">
              <a:spcAft>
                <a:spcPts val="0"/>
              </a:spcAft>
            </a:pPr>
            <a:r>
              <a:rPr sz="1100" b="1" spc="80">
                <a:solidFill>
                  <a:srgbClr val="114FF4"/>
                </a:solidFill>
                <a:latin typeface="Roboto"/>
              </a:rPr>
              <a:t>REPLACE THE SPREADSHEET</a:t>
            </a:r>
          </a:p>
        </p:txBody>
      </p:sp>
      <p:sp>
        <p:nvSpPr>
          <p:cNvPr id="20" name="Rounded Rectangle 19"/>
          <p:cNvSpPr/>
          <p:nvPr/>
        </p:nvSpPr>
        <p:spPr>
          <a:xfrm>
            <a:off x="685800" y="4937759"/>
            <a:ext cx="10817352" cy="603504"/>
          </a:xfrm>
          <a:prstGeom prst="roundRect">
            <a:avLst>
              <a:gd name="adj" fmla="val 3500"/>
            </a:avLst>
          </a:prstGeom>
          <a:solidFill>
            <a:srgbClr val="F7F8FB"/>
          </a:solidFill>
          <a:ln>
            <a:noFill/>
          </a:ln>
          <a:effectLst/>
        </p:spPr>
        <p:txBody>
          <a:bodyPr rtlCol="0" anchor="ctr"/>
          <a:lstStyle/>
          <a:p>
            <a:pPr algn="ctr"/>
          </a:p>
        </p:txBody>
      </p:sp>
      <p:sp>
        <p:nvSpPr>
          <p:cNvPr id="21" name="TextBox 20"/>
          <p:cNvSpPr txBox="1"/>
          <p:nvPr/>
        </p:nvSpPr>
        <p:spPr>
          <a:xfrm>
            <a:off x="941832" y="5084063"/>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Back-office clerk</a:t>
            </a:r>
          </a:p>
        </p:txBody>
      </p:sp>
      <p:sp>
        <p:nvSpPr>
          <p:cNvPr id="22" name="TextBox 21"/>
          <p:cNvSpPr txBox="1"/>
          <p:nvPr/>
        </p:nvSpPr>
        <p:spPr>
          <a:xfrm>
            <a:off x="3931920" y="5111495"/>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Broken-PTP chase, callbacks, statements, NOCs, disputes</a:t>
            </a:r>
          </a:p>
        </p:txBody>
      </p:sp>
      <p:sp>
        <p:nvSpPr>
          <p:cNvPr id="23" name="TextBox 22"/>
          <p:cNvSpPr txBox="1"/>
          <p:nvPr/>
        </p:nvSpPr>
        <p:spPr>
          <a:xfrm>
            <a:off x="8686800" y="5102351"/>
            <a:ext cx="2560320" cy="365760"/>
          </a:xfrm>
          <a:prstGeom prst="rect">
            <a:avLst/>
          </a:prstGeom>
          <a:noFill/>
        </p:spPr>
        <p:txBody>
          <a:bodyPr wrap="square" lIns="0" rIns="0" tIns="0" bIns="0" anchor="t">
            <a:spAutoFit/>
          </a:bodyPr>
          <a:lstStyle/>
          <a:p>
            <a:pPr algn="r">
              <a:spcAft>
                <a:spcPts val="0"/>
              </a:spcAft>
            </a:pPr>
            <a:r>
              <a:rPr sz="1100" b="1" spc="80">
                <a:solidFill>
                  <a:srgbClr val="114FF4"/>
                </a:solidFill>
                <a:latin typeface="Roboto"/>
              </a:rPr>
              <a:t>REPLACE THE DIARY</a:t>
            </a:r>
          </a:p>
        </p:txBody>
      </p:sp>
      <p:sp>
        <p:nvSpPr>
          <p:cNvPr id="24" name="TextBox 23"/>
          <p:cNvSpPr txBox="1"/>
          <p:nvPr/>
        </p:nvSpPr>
        <p:spPr>
          <a:xfrm>
            <a:off x="941832" y="5742431"/>
            <a:ext cx="2834640" cy="365760"/>
          </a:xfrm>
          <a:prstGeom prst="rect">
            <a:avLst/>
          </a:prstGeom>
          <a:noFill/>
        </p:spPr>
        <p:txBody>
          <a:bodyPr wrap="square" lIns="0" rIns="0" tIns="0" bIns="0" anchor="t">
            <a:spAutoFit/>
          </a:bodyPr>
          <a:lstStyle/>
          <a:p>
            <a:pPr algn="l">
              <a:spcAft>
                <a:spcPts val="0"/>
              </a:spcAft>
            </a:pPr>
            <a:r>
              <a:rPr sz="1350" b="1">
                <a:solidFill>
                  <a:srgbClr val="232323"/>
                </a:solidFill>
                <a:latin typeface="Proxima Nova"/>
              </a:rPr>
              <a:t>Field / legal / hardship</a:t>
            </a:r>
          </a:p>
        </p:txBody>
      </p:sp>
      <p:sp>
        <p:nvSpPr>
          <p:cNvPr id="25" name="TextBox 24"/>
          <p:cNvSpPr txBox="1"/>
          <p:nvPr/>
        </p:nvSpPr>
        <p:spPr>
          <a:xfrm>
            <a:off x="3931920" y="5769863"/>
            <a:ext cx="4572000" cy="36576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Doorstep, SARFAESI, OTS, job-loss conversations</a:t>
            </a:r>
          </a:p>
        </p:txBody>
      </p:sp>
      <p:sp>
        <p:nvSpPr>
          <p:cNvPr id="26" name="TextBox 25"/>
          <p:cNvSpPr txBox="1"/>
          <p:nvPr/>
        </p:nvSpPr>
        <p:spPr>
          <a:xfrm>
            <a:off x="8686800" y="5760719"/>
            <a:ext cx="2560320" cy="365760"/>
          </a:xfrm>
          <a:prstGeom prst="rect">
            <a:avLst/>
          </a:prstGeom>
          <a:noFill/>
        </p:spPr>
        <p:txBody>
          <a:bodyPr wrap="square" lIns="0" rIns="0" tIns="0" bIns="0" anchor="t">
            <a:spAutoFit/>
          </a:bodyPr>
          <a:lstStyle/>
          <a:p>
            <a:pPr algn="r">
              <a:spcAft>
                <a:spcPts val="0"/>
              </a:spcAft>
            </a:pPr>
            <a:r>
              <a:rPr sz="1100" b="1" spc="80">
                <a:solidFill>
                  <a:srgbClr val="C03939"/>
                </a:solidFill>
                <a:latin typeface="Roboto"/>
              </a:rPr>
              <a:t>KEEP THE JUDGEMENT</a:t>
            </a:r>
          </a:p>
        </p:txBody>
      </p:sp>
      <p:sp>
        <p:nvSpPr>
          <p:cNvPr id="27" name="TextBox 26"/>
          <p:cNvSpPr txBox="1"/>
          <p:nvPr/>
        </p:nvSpPr>
        <p:spPr>
          <a:xfrm>
            <a:off x="685800" y="6355080"/>
            <a:ext cx="10789920" cy="320040"/>
          </a:xfrm>
          <a:prstGeom prst="rect">
            <a:avLst/>
          </a:prstGeom>
          <a:noFill/>
        </p:spPr>
        <p:txBody>
          <a:bodyPr wrap="square" lIns="0" rIns="0" tIns="0" bIns="0" anchor="t">
            <a:spAutoFit/>
          </a:bodyPr>
          <a:lstStyle/>
          <a:p>
            <a:pPr algn="l">
              <a:spcAft>
                <a:spcPts val="0"/>
              </a:spcAft>
            </a:pPr>
            <a:r>
              <a:rPr sz="1250" b="1">
                <a:solidFill>
                  <a:srgbClr val="114FF4"/>
                </a:solidFill>
                <a:latin typeface="Roboto"/>
              </a:rPr>
              <a:t>Voice AI belongs in pre-due and 1–30 DPD. 90+ is a specialist, and we do not pretend otherwise.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WHY THE OBVIOUS ANSWER FAILS</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400" b="1">
                <a:solidFill>
                  <a:srgbClr val="232323"/>
                </a:solidFill>
                <a:latin typeface="Proxima Nova"/>
              </a:rPr>
              <a:t>EVERYONE SHIPPED A VOICE BOT.
NOBODY SHIPPED THE OPERATION.</a:t>
            </a:r>
          </a:p>
        </p:txBody>
      </p:sp>
      <p:sp>
        <p:nvSpPr>
          <p:cNvPr id="5" name="Rounded Rectangle 4"/>
          <p:cNvSpPr/>
          <p:nvPr/>
        </p:nvSpPr>
        <p:spPr>
          <a:xfrm>
            <a:off x="685800" y="2697480"/>
            <a:ext cx="5212080" cy="3246120"/>
          </a:xfrm>
          <a:prstGeom prst="roundRect">
            <a:avLst>
              <a:gd name="adj" fmla="val 3500"/>
            </a:avLst>
          </a:prstGeom>
          <a:solidFill>
            <a:srgbClr val="F5F5F5"/>
          </a:solidFill>
          <a:ln>
            <a:noFill/>
          </a:ln>
          <a:effectLst/>
        </p:spPr>
        <p:txBody>
          <a:bodyPr rtlCol="0" anchor="ctr"/>
          <a:lstStyle/>
          <a:p>
            <a:pPr algn="ctr"/>
          </a:p>
        </p:txBody>
      </p:sp>
      <p:sp>
        <p:nvSpPr>
          <p:cNvPr id="6" name="TextBox 5"/>
          <p:cNvSpPr txBox="1"/>
          <p:nvPr/>
        </p:nvSpPr>
        <p:spPr>
          <a:xfrm>
            <a:off x="1005840" y="2971800"/>
            <a:ext cx="4572000" cy="320040"/>
          </a:xfrm>
          <a:prstGeom prst="rect">
            <a:avLst/>
          </a:prstGeom>
          <a:noFill/>
        </p:spPr>
        <p:txBody>
          <a:bodyPr wrap="square" lIns="0" rIns="0" tIns="0" bIns="0" anchor="t">
            <a:spAutoFit/>
          </a:bodyPr>
          <a:lstStyle/>
          <a:p>
            <a:pPr algn="l">
              <a:spcAft>
                <a:spcPts val="0"/>
              </a:spcAft>
            </a:pPr>
            <a:r>
              <a:rPr sz="1300" b="1" spc="80">
                <a:solidFill>
                  <a:srgbClr val="7B7B7B"/>
                </a:solidFill>
                <a:latin typeface="Proxima Nova"/>
              </a:rPr>
              <a:t>WHAT THE BUILDERS GIVE YOU</a:t>
            </a:r>
          </a:p>
        </p:txBody>
      </p:sp>
      <p:sp>
        <p:nvSpPr>
          <p:cNvPr id="7" name="Oval 6"/>
          <p:cNvSpPr/>
          <p:nvPr/>
        </p:nvSpPr>
        <p:spPr>
          <a:xfrm>
            <a:off x="1005840" y="3483863"/>
            <a:ext cx="128016" cy="128016"/>
          </a:xfrm>
          <a:prstGeom prst="ellipse">
            <a:avLst/>
          </a:prstGeom>
          <a:solidFill>
            <a:srgbClr val="A7A7A7"/>
          </a:solidFill>
          <a:ln>
            <a:noFill/>
          </a:ln>
          <a:effectLst/>
        </p:spPr>
        <p:txBody>
          <a:bodyPr rtlCol="0" anchor="ctr" wrap="none" lIns="0" rIns="0" tIns="0" bIns="0"/>
          <a:lstStyle/>
          <a:p>
            <a:pPr algn="ctr"/>
            <a:r>
              <a:rPr sz="1500" b="1">
                <a:solidFill>
                  <a:srgbClr val="FFFFFF"/>
                </a:solidFill>
                <a:latin typeface="Proxima Nova"/>
              </a:rPr>
              <a:t/>
            </a:r>
          </a:p>
        </p:txBody>
      </p:sp>
      <p:sp>
        <p:nvSpPr>
          <p:cNvPr id="8" name="TextBox 7"/>
          <p:cNvSpPr txBox="1"/>
          <p:nvPr/>
        </p:nvSpPr>
        <p:spPr>
          <a:xfrm>
            <a:off x="1261872" y="3438144"/>
            <a:ext cx="4389120" cy="365760"/>
          </a:xfrm>
          <a:prstGeom prst="rect">
            <a:avLst/>
          </a:prstGeom>
          <a:noFill/>
        </p:spPr>
        <p:txBody>
          <a:bodyPr wrap="square" lIns="0" rIns="0" tIns="0" bIns="0" anchor="t">
            <a:spAutoFit/>
          </a:bodyPr>
          <a:lstStyle/>
          <a:p>
            <a:pPr algn="l">
              <a:spcAft>
                <a:spcPts val="0"/>
              </a:spcAft>
            </a:pPr>
            <a:r>
              <a:rPr sz="1300" b="0">
                <a:solidFill>
                  <a:srgbClr val="555555"/>
                </a:solidFill>
                <a:latin typeface="Roboto"/>
              </a:rPr>
              <a:t>A prompt box and a persona slider</a:t>
            </a:r>
          </a:p>
        </p:txBody>
      </p:sp>
      <p:sp>
        <p:nvSpPr>
          <p:cNvPr id="9" name="Oval 8"/>
          <p:cNvSpPr/>
          <p:nvPr/>
        </p:nvSpPr>
        <p:spPr>
          <a:xfrm>
            <a:off x="1005840" y="3941063"/>
            <a:ext cx="128016" cy="128016"/>
          </a:xfrm>
          <a:prstGeom prst="ellipse">
            <a:avLst/>
          </a:prstGeom>
          <a:solidFill>
            <a:srgbClr val="A7A7A7"/>
          </a:solidFill>
          <a:ln>
            <a:noFill/>
          </a:ln>
          <a:effectLst/>
        </p:spPr>
        <p:txBody>
          <a:bodyPr rtlCol="0" anchor="ctr" wrap="none" lIns="0" rIns="0" tIns="0" bIns="0"/>
          <a:lstStyle/>
          <a:p>
            <a:pPr algn="ctr"/>
            <a:r>
              <a:rPr sz="1500" b="1">
                <a:solidFill>
                  <a:srgbClr val="FFFFFF"/>
                </a:solidFill>
                <a:latin typeface="Proxima Nova"/>
              </a:rPr>
              <a:t/>
            </a:r>
          </a:p>
        </p:txBody>
      </p:sp>
      <p:sp>
        <p:nvSpPr>
          <p:cNvPr id="10" name="TextBox 9"/>
          <p:cNvSpPr txBox="1"/>
          <p:nvPr/>
        </p:nvSpPr>
        <p:spPr>
          <a:xfrm>
            <a:off x="1261872" y="3895344"/>
            <a:ext cx="4389120" cy="365760"/>
          </a:xfrm>
          <a:prstGeom prst="rect">
            <a:avLst/>
          </a:prstGeom>
          <a:noFill/>
        </p:spPr>
        <p:txBody>
          <a:bodyPr wrap="square" lIns="0" rIns="0" tIns="0" bIns="0" anchor="t">
            <a:spAutoFit/>
          </a:bodyPr>
          <a:lstStyle/>
          <a:p>
            <a:pPr algn="l">
              <a:spcAft>
                <a:spcPts val="0"/>
              </a:spcAft>
            </a:pPr>
            <a:r>
              <a:rPr sz="1300" b="0">
                <a:solidFill>
                  <a:srgbClr val="555555"/>
                </a:solidFill>
                <a:latin typeface="Roboto"/>
              </a:rPr>
              <a:t>A phone number and a webhook</a:t>
            </a:r>
          </a:p>
        </p:txBody>
      </p:sp>
      <p:sp>
        <p:nvSpPr>
          <p:cNvPr id="11" name="Oval 10"/>
          <p:cNvSpPr/>
          <p:nvPr/>
        </p:nvSpPr>
        <p:spPr>
          <a:xfrm>
            <a:off x="1005840" y="4398264"/>
            <a:ext cx="128016" cy="128016"/>
          </a:xfrm>
          <a:prstGeom prst="ellipse">
            <a:avLst/>
          </a:prstGeom>
          <a:solidFill>
            <a:srgbClr val="A7A7A7"/>
          </a:solidFill>
          <a:ln>
            <a:noFill/>
          </a:ln>
          <a:effectLst/>
        </p:spPr>
        <p:txBody>
          <a:bodyPr rtlCol="0" anchor="ctr" wrap="none" lIns="0" rIns="0" tIns="0" bIns="0"/>
          <a:lstStyle/>
          <a:p>
            <a:pPr algn="ctr"/>
            <a:r>
              <a:rPr sz="1500" b="1">
                <a:solidFill>
                  <a:srgbClr val="FFFFFF"/>
                </a:solidFill>
                <a:latin typeface="Proxima Nova"/>
              </a:rPr>
              <a:t/>
            </a:r>
          </a:p>
        </p:txBody>
      </p:sp>
      <p:sp>
        <p:nvSpPr>
          <p:cNvPr id="12" name="TextBox 11"/>
          <p:cNvSpPr txBox="1"/>
          <p:nvPr/>
        </p:nvSpPr>
        <p:spPr>
          <a:xfrm>
            <a:off x="1261872" y="4352544"/>
            <a:ext cx="4389120" cy="365760"/>
          </a:xfrm>
          <a:prstGeom prst="rect">
            <a:avLst/>
          </a:prstGeom>
          <a:noFill/>
        </p:spPr>
        <p:txBody>
          <a:bodyPr wrap="square" lIns="0" rIns="0" tIns="0" bIns="0" anchor="t">
            <a:spAutoFit/>
          </a:bodyPr>
          <a:lstStyle/>
          <a:p>
            <a:pPr algn="l">
              <a:spcAft>
                <a:spcPts val="0"/>
              </a:spcAft>
            </a:pPr>
            <a:r>
              <a:rPr sz="1300" b="0">
                <a:solidFill>
                  <a:srgbClr val="555555"/>
                </a:solidFill>
                <a:latin typeface="Roboto"/>
              </a:rPr>
              <a:t>A transcript, after the call is over</a:t>
            </a:r>
          </a:p>
        </p:txBody>
      </p:sp>
      <p:sp>
        <p:nvSpPr>
          <p:cNvPr id="13" name="Oval 12"/>
          <p:cNvSpPr/>
          <p:nvPr/>
        </p:nvSpPr>
        <p:spPr>
          <a:xfrm>
            <a:off x="1005840" y="4855464"/>
            <a:ext cx="128016" cy="128016"/>
          </a:xfrm>
          <a:prstGeom prst="ellipse">
            <a:avLst/>
          </a:prstGeom>
          <a:solidFill>
            <a:srgbClr val="A7A7A7"/>
          </a:solidFill>
          <a:ln>
            <a:noFill/>
          </a:ln>
          <a:effectLst/>
        </p:spPr>
        <p:txBody>
          <a:bodyPr rtlCol="0" anchor="ctr" wrap="none" lIns="0" rIns="0" tIns="0" bIns="0"/>
          <a:lstStyle/>
          <a:p>
            <a:pPr algn="ctr"/>
            <a:r>
              <a:rPr sz="1500" b="1">
                <a:solidFill>
                  <a:srgbClr val="FFFFFF"/>
                </a:solidFill>
                <a:latin typeface="Proxima Nova"/>
              </a:rPr>
              <a:t/>
            </a:r>
          </a:p>
        </p:txBody>
      </p:sp>
      <p:sp>
        <p:nvSpPr>
          <p:cNvPr id="14" name="TextBox 13"/>
          <p:cNvSpPr txBox="1"/>
          <p:nvPr/>
        </p:nvSpPr>
        <p:spPr>
          <a:xfrm>
            <a:off x="1261872" y="4809744"/>
            <a:ext cx="4389120" cy="365760"/>
          </a:xfrm>
          <a:prstGeom prst="rect">
            <a:avLst/>
          </a:prstGeom>
          <a:noFill/>
        </p:spPr>
        <p:txBody>
          <a:bodyPr wrap="square" lIns="0" rIns="0" tIns="0" bIns="0" anchor="t">
            <a:spAutoFit/>
          </a:bodyPr>
          <a:lstStyle/>
          <a:p>
            <a:pPr algn="l">
              <a:spcAft>
                <a:spcPts val="0"/>
              </a:spcAft>
            </a:pPr>
            <a:r>
              <a:rPr sz="1300" b="0">
                <a:solidFill>
                  <a:srgbClr val="555555"/>
                </a:solidFill>
                <a:latin typeface="Roboto"/>
              </a:rPr>
              <a:t>A dashboard of call counts and durations</a:t>
            </a:r>
          </a:p>
        </p:txBody>
      </p:sp>
      <p:sp>
        <p:nvSpPr>
          <p:cNvPr id="15" name="Oval 14"/>
          <p:cNvSpPr/>
          <p:nvPr/>
        </p:nvSpPr>
        <p:spPr>
          <a:xfrm>
            <a:off x="1005840" y="5312664"/>
            <a:ext cx="128016" cy="128016"/>
          </a:xfrm>
          <a:prstGeom prst="ellipse">
            <a:avLst/>
          </a:prstGeom>
          <a:solidFill>
            <a:srgbClr val="A7A7A7"/>
          </a:solidFill>
          <a:ln>
            <a:noFill/>
          </a:ln>
          <a:effectLst/>
        </p:spPr>
        <p:txBody>
          <a:bodyPr rtlCol="0" anchor="ctr" wrap="none" lIns="0" rIns="0" tIns="0" bIns="0"/>
          <a:lstStyle/>
          <a:p>
            <a:pPr algn="ctr"/>
            <a:r>
              <a:rPr sz="1500" b="1">
                <a:solidFill>
                  <a:srgbClr val="FFFFFF"/>
                </a:solidFill>
                <a:latin typeface="Proxima Nova"/>
              </a:rPr>
              <a:t/>
            </a:r>
          </a:p>
        </p:txBody>
      </p:sp>
      <p:sp>
        <p:nvSpPr>
          <p:cNvPr id="16" name="TextBox 15"/>
          <p:cNvSpPr txBox="1"/>
          <p:nvPr/>
        </p:nvSpPr>
        <p:spPr>
          <a:xfrm>
            <a:off x="1261872" y="5266944"/>
            <a:ext cx="4389120" cy="365760"/>
          </a:xfrm>
          <a:prstGeom prst="rect">
            <a:avLst/>
          </a:prstGeom>
          <a:noFill/>
        </p:spPr>
        <p:txBody>
          <a:bodyPr wrap="square" lIns="0" rIns="0" tIns="0" bIns="0" anchor="t">
            <a:spAutoFit/>
          </a:bodyPr>
          <a:lstStyle/>
          <a:p>
            <a:pPr algn="l">
              <a:spcAft>
                <a:spcPts val="0"/>
              </a:spcAft>
            </a:pPr>
            <a:r>
              <a:rPr sz="1300" b="0">
                <a:solidFill>
                  <a:srgbClr val="555555"/>
                </a:solidFill>
                <a:latin typeface="Roboto"/>
              </a:rPr>
              <a:t>Whatever the model decided to say</a:t>
            </a:r>
          </a:p>
        </p:txBody>
      </p:sp>
      <p:sp>
        <p:nvSpPr>
          <p:cNvPr id="17" name="Rounded Rectangle 16"/>
          <p:cNvSpPr/>
          <p:nvPr/>
        </p:nvSpPr>
        <p:spPr>
          <a:xfrm>
            <a:off x="6291072" y="2697480"/>
            <a:ext cx="5212080" cy="3246120"/>
          </a:xfrm>
          <a:prstGeom prst="roundRect">
            <a:avLst>
              <a:gd name="adj" fmla="val 3500"/>
            </a:avLst>
          </a:prstGeom>
          <a:solidFill>
            <a:srgbClr val="EFF3FE"/>
          </a:solidFill>
          <a:ln>
            <a:noFill/>
          </a:ln>
          <a:effectLst/>
        </p:spPr>
        <p:txBody>
          <a:bodyPr rtlCol="0" anchor="ctr"/>
          <a:lstStyle/>
          <a:p>
            <a:pPr algn="ctr"/>
          </a:p>
        </p:txBody>
      </p:sp>
      <p:sp>
        <p:nvSpPr>
          <p:cNvPr id="18" name="TextBox 17"/>
          <p:cNvSpPr txBox="1"/>
          <p:nvPr/>
        </p:nvSpPr>
        <p:spPr>
          <a:xfrm>
            <a:off x="6611112" y="2971800"/>
            <a:ext cx="4572000" cy="320040"/>
          </a:xfrm>
          <a:prstGeom prst="rect">
            <a:avLst/>
          </a:prstGeom>
          <a:noFill/>
        </p:spPr>
        <p:txBody>
          <a:bodyPr wrap="square" lIns="0" rIns="0" tIns="0" bIns="0" anchor="t">
            <a:spAutoFit/>
          </a:bodyPr>
          <a:lstStyle/>
          <a:p>
            <a:pPr algn="l">
              <a:spcAft>
                <a:spcPts val="0"/>
              </a:spcAft>
            </a:pPr>
            <a:r>
              <a:rPr sz="1300" b="1" spc="80">
                <a:solidFill>
                  <a:srgbClr val="114FF4"/>
                </a:solidFill>
                <a:latin typeface="Proxima Nova"/>
              </a:rPr>
              <a:t>WHAT A COLLECTIONS HEAD ASKS</a:t>
            </a:r>
          </a:p>
        </p:txBody>
      </p:sp>
      <p:sp>
        <p:nvSpPr>
          <p:cNvPr id="19" name="Oval 18"/>
          <p:cNvSpPr/>
          <p:nvPr/>
        </p:nvSpPr>
        <p:spPr>
          <a:xfrm>
            <a:off x="6611112" y="3483863"/>
            <a:ext cx="128016" cy="128016"/>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0" name="TextBox 19"/>
          <p:cNvSpPr txBox="1"/>
          <p:nvPr/>
        </p:nvSpPr>
        <p:spPr>
          <a:xfrm>
            <a:off x="6867144" y="3438144"/>
            <a:ext cx="4389120" cy="365760"/>
          </a:xfrm>
          <a:prstGeom prst="rect">
            <a:avLst/>
          </a:prstGeom>
          <a:noFill/>
        </p:spPr>
        <p:txBody>
          <a:bodyPr wrap="square" lIns="0" rIns="0" tIns="0" bIns="0" anchor="t">
            <a:spAutoFit/>
          </a:bodyPr>
          <a:lstStyle/>
          <a:p>
            <a:pPr algn="l">
              <a:spcAft>
                <a:spcPts val="0"/>
              </a:spcAft>
            </a:pPr>
            <a:r>
              <a:rPr sz="1300" b="0">
                <a:solidFill>
                  <a:srgbClr val="232323"/>
                </a:solidFill>
                <a:latin typeface="Roboto"/>
              </a:rPr>
              <a:t>Was that call legal at that hour?</a:t>
            </a:r>
          </a:p>
        </p:txBody>
      </p:sp>
      <p:sp>
        <p:nvSpPr>
          <p:cNvPr id="21" name="Oval 20"/>
          <p:cNvSpPr/>
          <p:nvPr/>
        </p:nvSpPr>
        <p:spPr>
          <a:xfrm>
            <a:off x="6611112" y="3941063"/>
            <a:ext cx="128016" cy="128016"/>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2" name="TextBox 21"/>
          <p:cNvSpPr txBox="1"/>
          <p:nvPr/>
        </p:nvSpPr>
        <p:spPr>
          <a:xfrm>
            <a:off x="6867144" y="3895344"/>
            <a:ext cx="4389120" cy="365760"/>
          </a:xfrm>
          <a:prstGeom prst="rect">
            <a:avLst/>
          </a:prstGeom>
          <a:noFill/>
        </p:spPr>
        <p:txBody>
          <a:bodyPr wrap="square" lIns="0" rIns="0" tIns="0" bIns="0" anchor="t">
            <a:spAutoFit/>
          </a:bodyPr>
          <a:lstStyle/>
          <a:p>
            <a:pPr algn="l">
              <a:spcAft>
                <a:spcPts val="0"/>
              </a:spcAft>
            </a:pPr>
            <a:r>
              <a:rPr sz="1300" b="0">
                <a:solidFill>
                  <a:srgbClr val="232323"/>
                </a:solidFill>
                <a:latin typeface="Roboto"/>
              </a:rPr>
              <a:t>Did the promise actually get kept?</a:t>
            </a:r>
          </a:p>
        </p:txBody>
      </p:sp>
      <p:sp>
        <p:nvSpPr>
          <p:cNvPr id="23" name="Oval 22"/>
          <p:cNvSpPr/>
          <p:nvPr/>
        </p:nvSpPr>
        <p:spPr>
          <a:xfrm>
            <a:off x="6611112" y="4398264"/>
            <a:ext cx="128016" cy="128016"/>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4" name="TextBox 23"/>
          <p:cNvSpPr txBox="1"/>
          <p:nvPr/>
        </p:nvSpPr>
        <p:spPr>
          <a:xfrm>
            <a:off x="6867144" y="4352544"/>
            <a:ext cx="4389120" cy="365760"/>
          </a:xfrm>
          <a:prstGeom prst="rect">
            <a:avLst/>
          </a:prstGeom>
          <a:noFill/>
        </p:spPr>
        <p:txBody>
          <a:bodyPr wrap="square" lIns="0" rIns="0" tIns="0" bIns="0" anchor="t">
            <a:spAutoFit/>
          </a:bodyPr>
          <a:lstStyle/>
          <a:p>
            <a:pPr algn="l">
              <a:spcAft>
                <a:spcPts val="0"/>
              </a:spcAft>
            </a:pPr>
            <a:r>
              <a:rPr sz="1300" b="0">
                <a:solidFill>
                  <a:srgbClr val="232323"/>
                </a:solidFill>
                <a:latin typeface="Roboto"/>
              </a:rPr>
              <a:t>Who approved that waiver, on whose authority?</a:t>
            </a:r>
          </a:p>
        </p:txBody>
      </p:sp>
      <p:sp>
        <p:nvSpPr>
          <p:cNvPr id="25" name="Oval 24"/>
          <p:cNvSpPr/>
          <p:nvPr/>
        </p:nvSpPr>
        <p:spPr>
          <a:xfrm>
            <a:off x="6611112" y="4855464"/>
            <a:ext cx="128016" cy="128016"/>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6" name="TextBox 25"/>
          <p:cNvSpPr txBox="1"/>
          <p:nvPr/>
        </p:nvSpPr>
        <p:spPr>
          <a:xfrm>
            <a:off x="6867144" y="4809744"/>
            <a:ext cx="4389120" cy="365760"/>
          </a:xfrm>
          <a:prstGeom prst="rect">
            <a:avLst/>
          </a:prstGeom>
          <a:noFill/>
        </p:spPr>
        <p:txBody>
          <a:bodyPr wrap="square" lIns="0" rIns="0" tIns="0" bIns="0" anchor="t">
            <a:spAutoFit/>
          </a:bodyPr>
          <a:lstStyle/>
          <a:p>
            <a:pPr algn="l">
              <a:spcAft>
                <a:spcPts val="0"/>
              </a:spcAft>
            </a:pPr>
            <a:r>
              <a:rPr sz="1300" b="0">
                <a:solidFill>
                  <a:srgbClr val="232323"/>
                </a:solidFill>
                <a:latin typeface="Roboto"/>
              </a:rPr>
              <a:t>Show me 100% of calls scored, not 3%.</a:t>
            </a:r>
          </a:p>
        </p:txBody>
      </p:sp>
      <p:sp>
        <p:nvSpPr>
          <p:cNvPr id="27" name="Oval 26"/>
          <p:cNvSpPr/>
          <p:nvPr/>
        </p:nvSpPr>
        <p:spPr>
          <a:xfrm>
            <a:off x="6611112" y="5312664"/>
            <a:ext cx="128016" cy="128016"/>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8" name="TextBox 27"/>
          <p:cNvSpPr txBox="1"/>
          <p:nvPr/>
        </p:nvSpPr>
        <p:spPr>
          <a:xfrm>
            <a:off x="6867144" y="5266944"/>
            <a:ext cx="4389120" cy="365760"/>
          </a:xfrm>
          <a:prstGeom prst="rect">
            <a:avLst/>
          </a:prstGeom>
          <a:noFill/>
        </p:spPr>
        <p:txBody>
          <a:bodyPr wrap="square" lIns="0" rIns="0" tIns="0" bIns="0" anchor="t">
            <a:spAutoFit/>
          </a:bodyPr>
          <a:lstStyle/>
          <a:p>
            <a:pPr algn="l">
              <a:spcAft>
                <a:spcPts val="0"/>
              </a:spcAft>
            </a:pPr>
            <a:r>
              <a:rPr sz="1300" b="0">
                <a:solidFill>
                  <a:srgbClr val="232323"/>
                </a:solidFill>
                <a:latin typeface="Roboto"/>
              </a:rPr>
              <a:t>Let my ops lead change it without a release.</a:t>
            </a:r>
          </a:p>
        </p:txBody>
      </p:sp>
      <p:sp>
        <p:nvSpPr>
          <p:cNvPr id="29" name="TextBox 28"/>
          <p:cNvSpPr txBox="1"/>
          <p:nvPr/>
        </p:nvSpPr>
        <p:spPr>
          <a:xfrm>
            <a:off x="685800" y="6144768"/>
            <a:ext cx="10789920" cy="365760"/>
          </a:xfrm>
          <a:prstGeom prst="rect">
            <a:avLst/>
          </a:prstGeom>
          <a:noFill/>
        </p:spPr>
        <p:txBody>
          <a:bodyPr wrap="square" lIns="0" rIns="0" tIns="0" bIns="0" anchor="t">
            <a:spAutoFit/>
          </a:bodyPr>
          <a:lstStyle/>
          <a:p>
            <a:pPr algn="l">
              <a:spcAft>
                <a:spcPts val="0"/>
              </a:spcAft>
            </a:pPr>
            <a:r>
              <a:rPr sz="1400" b="1">
                <a:solidFill>
                  <a:srgbClr val="232323"/>
                </a:solidFill>
                <a:latin typeface="Roboto"/>
              </a:rPr>
              <a:t>A mouth is not an operation. Every one of those questions is answered by a system of record — not by a better prompt.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Rounded Rectangle 2"/>
          <p:cNvSpPr/>
          <p:nvPr/>
        </p:nvSpPr>
        <p:spPr>
          <a:xfrm>
            <a:off x="0" y="0"/>
            <a:ext cx="310896" cy="6858000"/>
          </a:xfrm>
          <a:prstGeom prst="roundRect">
            <a:avLst>
              <a:gd name="adj" fmla="val 0"/>
            </a:avLst>
          </a:prstGeom>
          <a:solidFill>
            <a:srgbClr val="114FF4"/>
          </a:solidFill>
          <a:ln>
            <a:noFill/>
          </a:ln>
          <a:effectLst/>
        </p:spPr>
        <p:txBody>
          <a:bodyPr rtlCol="0" anchor="ctr"/>
          <a:lstStyle/>
          <a:p>
            <a:pPr algn="ctr"/>
          </a:p>
        </p:txBody>
      </p:sp>
      <p:sp>
        <p:nvSpPr>
          <p:cNvPr id="4" name="TextBox 3"/>
          <p:cNvSpPr txBox="1"/>
          <p:nvPr/>
        </p:nvSpPr>
        <p:spPr>
          <a:xfrm>
            <a:off x="1280160" y="2331720"/>
            <a:ext cx="1828800" cy="1463040"/>
          </a:xfrm>
          <a:prstGeom prst="rect">
            <a:avLst/>
          </a:prstGeom>
          <a:noFill/>
        </p:spPr>
        <p:txBody>
          <a:bodyPr wrap="square" lIns="0" rIns="0" tIns="0" bIns="0" anchor="t">
            <a:spAutoFit/>
          </a:bodyPr>
          <a:lstStyle/>
          <a:p>
            <a:pPr algn="l">
              <a:lnSpc>
                <a:spcPct val="90000"/>
              </a:lnSpc>
              <a:spcAft>
                <a:spcPts val="0"/>
              </a:spcAft>
            </a:pPr>
            <a:r>
              <a:rPr sz="11000" b="1">
                <a:solidFill>
                  <a:srgbClr val="114FF4"/>
                </a:solidFill>
                <a:latin typeface="Proxima Nova"/>
              </a:rPr>
              <a:t>01</a:t>
            </a:r>
          </a:p>
        </p:txBody>
      </p:sp>
      <p:sp>
        <p:nvSpPr>
          <p:cNvPr id="5" name="TextBox 4"/>
          <p:cNvSpPr txBox="1"/>
          <p:nvPr/>
        </p:nvSpPr>
        <p:spPr>
          <a:xfrm>
            <a:off x="3291840" y="2514600"/>
            <a:ext cx="7863840" cy="1188720"/>
          </a:xfrm>
          <a:prstGeom prst="rect">
            <a:avLst/>
          </a:prstGeom>
          <a:noFill/>
        </p:spPr>
        <p:txBody>
          <a:bodyPr wrap="square" lIns="0" rIns="0" tIns="0" bIns="0" anchor="t">
            <a:spAutoFit/>
          </a:bodyPr>
          <a:lstStyle/>
          <a:p>
            <a:pPr algn="l">
              <a:lnSpc>
                <a:spcPct val="100000"/>
              </a:lnSpc>
              <a:spcAft>
                <a:spcPts val="0"/>
              </a:spcAft>
            </a:pPr>
            <a:r>
              <a:rPr sz="4600" b="1">
                <a:solidFill>
                  <a:srgbClr val="FFFFFF"/>
                </a:solidFill>
                <a:latin typeface="Proxima Nova"/>
              </a:rPr>
              <a:t>THE AGENTIC DESIGN</a:t>
            </a:r>
          </a:p>
        </p:txBody>
      </p:sp>
      <p:sp>
        <p:nvSpPr>
          <p:cNvPr id="6" name="TextBox 5"/>
          <p:cNvSpPr txBox="1"/>
          <p:nvPr/>
        </p:nvSpPr>
        <p:spPr>
          <a:xfrm>
            <a:off x="3291840" y="3767328"/>
            <a:ext cx="7680960" cy="822960"/>
          </a:xfrm>
          <a:prstGeom prst="rect">
            <a:avLst/>
          </a:prstGeom>
          <a:noFill/>
        </p:spPr>
        <p:txBody>
          <a:bodyPr wrap="square" lIns="0" rIns="0" tIns="0" bIns="0" anchor="t">
            <a:spAutoFit/>
          </a:bodyPr>
          <a:lstStyle/>
          <a:p>
            <a:pPr algn="l">
              <a:lnSpc>
                <a:spcPct val="140000"/>
              </a:lnSpc>
              <a:spcAft>
                <a:spcPts val="0"/>
              </a:spcAft>
            </a:pPr>
            <a:r>
              <a:rPr sz="1600" b="0">
                <a:solidFill>
                  <a:srgbClr val="A7A7A7"/>
                </a:solidFill>
                <a:latin typeface="Roboto"/>
              </a:rPr>
              <a:t>One deployed voice, four decision engines that veto it, and a mesh of specialists it is allowed to hand off 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01</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AGENTIC DESIGN</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ONE SYSTEM, FOUR LAYERS</a:t>
            </a:r>
          </a:p>
        </p:txBody>
      </p:sp>
      <p:sp>
        <p:nvSpPr>
          <p:cNvPr id="6" name="Rounded Rectangle 5"/>
          <p:cNvSpPr/>
          <p:nvPr/>
        </p:nvSpPr>
        <p:spPr>
          <a:xfrm>
            <a:off x="685800" y="1874519"/>
            <a:ext cx="10817352" cy="969264"/>
          </a:xfrm>
          <a:prstGeom prst="roundRect">
            <a:avLst>
              <a:gd name="adj" fmla="val 3500"/>
            </a:avLst>
          </a:prstGeom>
          <a:solidFill>
            <a:srgbClr val="EFF3FE"/>
          </a:solidFill>
          <a:ln>
            <a:noFill/>
          </a:ln>
          <a:effectLst/>
        </p:spPr>
        <p:txBody>
          <a:bodyPr rtlCol="0" anchor="ctr"/>
          <a:lstStyle/>
          <a:p>
            <a:pPr algn="ctr"/>
          </a:p>
        </p:txBody>
      </p:sp>
      <p:sp>
        <p:nvSpPr>
          <p:cNvPr id="7" name="TextBox 6"/>
          <p:cNvSpPr txBox="1"/>
          <p:nvPr/>
        </p:nvSpPr>
        <p:spPr>
          <a:xfrm>
            <a:off x="1005840" y="2075688"/>
            <a:ext cx="1737360" cy="365760"/>
          </a:xfrm>
          <a:prstGeom prst="rect">
            <a:avLst/>
          </a:prstGeom>
          <a:noFill/>
        </p:spPr>
        <p:txBody>
          <a:bodyPr wrap="square" lIns="0" rIns="0" tIns="0" bIns="0" anchor="t">
            <a:spAutoFit/>
          </a:bodyPr>
          <a:lstStyle/>
          <a:p>
            <a:pPr algn="l">
              <a:spcAft>
                <a:spcPts val="0"/>
              </a:spcAft>
            </a:pPr>
            <a:r>
              <a:rPr sz="1700" b="1">
                <a:solidFill>
                  <a:srgbClr val="114FF4"/>
                </a:solidFill>
                <a:latin typeface="Proxima Nova"/>
              </a:rPr>
              <a:t>MOUTH</a:t>
            </a:r>
          </a:p>
        </p:txBody>
      </p:sp>
      <p:sp>
        <p:nvSpPr>
          <p:cNvPr id="8" name="TextBox 7"/>
          <p:cNvSpPr txBox="1"/>
          <p:nvPr/>
        </p:nvSpPr>
        <p:spPr>
          <a:xfrm>
            <a:off x="1005840" y="2441448"/>
            <a:ext cx="2194560" cy="292608"/>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What the customer hears</a:t>
            </a:r>
          </a:p>
        </p:txBody>
      </p:sp>
      <p:sp>
        <p:nvSpPr>
          <p:cNvPr id="9" name="TextBox 8"/>
          <p:cNvSpPr txBox="1"/>
          <p:nvPr/>
        </p:nvSpPr>
        <p:spPr>
          <a:xfrm>
            <a:off x="3429000" y="2093976"/>
            <a:ext cx="7772400" cy="640080"/>
          </a:xfrm>
          <a:prstGeom prst="rect">
            <a:avLst/>
          </a:prstGeom>
          <a:noFill/>
        </p:spPr>
        <p:txBody>
          <a:bodyPr wrap="square" lIns="0" rIns="0" tIns="0" bIns="0" anchor="t">
            <a:spAutoFit/>
          </a:bodyPr>
          <a:lstStyle/>
          <a:p>
            <a:pPr algn="l">
              <a:lnSpc>
                <a:spcPct val="135000"/>
              </a:lnSpc>
              <a:spcAft>
                <a:spcPts val="0"/>
              </a:spcAft>
            </a:pPr>
            <a:r>
              <a:rPr sz="1250" b="0">
                <a:solidFill>
                  <a:srgbClr val="3A3A3A"/>
                </a:solidFill>
                <a:latin typeface="Roboto"/>
              </a:rPr>
              <a:t>Pipecat voice pipeline · Azure STT/TTS · Twilio PSTN · WhatsApp Cloud · SMS · Hindi–English switching mid-call</a:t>
            </a:r>
          </a:p>
        </p:txBody>
      </p:sp>
      <p:sp>
        <p:nvSpPr>
          <p:cNvPr id="10" name="Rounded Rectangle 9"/>
          <p:cNvSpPr/>
          <p:nvPr/>
        </p:nvSpPr>
        <p:spPr>
          <a:xfrm>
            <a:off x="685800" y="2935224"/>
            <a:ext cx="10817352" cy="969264"/>
          </a:xfrm>
          <a:prstGeom prst="roundRect">
            <a:avLst>
              <a:gd name="adj" fmla="val 3500"/>
            </a:avLst>
          </a:prstGeom>
          <a:solidFill>
            <a:srgbClr val="F6F6F6"/>
          </a:solidFill>
          <a:ln>
            <a:noFill/>
          </a:ln>
          <a:effectLst/>
        </p:spPr>
        <p:txBody>
          <a:bodyPr rtlCol="0" anchor="ctr"/>
          <a:lstStyle/>
          <a:p>
            <a:pPr algn="ctr"/>
          </a:p>
        </p:txBody>
      </p:sp>
      <p:sp>
        <p:nvSpPr>
          <p:cNvPr id="11" name="TextBox 10"/>
          <p:cNvSpPr txBox="1"/>
          <p:nvPr/>
        </p:nvSpPr>
        <p:spPr>
          <a:xfrm>
            <a:off x="1005840" y="3136392"/>
            <a:ext cx="1737360" cy="365760"/>
          </a:xfrm>
          <a:prstGeom prst="rect">
            <a:avLst/>
          </a:prstGeom>
          <a:noFill/>
        </p:spPr>
        <p:txBody>
          <a:bodyPr wrap="square" lIns="0" rIns="0" tIns="0" bIns="0" anchor="t">
            <a:spAutoFit/>
          </a:bodyPr>
          <a:lstStyle/>
          <a:p>
            <a:pPr algn="l">
              <a:spcAft>
                <a:spcPts val="0"/>
              </a:spcAft>
            </a:pPr>
            <a:r>
              <a:rPr sz="1700" b="1">
                <a:solidFill>
                  <a:srgbClr val="232323"/>
                </a:solidFill>
                <a:latin typeface="Proxima Nova"/>
              </a:rPr>
              <a:t>BRAINS</a:t>
            </a:r>
          </a:p>
        </p:txBody>
      </p:sp>
      <p:sp>
        <p:nvSpPr>
          <p:cNvPr id="12" name="TextBox 11"/>
          <p:cNvSpPr txBox="1"/>
          <p:nvPr/>
        </p:nvSpPr>
        <p:spPr>
          <a:xfrm>
            <a:off x="1005840" y="3502152"/>
            <a:ext cx="2194560" cy="292608"/>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What is allowed to be true</a:t>
            </a:r>
          </a:p>
        </p:txBody>
      </p:sp>
      <p:sp>
        <p:nvSpPr>
          <p:cNvPr id="13" name="TextBox 12"/>
          <p:cNvSpPr txBox="1"/>
          <p:nvPr/>
        </p:nvSpPr>
        <p:spPr>
          <a:xfrm>
            <a:off x="3429000" y="3154680"/>
            <a:ext cx="7772400" cy="640080"/>
          </a:xfrm>
          <a:prstGeom prst="rect">
            <a:avLst/>
          </a:prstGeom>
          <a:noFill/>
        </p:spPr>
        <p:txBody>
          <a:bodyPr wrap="square" lIns="0" rIns="0" tIns="0" bIns="0" anchor="t">
            <a:spAutoFit/>
          </a:bodyPr>
          <a:lstStyle/>
          <a:p>
            <a:pPr algn="l">
              <a:lnSpc>
                <a:spcPct val="135000"/>
              </a:lnSpc>
              <a:spcAft>
                <a:spcPts val="0"/>
              </a:spcAft>
            </a:pPr>
            <a:r>
              <a:rPr sz="1250" b="0">
                <a:solidFill>
                  <a:srgbClr val="3A3A3A"/>
                </a:solidFill>
                <a:latin typeface="Roboto"/>
              </a:rPr>
              <a:t>Reco engine · Treatment engine · Authority matrix · Live QA · Contact policy · Routing rules — all deterministic, all logged</a:t>
            </a:r>
          </a:p>
        </p:txBody>
      </p:sp>
      <p:sp>
        <p:nvSpPr>
          <p:cNvPr id="14" name="Rounded Rectangle 13"/>
          <p:cNvSpPr/>
          <p:nvPr/>
        </p:nvSpPr>
        <p:spPr>
          <a:xfrm>
            <a:off x="685800" y="3995928"/>
            <a:ext cx="10817352" cy="969264"/>
          </a:xfrm>
          <a:prstGeom prst="roundRect">
            <a:avLst>
              <a:gd name="adj" fmla="val 3500"/>
            </a:avLst>
          </a:prstGeom>
          <a:solidFill>
            <a:srgbClr val="EFF3FE"/>
          </a:solidFill>
          <a:ln>
            <a:noFill/>
          </a:ln>
          <a:effectLst/>
        </p:spPr>
        <p:txBody>
          <a:bodyPr rtlCol="0" anchor="ctr"/>
          <a:lstStyle/>
          <a:p>
            <a:pPr algn="ctr"/>
          </a:p>
        </p:txBody>
      </p:sp>
      <p:sp>
        <p:nvSpPr>
          <p:cNvPr id="15" name="TextBox 14"/>
          <p:cNvSpPr txBox="1"/>
          <p:nvPr/>
        </p:nvSpPr>
        <p:spPr>
          <a:xfrm>
            <a:off x="1005840" y="4197096"/>
            <a:ext cx="1737360" cy="365760"/>
          </a:xfrm>
          <a:prstGeom prst="rect">
            <a:avLst/>
          </a:prstGeom>
          <a:noFill/>
        </p:spPr>
        <p:txBody>
          <a:bodyPr wrap="square" lIns="0" rIns="0" tIns="0" bIns="0" anchor="t">
            <a:spAutoFit/>
          </a:bodyPr>
          <a:lstStyle/>
          <a:p>
            <a:pPr algn="l">
              <a:spcAft>
                <a:spcPts val="0"/>
              </a:spcAft>
            </a:pPr>
            <a:r>
              <a:rPr sz="1700" b="1">
                <a:solidFill>
                  <a:srgbClr val="114FF4"/>
                </a:solidFill>
                <a:latin typeface="Proxima Nova"/>
              </a:rPr>
              <a:t>HANDS</a:t>
            </a:r>
          </a:p>
        </p:txBody>
      </p:sp>
      <p:sp>
        <p:nvSpPr>
          <p:cNvPr id="16" name="TextBox 15"/>
          <p:cNvSpPr txBox="1"/>
          <p:nvPr/>
        </p:nvSpPr>
        <p:spPr>
          <a:xfrm>
            <a:off x="1005840" y="4562856"/>
            <a:ext cx="2194560" cy="292608"/>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What it may actually do</a:t>
            </a:r>
          </a:p>
        </p:txBody>
      </p:sp>
      <p:sp>
        <p:nvSpPr>
          <p:cNvPr id="17" name="TextBox 16"/>
          <p:cNvSpPr txBox="1"/>
          <p:nvPr/>
        </p:nvSpPr>
        <p:spPr>
          <a:xfrm>
            <a:off x="3429000" y="4215384"/>
            <a:ext cx="7772400" cy="640080"/>
          </a:xfrm>
          <a:prstGeom prst="rect">
            <a:avLst/>
          </a:prstGeom>
          <a:noFill/>
        </p:spPr>
        <p:txBody>
          <a:bodyPr wrap="square" lIns="0" rIns="0" tIns="0" bIns="0" anchor="t">
            <a:spAutoFit/>
          </a:bodyPr>
          <a:lstStyle/>
          <a:p>
            <a:pPr algn="l">
              <a:lnSpc>
                <a:spcPct val="135000"/>
              </a:lnSpc>
              <a:spcAft>
                <a:spcPts val="0"/>
              </a:spcAft>
            </a:pPr>
            <a:r>
              <a:rPr sz="1250" b="0">
                <a:solidFill>
                  <a:srgbClr val="3A3A3A"/>
                </a:solidFill>
                <a:latin typeface="Roboto"/>
              </a:rPr>
              <a:t>24 typed tools: verify_identity, create_promise_to_pay, flag_dispute, request_documents, escalate_to_human … scoped per agent</a:t>
            </a:r>
          </a:p>
        </p:txBody>
      </p:sp>
      <p:sp>
        <p:nvSpPr>
          <p:cNvPr id="18" name="Rounded Rectangle 17"/>
          <p:cNvSpPr/>
          <p:nvPr/>
        </p:nvSpPr>
        <p:spPr>
          <a:xfrm>
            <a:off x="685800" y="5056632"/>
            <a:ext cx="10817352" cy="969264"/>
          </a:xfrm>
          <a:prstGeom prst="roundRect">
            <a:avLst>
              <a:gd name="adj" fmla="val 3500"/>
            </a:avLst>
          </a:prstGeom>
          <a:solidFill>
            <a:srgbClr val="F6F6F6"/>
          </a:solidFill>
          <a:ln>
            <a:noFill/>
          </a:ln>
          <a:effectLst/>
        </p:spPr>
        <p:txBody>
          <a:bodyPr rtlCol="0" anchor="ctr"/>
          <a:lstStyle/>
          <a:p>
            <a:pPr algn="ctr"/>
          </a:p>
        </p:txBody>
      </p:sp>
      <p:sp>
        <p:nvSpPr>
          <p:cNvPr id="19" name="TextBox 18"/>
          <p:cNvSpPr txBox="1"/>
          <p:nvPr/>
        </p:nvSpPr>
        <p:spPr>
          <a:xfrm>
            <a:off x="1005840" y="5257800"/>
            <a:ext cx="1737360" cy="365760"/>
          </a:xfrm>
          <a:prstGeom prst="rect">
            <a:avLst/>
          </a:prstGeom>
          <a:noFill/>
        </p:spPr>
        <p:txBody>
          <a:bodyPr wrap="square" lIns="0" rIns="0" tIns="0" bIns="0" anchor="t">
            <a:spAutoFit/>
          </a:bodyPr>
          <a:lstStyle/>
          <a:p>
            <a:pPr algn="l">
              <a:spcAft>
                <a:spcPts val="0"/>
              </a:spcAft>
            </a:pPr>
            <a:r>
              <a:rPr sz="1700" b="1">
                <a:solidFill>
                  <a:srgbClr val="232323"/>
                </a:solidFill>
                <a:latin typeface="Proxima Nova"/>
              </a:rPr>
              <a:t>MEMORY</a:t>
            </a:r>
          </a:p>
        </p:txBody>
      </p:sp>
      <p:sp>
        <p:nvSpPr>
          <p:cNvPr id="20" name="TextBox 19"/>
          <p:cNvSpPr txBox="1"/>
          <p:nvPr/>
        </p:nvSpPr>
        <p:spPr>
          <a:xfrm>
            <a:off x="1005840" y="5623560"/>
            <a:ext cx="2194560" cy="292608"/>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What it is standing on</a:t>
            </a:r>
          </a:p>
        </p:txBody>
      </p:sp>
      <p:sp>
        <p:nvSpPr>
          <p:cNvPr id="21" name="TextBox 20"/>
          <p:cNvSpPr txBox="1"/>
          <p:nvPr/>
        </p:nvSpPr>
        <p:spPr>
          <a:xfrm>
            <a:off x="3429000" y="5276088"/>
            <a:ext cx="7772400" cy="640080"/>
          </a:xfrm>
          <a:prstGeom prst="rect">
            <a:avLst/>
          </a:prstGeom>
          <a:noFill/>
        </p:spPr>
        <p:txBody>
          <a:bodyPr wrap="square" lIns="0" rIns="0" tIns="0" bIns="0" anchor="t">
            <a:spAutoFit/>
          </a:bodyPr>
          <a:lstStyle/>
          <a:p>
            <a:pPr algn="l">
              <a:lnSpc>
                <a:spcPct val="135000"/>
              </a:lnSpc>
              <a:spcAft>
                <a:spcPts val="0"/>
              </a:spcAft>
            </a:pPr>
            <a:r>
              <a:rPr sz="1250" b="0">
                <a:solidFill>
                  <a:srgbClr val="3A3A3A"/>
                </a:solidFill>
                <a:latin typeface="Roboto"/>
              </a:rPr>
              <a:t>~153-table system of record: CRM, ledger, promises, disputes, consent, documents, scorecards, append-only audit</a:t>
            </a:r>
          </a:p>
        </p:txBody>
      </p:sp>
      <p:sp>
        <p:nvSpPr>
          <p:cNvPr id="22" name="TextBox 21"/>
          <p:cNvSpPr txBox="1"/>
          <p:nvPr/>
        </p:nvSpPr>
        <p:spPr>
          <a:xfrm>
            <a:off x="685800" y="6291072"/>
            <a:ext cx="10789920" cy="320040"/>
          </a:xfrm>
          <a:prstGeom prst="rect">
            <a:avLst/>
          </a:prstGeom>
          <a:noFill/>
        </p:spPr>
        <p:txBody>
          <a:bodyPr wrap="square" lIns="0" rIns="0" tIns="0" bIns="0" anchor="t">
            <a:spAutoFit/>
          </a:bodyPr>
          <a:lstStyle/>
          <a:p>
            <a:pPr algn="l">
              <a:spcAft>
                <a:spcPts val="0"/>
              </a:spcAft>
            </a:pPr>
            <a:r>
              <a:rPr sz="1300" b="1">
                <a:solidFill>
                  <a:srgbClr val="114FF4"/>
                </a:solidFill>
                <a:latin typeface="Roboto"/>
              </a:rPr>
              <a:t>The mouth is replaceable. The three layers under it are the product.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A1B9FC"/>
                </a:solidFill>
                <a:latin typeface="Roboto"/>
              </a:rPr>
              <a:t>THE DESIGN PRINCIPLE EVERYTHING OBEYS</a:t>
            </a:r>
          </a:p>
        </p:txBody>
      </p:sp>
      <p:sp>
        <p:nvSpPr>
          <p:cNvPr id="4" name="TextBox 3"/>
          <p:cNvSpPr txBox="1"/>
          <p:nvPr/>
        </p:nvSpPr>
        <p:spPr>
          <a:xfrm>
            <a:off x="685800" y="1234440"/>
            <a:ext cx="10789920" cy="1737360"/>
          </a:xfrm>
          <a:prstGeom prst="rect">
            <a:avLst/>
          </a:prstGeom>
          <a:noFill/>
        </p:spPr>
        <p:txBody>
          <a:bodyPr wrap="square" lIns="0" rIns="0" tIns="0" bIns="0" anchor="t">
            <a:spAutoFit/>
          </a:bodyPr>
          <a:lstStyle/>
          <a:p>
            <a:pPr algn="l">
              <a:lnSpc>
                <a:spcPct val="102000"/>
              </a:lnSpc>
              <a:spcAft>
                <a:spcPts val="0"/>
              </a:spcAft>
            </a:pPr>
            <a:r>
              <a:rPr sz="5200" b="1">
                <a:solidFill>
                  <a:srgbClr val="FFFFFF"/>
                </a:solidFill>
                <a:latin typeface="Proxima Nova"/>
              </a:rPr>
              <a:t>THE MODEL NEVER DECIDES.</a:t>
            </a:r>
          </a:p>
          <a:p>
            <a:pPr algn="l">
              <a:lnSpc>
                <a:spcPct val="102000"/>
              </a:lnSpc>
              <a:spcAft>
                <a:spcPts val="0"/>
              </a:spcAft>
            </a:pPr>
            <a:r>
              <a:rPr sz="5200" b="1">
                <a:solidFill>
                  <a:srgbClr val="FFFFFF"/>
                </a:solidFill>
                <a:latin typeface="Proxima Nova"/>
              </a:rPr>
              <a:t>IT ONLY SPEAKS.</a:t>
            </a:r>
          </a:p>
        </p:txBody>
      </p:sp>
      <p:sp>
        <p:nvSpPr>
          <p:cNvPr id="5" name="TextBox 4"/>
          <p:cNvSpPr txBox="1"/>
          <p:nvPr/>
        </p:nvSpPr>
        <p:spPr>
          <a:xfrm>
            <a:off x="685800" y="3063240"/>
            <a:ext cx="9326880" cy="822960"/>
          </a:xfrm>
          <a:prstGeom prst="rect">
            <a:avLst/>
          </a:prstGeom>
          <a:noFill/>
        </p:spPr>
        <p:txBody>
          <a:bodyPr wrap="square" lIns="0" rIns="0" tIns="0" bIns="0" anchor="t">
            <a:spAutoFit/>
          </a:bodyPr>
          <a:lstStyle/>
          <a:p>
            <a:pPr algn="l">
              <a:lnSpc>
                <a:spcPct val="145000"/>
              </a:lnSpc>
              <a:spcAft>
                <a:spcPts val="0"/>
              </a:spcAft>
            </a:pPr>
            <a:r>
              <a:rPr sz="1500" b="0">
                <a:solidFill>
                  <a:srgbClr val="D0DCFD"/>
                </a:solidFill>
                <a:latin typeface="Roboto"/>
              </a:rPr>
              <a:t>The LLM does not pick the product, the channel, the treatment or the waiver. It receives a shortlist that has already passed every gate — and its remaining job is purely linguistic.</a:t>
            </a:r>
          </a:p>
        </p:txBody>
      </p:sp>
      <p:sp>
        <p:nvSpPr>
          <p:cNvPr id="6" name="Rounded Rectangle 5"/>
          <p:cNvSpPr/>
          <p:nvPr/>
        </p:nvSpPr>
        <p:spPr>
          <a:xfrm>
            <a:off x="685800" y="4297680"/>
            <a:ext cx="1874519" cy="1417320"/>
          </a:xfrm>
          <a:prstGeom prst="roundRect">
            <a:avLst>
              <a:gd name="adj" fmla="val 3500"/>
            </a:avLst>
          </a:prstGeom>
          <a:solidFill>
            <a:srgbClr val="2E2E2E"/>
          </a:solidFill>
          <a:ln>
            <a:noFill/>
          </a:ln>
          <a:effectLst/>
        </p:spPr>
        <p:txBody>
          <a:bodyPr rtlCol="0" anchor="ctr"/>
          <a:lstStyle/>
          <a:p>
            <a:pPr algn="ctr"/>
          </a:p>
        </p:txBody>
      </p:sp>
      <p:sp>
        <p:nvSpPr>
          <p:cNvPr id="7" name="TextBox 6"/>
          <p:cNvSpPr txBox="1"/>
          <p:nvPr/>
        </p:nvSpPr>
        <p:spPr>
          <a:xfrm>
            <a:off x="685800" y="4498848"/>
            <a:ext cx="1874519" cy="320040"/>
          </a:xfrm>
          <a:prstGeom prst="rect">
            <a:avLst/>
          </a:prstGeom>
          <a:noFill/>
        </p:spPr>
        <p:txBody>
          <a:bodyPr wrap="square" lIns="0" rIns="0" tIns="0" bIns="0" anchor="t">
            <a:spAutoFit/>
          </a:bodyPr>
          <a:lstStyle/>
          <a:p>
            <a:pPr algn="ctr">
              <a:spcAft>
                <a:spcPts val="0"/>
              </a:spcAft>
            </a:pPr>
            <a:r>
              <a:rPr sz="1400" b="1">
                <a:solidFill>
                  <a:srgbClr val="A1B9FC"/>
                </a:solidFill>
                <a:latin typeface="Proxima Nova"/>
              </a:rPr>
              <a:t>FEATURES</a:t>
            </a:r>
          </a:p>
        </p:txBody>
      </p:sp>
      <p:sp>
        <p:nvSpPr>
          <p:cNvPr id="8" name="TextBox 7"/>
          <p:cNvSpPr txBox="1"/>
          <p:nvPr/>
        </p:nvSpPr>
        <p:spPr>
          <a:xfrm>
            <a:off x="685800" y="4892040"/>
            <a:ext cx="1874519" cy="731520"/>
          </a:xfrm>
          <a:prstGeom prst="rect">
            <a:avLst/>
          </a:prstGeom>
          <a:noFill/>
        </p:spPr>
        <p:txBody>
          <a:bodyPr wrap="square" lIns="0" rIns="0" tIns="0" bIns="0" anchor="t">
            <a:spAutoFit/>
          </a:bodyPr>
          <a:lstStyle/>
          <a:p>
            <a:pPr algn="ctr">
              <a:lnSpc>
                <a:spcPct val="130000"/>
              </a:lnSpc>
              <a:spcAft>
                <a:spcPts val="0"/>
              </a:spcAft>
            </a:pPr>
            <a:r>
              <a:rPr sz="1050" b="0">
                <a:solidFill>
                  <a:srgbClr val="A7A7A7"/>
                </a:solidFill>
                <a:latin typeface="Roboto"/>
              </a:rPr>
              <a:t>Account, ledger, consent, history</a:t>
            </a:r>
          </a:p>
        </p:txBody>
      </p:sp>
      <p:sp>
        <p:nvSpPr>
          <p:cNvPr id="9" name="TextBox 8"/>
          <p:cNvSpPr txBox="1"/>
          <p:nvPr/>
        </p:nvSpPr>
        <p:spPr>
          <a:xfrm>
            <a:off x="2560320" y="4828032"/>
            <a:ext cx="365760" cy="365760"/>
          </a:xfrm>
          <a:prstGeom prst="rect">
            <a:avLst/>
          </a:prstGeom>
          <a:noFill/>
        </p:spPr>
        <p:txBody>
          <a:bodyPr wrap="square" lIns="0" rIns="0" tIns="0" bIns="0" anchor="t">
            <a:spAutoFit/>
          </a:bodyPr>
          <a:lstStyle/>
          <a:p>
            <a:pPr algn="ctr">
              <a:spcAft>
                <a:spcPts val="0"/>
              </a:spcAft>
            </a:pPr>
            <a:r>
              <a:rPr sz="2200" b="1">
                <a:solidFill>
                  <a:srgbClr val="114FF4"/>
                </a:solidFill>
                <a:latin typeface="Proxima Nova"/>
              </a:rPr>
              <a:t>›</a:t>
            </a:r>
          </a:p>
        </p:txBody>
      </p:sp>
      <p:sp>
        <p:nvSpPr>
          <p:cNvPr id="10" name="Rounded Rectangle 9"/>
          <p:cNvSpPr/>
          <p:nvPr/>
        </p:nvSpPr>
        <p:spPr>
          <a:xfrm>
            <a:off x="2926080" y="4297680"/>
            <a:ext cx="1874519" cy="1417320"/>
          </a:xfrm>
          <a:prstGeom prst="roundRect">
            <a:avLst>
              <a:gd name="adj" fmla="val 3500"/>
            </a:avLst>
          </a:prstGeom>
          <a:solidFill>
            <a:srgbClr val="2E2E2E"/>
          </a:solidFill>
          <a:ln>
            <a:noFill/>
          </a:ln>
          <a:effectLst/>
        </p:spPr>
        <p:txBody>
          <a:bodyPr rtlCol="0" anchor="ctr"/>
          <a:lstStyle/>
          <a:p>
            <a:pPr algn="ctr"/>
          </a:p>
        </p:txBody>
      </p:sp>
      <p:sp>
        <p:nvSpPr>
          <p:cNvPr id="11" name="TextBox 10"/>
          <p:cNvSpPr txBox="1"/>
          <p:nvPr/>
        </p:nvSpPr>
        <p:spPr>
          <a:xfrm>
            <a:off x="2926080" y="4498848"/>
            <a:ext cx="1874519" cy="320040"/>
          </a:xfrm>
          <a:prstGeom prst="rect">
            <a:avLst/>
          </a:prstGeom>
          <a:noFill/>
        </p:spPr>
        <p:txBody>
          <a:bodyPr wrap="square" lIns="0" rIns="0" tIns="0" bIns="0" anchor="t">
            <a:spAutoFit/>
          </a:bodyPr>
          <a:lstStyle/>
          <a:p>
            <a:pPr algn="ctr">
              <a:spcAft>
                <a:spcPts val="0"/>
              </a:spcAft>
            </a:pPr>
            <a:r>
              <a:rPr sz="1400" b="1">
                <a:solidFill>
                  <a:srgbClr val="A1B9FC"/>
                </a:solidFill>
                <a:latin typeface="Proxima Nova"/>
              </a:rPr>
              <a:t>VETO</a:t>
            </a:r>
          </a:p>
        </p:txBody>
      </p:sp>
      <p:sp>
        <p:nvSpPr>
          <p:cNvPr id="12" name="TextBox 11"/>
          <p:cNvSpPr txBox="1"/>
          <p:nvPr/>
        </p:nvSpPr>
        <p:spPr>
          <a:xfrm>
            <a:off x="2926080" y="4892040"/>
            <a:ext cx="1874519" cy="731520"/>
          </a:xfrm>
          <a:prstGeom prst="rect">
            <a:avLst/>
          </a:prstGeom>
          <a:noFill/>
        </p:spPr>
        <p:txBody>
          <a:bodyPr wrap="square" lIns="0" rIns="0" tIns="0" bIns="0" anchor="t">
            <a:spAutoFit/>
          </a:bodyPr>
          <a:lstStyle/>
          <a:p>
            <a:pPr algn="ctr">
              <a:lnSpc>
                <a:spcPct val="130000"/>
              </a:lnSpc>
              <a:spcAft>
                <a:spcPts val="0"/>
              </a:spcAft>
            </a:pPr>
            <a:r>
              <a:rPr sz="1050" b="0">
                <a:solidFill>
                  <a:srgbClr val="A7A7A7"/>
                </a:solidFill>
                <a:latin typeface="Roboto"/>
              </a:rPr>
              <a:t>DND, hours, caps, holds</a:t>
            </a:r>
          </a:p>
        </p:txBody>
      </p:sp>
      <p:sp>
        <p:nvSpPr>
          <p:cNvPr id="13" name="TextBox 12"/>
          <p:cNvSpPr txBox="1"/>
          <p:nvPr/>
        </p:nvSpPr>
        <p:spPr>
          <a:xfrm>
            <a:off x="4800600" y="4828032"/>
            <a:ext cx="365760" cy="365760"/>
          </a:xfrm>
          <a:prstGeom prst="rect">
            <a:avLst/>
          </a:prstGeom>
          <a:noFill/>
        </p:spPr>
        <p:txBody>
          <a:bodyPr wrap="square" lIns="0" rIns="0" tIns="0" bIns="0" anchor="t">
            <a:spAutoFit/>
          </a:bodyPr>
          <a:lstStyle/>
          <a:p>
            <a:pPr algn="ctr">
              <a:spcAft>
                <a:spcPts val="0"/>
              </a:spcAft>
            </a:pPr>
            <a:r>
              <a:rPr sz="2200" b="1">
                <a:solidFill>
                  <a:srgbClr val="114FF4"/>
                </a:solidFill>
                <a:latin typeface="Proxima Nova"/>
              </a:rPr>
              <a:t>›</a:t>
            </a:r>
          </a:p>
        </p:txBody>
      </p:sp>
      <p:sp>
        <p:nvSpPr>
          <p:cNvPr id="14" name="Rounded Rectangle 13"/>
          <p:cNvSpPr/>
          <p:nvPr/>
        </p:nvSpPr>
        <p:spPr>
          <a:xfrm>
            <a:off x="5166360" y="4297680"/>
            <a:ext cx="1874519" cy="1417320"/>
          </a:xfrm>
          <a:prstGeom prst="roundRect">
            <a:avLst>
              <a:gd name="adj" fmla="val 3500"/>
            </a:avLst>
          </a:prstGeom>
          <a:solidFill>
            <a:srgbClr val="2E2E2E"/>
          </a:solidFill>
          <a:ln>
            <a:noFill/>
          </a:ln>
          <a:effectLst/>
        </p:spPr>
        <p:txBody>
          <a:bodyPr rtlCol="0" anchor="ctr"/>
          <a:lstStyle/>
          <a:p>
            <a:pPr algn="ctr"/>
          </a:p>
        </p:txBody>
      </p:sp>
      <p:sp>
        <p:nvSpPr>
          <p:cNvPr id="15" name="TextBox 14"/>
          <p:cNvSpPr txBox="1"/>
          <p:nvPr/>
        </p:nvSpPr>
        <p:spPr>
          <a:xfrm>
            <a:off x="5166360" y="4498848"/>
            <a:ext cx="1874519" cy="320040"/>
          </a:xfrm>
          <a:prstGeom prst="rect">
            <a:avLst/>
          </a:prstGeom>
          <a:noFill/>
        </p:spPr>
        <p:txBody>
          <a:bodyPr wrap="square" lIns="0" rIns="0" tIns="0" bIns="0" anchor="t">
            <a:spAutoFit/>
          </a:bodyPr>
          <a:lstStyle/>
          <a:p>
            <a:pPr algn="ctr">
              <a:spcAft>
                <a:spcPts val="0"/>
              </a:spcAft>
            </a:pPr>
            <a:r>
              <a:rPr sz="1400" b="1">
                <a:solidFill>
                  <a:srgbClr val="A1B9FC"/>
                </a:solidFill>
                <a:latin typeface="Proxima Nova"/>
              </a:rPr>
              <a:t>SCORE</a:t>
            </a:r>
          </a:p>
        </p:txBody>
      </p:sp>
      <p:sp>
        <p:nvSpPr>
          <p:cNvPr id="16" name="TextBox 15"/>
          <p:cNvSpPr txBox="1"/>
          <p:nvPr/>
        </p:nvSpPr>
        <p:spPr>
          <a:xfrm>
            <a:off x="5166360" y="4892040"/>
            <a:ext cx="1874519" cy="731520"/>
          </a:xfrm>
          <a:prstGeom prst="rect">
            <a:avLst/>
          </a:prstGeom>
          <a:noFill/>
        </p:spPr>
        <p:txBody>
          <a:bodyPr wrap="square" lIns="0" rIns="0" tIns="0" bIns="0" anchor="t">
            <a:spAutoFit/>
          </a:bodyPr>
          <a:lstStyle/>
          <a:p>
            <a:pPr algn="ctr">
              <a:lnSpc>
                <a:spcPct val="130000"/>
              </a:lnSpc>
              <a:spcAft>
                <a:spcPts val="0"/>
              </a:spcAft>
            </a:pPr>
            <a:r>
              <a:rPr sz="1050" b="0">
                <a:solidFill>
                  <a:srgbClr val="A7A7A7"/>
                </a:solidFill>
                <a:latin typeface="Roboto"/>
              </a:rPr>
              <a:t>Expected value in rupees</a:t>
            </a:r>
          </a:p>
        </p:txBody>
      </p:sp>
      <p:sp>
        <p:nvSpPr>
          <p:cNvPr id="17" name="TextBox 16"/>
          <p:cNvSpPr txBox="1"/>
          <p:nvPr/>
        </p:nvSpPr>
        <p:spPr>
          <a:xfrm>
            <a:off x="7040880" y="4828032"/>
            <a:ext cx="365760" cy="365760"/>
          </a:xfrm>
          <a:prstGeom prst="rect">
            <a:avLst/>
          </a:prstGeom>
          <a:noFill/>
        </p:spPr>
        <p:txBody>
          <a:bodyPr wrap="square" lIns="0" rIns="0" tIns="0" bIns="0" anchor="t">
            <a:spAutoFit/>
          </a:bodyPr>
          <a:lstStyle/>
          <a:p>
            <a:pPr algn="ctr">
              <a:spcAft>
                <a:spcPts val="0"/>
              </a:spcAft>
            </a:pPr>
            <a:r>
              <a:rPr sz="2200" b="1">
                <a:solidFill>
                  <a:srgbClr val="114FF4"/>
                </a:solidFill>
                <a:latin typeface="Proxima Nova"/>
              </a:rPr>
              <a:t>›</a:t>
            </a:r>
          </a:p>
        </p:txBody>
      </p:sp>
      <p:sp>
        <p:nvSpPr>
          <p:cNvPr id="18" name="Rounded Rectangle 17"/>
          <p:cNvSpPr/>
          <p:nvPr/>
        </p:nvSpPr>
        <p:spPr>
          <a:xfrm>
            <a:off x="7406640" y="4297680"/>
            <a:ext cx="1874519" cy="1417320"/>
          </a:xfrm>
          <a:prstGeom prst="roundRect">
            <a:avLst>
              <a:gd name="adj" fmla="val 3500"/>
            </a:avLst>
          </a:prstGeom>
          <a:solidFill>
            <a:srgbClr val="2E2E2E"/>
          </a:solidFill>
          <a:ln>
            <a:noFill/>
          </a:ln>
          <a:effectLst/>
        </p:spPr>
        <p:txBody>
          <a:bodyPr rtlCol="0" anchor="ctr"/>
          <a:lstStyle/>
          <a:p>
            <a:pPr algn="ctr"/>
          </a:p>
        </p:txBody>
      </p:sp>
      <p:sp>
        <p:nvSpPr>
          <p:cNvPr id="19" name="TextBox 18"/>
          <p:cNvSpPr txBox="1"/>
          <p:nvPr/>
        </p:nvSpPr>
        <p:spPr>
          <a:xfrm>
            <a:off x="7406640" y="4498848"/>
            <a:ext cx="1874519" cy="320040"/>
          </a:xfrm>
          <a:prstGeom prst="rect">
            <a:avLst/>
          </a:prstGeom>
          <a:noFill/>
        </p:spPr>
        <p:txBody>
          <a:bodyPr wrap="square" lIns="0" rIns="0" tIns="0" bIns="0" anchor="t">
            <a:spAutoFit/>
          </a:bodyPr>
          <a:lstStyle/>
          <a:p>
            <a:pPr algn="ctr">
              <a:spcAft>
                <a:spcPts val="0"/>
              </a:spcAft>
            </a:pPr>
            <a:r>
              <a:rPr sz="1400" b="1">
                <a:solidFill>
                  <a:srgbClr val="A1B9FC"/>
                </a:solidFill>
                <a:latin typeface="Proxima Nova"/>
              </a:rPr>
              <a:t>ARBITRATE</a:t>
            </a:r>
          </a:p>
        </p:txBody>
      </p:sp>
      <p:sp>
        <p:nvSpPr>
          <p:cNvPr id="20" name="TextBox 19"/>
          <p:cNvSpPr txBox="1"/>
          <p:nvPr/>
        </p:nvSpPr>
        <p:spPr>
          <a:xfrm>
            <a:off x="7406640" y="4892040"/>
            <a:ext cx="1874519" cy="731520"/>
          </a:xfrm>
          <a:prstGeom prst="rect">
            <a:avLst/>
          </a:prstGeom>
          <a:noFill/>
        </p:spPr>
        <p:txBody>
          <a:bodyPr wrap="square" lIns="0" rIns="0" tIns="0" bIns="0" anchor="t">
            <a:spAutoFit/>
          </a:bodyPr>
          <a:lstStyle/>
          <a:p>
            <a:pPr algn="ctr">
              <a:lnSpc>
                <a:spcPct val="130000"/>
              </a:lnSpc>
              <a:spcAft>
                <a:spcPts val="0"/>
              </a:spcAft>
            </a:pPr>
            <a:r>
              <a:rPr sz="1050" b="0">
                <a:solidFill>
                  <a:srgbClr val="A7A7A7"/>
                </a:solidFill>
                <a:latin typeface="Roboto"/>
              </a:rPr>
              <a:t>Pick one, suppress the rest</a:t>
            </a:r>
          </a:p>
        </p:txBody>
      </p:sp>
      <p:sp>
        <p:nvSpPr>
          <p:cNvPr id="21" name="TextBox 20"/>
          <p:cNvSpPr txBox="1"/>
          <p:nvPr/>
        </p:nvSpPr>
        <p:spPr>
          <a:xfrm>
            <a:off x="9281160" y="4828032"/>
            <a:ext cx="365760" cy="365760"/>
          </a:xfrm>
          <a:prstGeom prst="rect">
            <a:avLst/>
          </a:prstGeom>
          <a:noFill/>
        </p:spPr>
        <p:txBody>
          <a:bodyPr wrap="square" lIns="0" rIns="0" tIns="0" bIns="0" anchor="t">
            <a:spAutoFit/>
          </a:bodyPr>
          <a:lstStyle/>
          <a:p>
            <a:pPr algn="ctr">
              <a:spcAft>
                <a:spcPts val="0"/>
              </a:spcAft>
            </a:pPr>
            <a:r>
              <a:rPr sz="2200" b="1">
                <a:solidFill>
                  <a:srgbClr val="114FF4"/>
                </a:solidFill>
                <a:latin typeface="Proxima Nova"/>
              </a:rPr>
              <a:t>›</a:t>
            </a:r>
          </a:p>
        </p:txBody>
      </p:sp>
      <p:sp>
        <p:nvSpPr>
          <p:cNvPr id="22" name="Rounded Rectangle 21"/>
          <p:cNvSpPr/>
          <p:nvPr/>
        </p:nvSpPr>
        <p:spPr>
          <a:xfrm>
            <a:off x="9646920" y="4297680"/>
            <a:ext cx="1874519" cy="1417320"/>
          </a:xfrm>
          <a:prstGeom prst="roundRect">
            <a:avLst>
              <a:gd name="adj" fmla="val 3500"/>
            </a:avLst>
          </a:prstGeom>
          <a:solidFill>
            <a:srgbClr val="2E2E2E"/>
          </a:solidFill>
          <a:ln>
            <a:noFill/>
          </a:ln>
          <a:effectLst/>
        </p:spPr>
        <p:txBody>
          <a:bodyPr rtlCol="0" anchor="ctr"/>
          <a:lstStyle/>
          <a:p>
            <a:pPr algn="ctr"/>
          </a:p>
        </p:txBody>
      </p:sp>
      <p:sp>
        <p:nvSpPr>
          <p:cNvPr id="23" name="TextBox 22"/>
          <p:cNvSpPr txBox="1"/>
          <p:nvPr/>
        </p:nvSpPr>
        <p:spPr>
          <a:xfrm>
            <a:off x="9646920" y="4498848"/>
            <a:ext cx="1874519" cy="320040"/>
          </a:xfrm>
          <a:prstGeom prst="rect">
            <a:avLst/>
          </a:prstGeom>
          <a:noFill/>
        </p:spPr>
        <p:txBody>
          <a:bodyPr wrap="square" lIns="0" rIns="0" tIns="0" bIns="0" anchor="t">
            <a:spAutoFit/>
          </a:bodyPr>
          <a:lstStyle/>
          <a:p>
            <a:pPr algn="ctr">
              <a:spcAft>
                <a:spcPts val="0"/>
              </a:spcAft>
            </a:pPr>
            <a:r>
              <a:rPr sz="1400" b="1">
                <a:solidFill>
                  <a:srgbClr val="A1B9FC"/>
                </a:solidFill>
                <a:latin typeface="Proxima Nova"/>
              </a:rPr>
              <a:t>LOG</a:t>
            </a:r>
          </a:p>
        </p:txBody>
      </p:sp>
      <p:sp>
        <p:nvSpPr>
          <p:cNvPr id="24" name="TextBox 23"/>
          <p:cNvSpPr txBox="1"/>
          <p:nvPr/>
        </p:nvSpPr>
        <p:spPr>
          <a:xfrm>
            <a:off x="9646920" y="4892040"/>
            <a:ext cx="1874519" cy="731520"/>
          </a:xfrm>
          <a:prstGeom prst="rect">
            <a:avLst/>
          </a:prstGeom>
          <a:noFill/>
        </p:spPr>
        <p:txBody>
          <a:bodyPr wrap="square" lIns="0" rIns="0" tIns="0" bIns="0" anchor="t">
            <a:spAutoFit/>
          </a:bodyPr>
          <a:lstStyle/>
          <a:p>
            <a:pPr algn="ctr">
              <a:lnSpc>
                <a:spcPct val="130000"/>
              </a:lnSpc>
              <a:spcAft>
                <a:spcPts val="0"/>
              </a:spcAft>
            </a:pPr>
            <a:r>
              <a:rPr sz="1050" b="0">
                <a:solidFill>
                  <a:srgbClr val="A7A7A7"/>
                </a:solidFill>
                <a:latin typeface="Roboto"/>
              </a:rPr>
              <a:t>Immutable row, replayable</a:t>
            </a:r>
          </a:p>
        </p:txBody>
      </p:sp>
      <p:sp>
        <p:nvSpPr>
          <p:cNvPr id="25" name="TextBox 24"/>
          <p:cNvSpPr txBox="1"/>
          <p:nvPr/>
        </p:nvSpPr>
        <p:spPr>
          <a:xfrm>
            <a:off x="685800" y="5989320"/>
            <a:ext cx="10789920" cy="365760"/>
          </a:xfrm>
          <a:prstGeom prst="rect">
            <a:avLst/>
          </a:prstGeom>
          <a:noFill/>
        </p:spPr>
        <p:txBody>
          <a:bodyPr wrap="square" lIns="0" rIns="0" tIns="0" bIns="0" anchor="t">
            <a:spAutoFit/>
          </a:bodyPr>
          <a:lstStyle/>
          <a:p>
            <a:pPr algn="l">
              <a:spcAft>
                <a:spcPts val="0"/>
              </a:spcAft>
            </a:pPr>
            <a:r>
              <a:rPr sz="1300" b="1">
                <a:solidFill>
                  <a:srgbClr val="A1B9FC"/>
                </a:solidFill>
                <a:latin typeface="Roboto"/>
              </a:rPr>
              <a:t>Anything that skips this looks agentic in a demo and becomes a compliance incident in 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01</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AGENTIC DESIGN</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FOUR BRAINS BEHIND ONE VOICE</a:t>
            </a:r>
          </a:p>
        </p:txBody>
      </p:sp>
      <p:sp>
        <p:nvSpPr>
          <p:cNvPr id="6" name="TextBox 5"/>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Each is deterministic code with an audit row — not a paragraph of prompt text.</a:t>
            </a:r>
          </a:p>
        </p:txBody>
      </p:sp>
      <p:sp>
        <p:nvSpPr>
          <p:cNvPr id="7" name="Rounded Rectangle 6"/>
          <p:cNvSpPr/>
          <p:nvPr/>
        </p:nvSpPr>
        <p:spPr>
          <a:xfrm>
            <a:off x="685800" y="2331720"/>
            <a:ext cx="5285232" cy="1773936"/>
          </a:xfrm>
          <a:prstGeom prst="roundRect">
            <a:avLst>
              <a:gd name="adj" fmla="val 3500"/>
            </a:avLst>
          </a:prstGeom>
          <a:solidFill>
            <a:srgbClr val="EFF3FE"/>
          </a:solidFill>
          <a:ln>
            <a:noFill/>
          </a:ln>
          <a:effectLst/>
        </p:spPr>
        <p:txBody>
          <a:bodyPr rtlCol="0" anchor="ctr"/>
          <a:lstStyle/>
          <a:p>
            <a:pPr algn="ctr"/>
          </a:p>
        </p:txBody>
      </p:sp>
      <p:sp>
        <p:nvSpPr>
          <p:cNvPr id="8" name="TextBox 7"/>
          <p:cNvSpPr txBox="1"/>
          <p:nvPr/>
        </p:nvSpPr>
        <p:spPr>
          <a:xfrm>
            <a:off x="978408" y="2551176"/>
            <a:ext cx="2743200" cy="365760"/>
          </a:xfrm>
          <a:prstGeom prst="rect">
            <a:avLst/>
          </a:prstGeom>
          <a:noFill/>
        </p:spPr>
        <p:txBody>
          <a:bodyPr wrap="square" lIns="0" rIns="0" tIns="0" bIns="0" anchor="t">
            <a:spAutoFit/>
          </a:bodyPr>
          <a:lstStyle/>
          <a:p>
            <a:pPr algn="l">
              <a:spcAft>
                <a:spcPts val="0"/>
              </a:spcAft>
            </a:pPr>
            <a:r>
              <a:rPr sz="1800" b="1">
                <a:solidFill>
                  <a:srgbClr val="114FF4"/>
                </a:solidFill>
                <a:latin typeface="Proxima Nova"/>
              </a:rPr>
              <a:t>RECO</a:t>
            </a:r>
          </a:p>
        </p:txBody>
      </p:sp>
      <p:sp>
        <p:nvSpPr>
          <p:cNvPr id="9" name="TextBox 8"/>
          <p:cNvSpPr txBox="1"/>
          <p:nvPr/>
        </p:nvSpPr>
        <p:spPr>
          <a:xfrm>
            <a:off x="978408" y="2935224"/>
            <a:ext cx="4663440" cy="292608"/>
          </a:xfrm>
          <a:prstGeom prst="rect">
            <a:avLst/>
          </a:prstGeom>
          <a:noFill/>
        </p:spPr>
        <p:txBody>
          <a:bodyPr wrap="square" lIns="0" rIns="0" tIns="0" bIns="0" anchor="t">
            <a:spAutoFit/>
          </a:bodyPr>
          <a:lstStyle/>
          <a:p>
            <a:pPr algn="l">
              <a:spcAft>
                <a:spcPts val="0"/>
              </a:spcAft>
            </a:pPr>
            <a:r>
              <a:rPr sz="1200" b="1">
                <a:solidFill>
                  <a:srgbClr val="232323"/>
                </a:solidFill>
                <a:latin typeface="Proxima Nova"/>
              </a:rPr>
              <a:t>What may be offered</a:t>
            </a:r>
          </a:p>
        </p:txBody>
      </p:sp>
      <p:sp>
        <p:nvSpPr>
          <p:cNvPr id="10" name="TextBox 9"/>
          <p:cNvSpPr txBox="1"/>
          <p:nvPr/>
        </p:nvSpPr>
        <p:spPr>
          <a:xfrm>
            <a:off x="978408" y="3300984"/>
            <a:ext cx="4709160" cy="731520"/>
          </a:xfrm>
          <a:prstGeom prst="rect">
            <a:avLst/>
          </a:prstGeom>
          <a:noFill/>
        </p:spPr>
        <p:txBody>
          <a:bodyPr wrap="square" lIns="0" rIns="0" tIns="0" bIns="0" anchor="t">
            <a:spAutoFit/>
          </a:bodyPr>
          <a:lstStyle/>
          <a:p>
            <a:pPr algn="l">
              <a:lnSpc>
                <a:spcPct val="135000"/>
              </a:lnSpc>
              <a:spcAft>
                <a:spcPts val="0"/>
              </a:spcAft>
            </a:pPr>
            <a:r>
              <a:rPr sz="1100" b="0">
                <a:solidFill>
                  <a:srgbClr val="4A4A4A"/>
                </a:solidFill>
                <a:latin typeface="Roboto"/>
              </a:rPr>
              <a:t>Next-best-offer. Features → candidates → eligibility veto → score → arbitrate. Suppression rules cap 3 offers per customer per 30 days, 90-day decline cooldown.</a:t>
            </a:r>
          </a:p>
        </p:txBody>
      </p:sp>
      <p:sp>
        <p:nvSpPr>
          <p:cNvPr id="11" name="Rounded Rectangle 10"/>
          <p:cNvSpPr/>
          <p:nvPr/>
        </p:nvSpPr>
        <p:spPr>
          <a:xfrm>
            <a:off x="6217920" y="2331720"/>
            <a:ext cx="5285232" cy="1773936"/>
          </a:xfrm>
          <a:prstGeom prst="roundRect">
            <a:avLst>
              <a:gd name="adj" fmla="val 3500"/>
            </a:avLst>
          </a:prstGeom>
          <a:solidFill>
            <a:srgbClr val="EFF3FE"/>
          </a:solidFill>
          <a:ln>
            <a:noFill/>
          </a:ln>
          <a:effectLst/>
        </p:spPr>
        <p:txBody>
          <a:bodyPr rtlCol="0" anchor="ctr"/>
          <a:lstStyle/>
          <a:p>
            <a:pPr algn="ctr"/>
          </a:p>
        </p:txBody>
      </p:sp>
      <p:sp>
        <p:nvSpPr>
          <p:cNvPr id="12" name="TextBox 11"/>
          <p:cNvSpPr txBox="1"/>
          <p:nvPr/>
        </p:nvSpPr>
        <p:spPr>
          <a:xfrm>
            <a:off x="6510528" y="2551176"/>
            <a:ext cx="2743200" cy="365760"/>
          </a:xfrm>
          <a:prstGeom prst="rect">
            <a:avLst/>
          </a:prstGeom>
          <a:noFill/>
        </p:spPr>
        <p:txBody>
          <a:bodyPr wrap="square" lIns="0" rIns="0" tIns="0" bIns="0" anchor="t">
            <a:spAutoFit/>
          </a:bodyPr>
          <a:lstStyle/>
          <a:p>
            <a:pPr algn="l">
              <a:spcAft>
                <a:spcPts val="0"/>
              </a:spcAft>
            </a:pPr>
            <a:r>
              <a:rPr sz="1800" b="1">
                <a:solidFill>
                  <a:srgbClr val="114FF4"/>
                </a:solidFill>
                <a:latin typeface="Proxima Nova"/>
              </a:rPr>
              <a:t>TREATMENT</a:t>
            </a:r>
          </a:p>
        </p:txBody>
      </p:sp>
      <p:sp>
        <p:nvSpPr>
          <p:cNvPr id="13" name="TextBox 12"/>
          <p:cNvSpPr txBox="1"/>
          <p:nvPr/>
        </p:nvSpPr>
        <p:spPr>
          <a:xfrm>
            <a:off x="6510528" y="2935224"/>
            <a:ext cx="4663440" cy="292608"/>
          </a:xfrm>
          <a:prstGeom prst="rect">
            <a:avLst/>
          </a:prstGeom>
          <a:noFill/>
        </p:spPr>
        <p:txBody>
          <a:bodyPr wrap="square" lIns="0" rIns="0" tIns="0" bIns="0" anchor="t">
            <a:spAutoFit/>
          </a:bodyPr>
          <a:lstStyle/>
          <a:p>
            <a:pPr algn="l">
              <a:spcAft>
                <a:spcPts val="0"/>
              </a:spcAft>
            </a:pPr>
            <a:r>
              <a:rPr sz="1200" b="1">
                <a:solidFill>
                  <a:srgbClr val="232323"/>
                </a:solidFill>
                <a:latin typeface="Proxima Nova"/>
              </a:rPr>
              <a:t>What we should do next</a:t>
            </a:r>
          </a:p>
        </p:txBody>
      </p:sp>
      <p:sp>
        <p:nvSpPr>
          <p:cNvPr id="14" name="TextBox 13"/>
          <p:cNvSpPr txBox="1"/>
          <p:nvPr/>
        </p:nvSpPr>
        <p:spPr>
          <a:xfrm>
            <a:off x="6510528" y="3300984"/>
            <a:ext cx="4709160" cy="731520"/>
          </a:xfrm>
          <a:prstGeom prst="rect">
            <a:avLst/>
          </a:prstGeom>
          <a:noFill/>
        </p:spPr>
        <p:txBody>
          <a:bodyPr wrap="square" lIns="0" rIns="0" tIns="0" bIns="0" anchor="t">
            <a:spAutoFit/>
          </a:bodyPr>
          <a:lstStyle/>
          <a:p>
            <a:pPr algn="l">
              <a:lnSpc>
                <a:spcPct val="135000"/>
              </a:lnSpc>
              <a:spcAft>
                <a:spcPts val="0"/>
              </a:spcAft>
            </a:pPr>
            <a:r>
              <a:rPr sz="1100" b="0">
                <a:solidFill>
                  <a:srgbClr val="4A4A4A"/>
                </a:solidFill>
                <a:latin typeface="Roboto"/>
              </a:rPr>
              <a:t>Silence, SMS, WhatsApp, bot call, human, field or legal — scored in rupees, where 'wait' scores zero and every action must beat it.</a:t>
            </a:r>
          </a:p>
        </p:txBody>
      </p:sp>
      <p:sp>
        <p:nvSpPr>
          <p:cNvPr id="15" name="Rounded Rectangle 14"/>
          <p:cNvSpPr/>
          <p:nvPr/>
        </p:nvSpPr>
        <p:spPr>
          <a:xfrm>
            <a:off x="685800" y="4224528"/>
            <a:ext cx="5285232" cy="1773936"/>
          </a:xfrm>
          <a:prstGeom prst="roundRect">
            <a:avLst>
              <a:gd name="adj" fmla="val 3500"/>
            </a:avLst>
          </a:prstGeom>
          <a:solidFill>
            <a:srgbClr val="EFF3FE"/>
          </a:solidFill>
          <a:ln>
            <a:noFill/>
          </a:ln>
          <a:effectLst/>
        </p:spPr>
        <p:txBody>
          <a:bodyPr rtlCol="0" anchor="ctr"/>
          <a:lstStyle/>
          <a:p>
            <a:pPr algn="ctr"/>
          </a:p>
        </p:txBody>
      </p:sp>
      <p:sp>
        <p:nvSpPr>
          <p:cNvPr id="16" name="TextBox 15"/>
          <p:cNvSpPr txBox="1"/>
          <p:nvPr/>
        </p:nvSpPr>
        <p:spPr>
          <a:xfrm>
            <a:off x="978408" y="4443984"/>
            <a:ext cx="2743200" cy="365760"/>
          </a:xfrm>
          <a:prstGeom prst="rect">
            <a:avLst/>
          </a:prstGeom>
          <a:noFill/>
        </p:spPr>
        <p:txBody>
          <a:bodyPr wrap="square" lIns="0" rIns="0" tIns="0" bIns="0" anchor="t">
            <a:spAutoFit/>
          </a:bodyPr>
          <a:lstStyle/>
          <a:p>
            <a:pPr algn="l">
              <a:spcAft>
                <a:spcPts val="0"/>
              </a:spcAft>
            </a:pPr>
            <a:r>
              <a:rPr sz="1800" b="1">
                <a:solidFill>
                  <a:srgbClr val="114FF4"/>
                </a:solidFill>
                <a:latin typeface="Proxima Nova"/>
              </a:rPr>
              <a:t>AUTHORITY</a:t>
            </a:r>
          </a:p>
        </p:txBody>
      </p:sp>
      <p:sp>
        <p:nvSpPr>
          <p:cNvPr id="17" name="TextBox 16"/>
          <p:cNvSpPr txBox="1"/>
          <p:nvPr/>
        </p:nvSpPr>
        <p:spPr>
          <a:xfrm>
            <a:off x="978408" y="4828032"/>
            <a:ext cx="4663440" cy="292608"/>
          </a:xfrm>
          <a:prstGeom prst="rect">
            <a:avLst/>
          </a:prstGeom>
          <a:noFill/>
        </p:spPr>
        <p:txBody>
          <a:bodyPr wrap="square" lIns="0" rIns="0" tIns="0" bIns="0" anchor="t">
            <a:spAutoFit/>
          </a:bodyPr>
          <a:lstStyle/>
          <a:p>
            <a:pPr algn="l">
              <a:spcAft>
                <a:spcPts val="0"/>
              </a:spcAft>
            </a:pPr>
            <a:r>
              <a:rPr sz="1200" b="1">
                <a:solidFill>
                  <a:srgbClr val="232323"/>
                </a:solidFill>
                <a:latin typeface="Proxima Nova"/>
              </a:rPr>
              <a:t>What can close on this call</a:t>
            </a:r>
          </a:p>
        </p:txBody>
      </p:sp>
      <p:sp>
        <p:nvSpPr>
          <p:cNvPr id="18" name="TextBox 17"/>
          <p:cNvSpPr txBox="1"/>
          <p:nvPr/>
        </p:nvSpPr>
        <p:spPr>
          <a:xfrm>
            <a:off x="978408" y="5193792"/>
            <a:ext cx="4709160" cy="731520"/>
          </a:xfrm>
          <a:prstGeom prst="rect">
            <a:avLst/>
          </a:prstGeom>
          <a:noFill/>
        </p:spPr>
        <p:txBody>
          <a:bodyPr wrap="square" lIns="0" rIns="0" tIns="0" bIns="0" anchor="t">
            <a:spAutoFit/>
          </a:bodyPr>
          <a:lstStyle/>
          <a:p>
            <a:pPr algn="l">
              <a:lnSpc>
                <a:spcPct val="135000"/>
              </a:lnSpc>
              <a:spcAft>
                <a:spcPts val="0"/>
              </a:spcAft>
            </a:pPr>
            <a:r>
              <a:rPr sz="1100" b="0">
                <a:solidFill>
                  <a:srgbClr val="4A4A4A"/>
                </a:solidFill>
                <a:latin typeface="Roboto"/>
              </a:rPr>
              <a:t>Live ₹ verdict: auto-approve, cap or escalate. Late-fee waivers gated on DPD and outstanding; one-time goodwill per 12 months. The model never invents a number.</a:t>
            </a:r>
          </a:p>
        </p:txBody>
      </p:sp>
      <p:sp>
        <p:nvSpPr>
          <p:cNvPr id="19" name="Rounded Rectangle 18"/>
          <p:cNvSpPr/>
          <p:nvPr/>
        </p:nvSpPr>
        <p:spPr>
          <a:xfrm>
            <a:off x="6217920" y="4224528"/>
            <a:ext cx="5285232" cy="1773936"/>
          </a:xfrm>
          <a:prstGeom prst="roundRect">
            <a:avLst>
              <a:gd name="adj" fmla="val 3500"/>
            </a:avLst>
          </a:prstGeom>
          <a:solidFill>
            <a:srgbClr val="EFF3FE"/>
          </a:solidFill>
          <a:ln>
            <a:noFill/>
          </a:ln>
          <a:effectLst/>
        </p:spPr>
        <p:txBody>
          <a:bodyPr rtlCol="0" anchor="ctr"/>
          <a:lstStyle/>
          <a:p>
            <a:pPr algn="ctr"/>
          </a:p>
        </p:txBody>
      </p:sp>
      <p:sp>
        <p:nvSpPr>
          <p:cNvPr id="20" name="TextBox 19"/>
          <p:cNvSpPr txBox="1"/>
          <p:nvPr/>
        </p:nvSpPr>
        <p:spPr>
          <a:xfrm>
            <a:off x="6510528" y="4443984"/>
            <a:ext cx="2743200" cy="365760"/>
          </a:xfrm>
          <a:prstGeom prst="rect">
            <a:avLst/>
          </a:prstGeom>
          <a:noFill/>
        </p:spPr>
        <p:txBody>
          <a:bodyPr wrap="square" lIns="0" rIns="0" tIns="0" bIns="0" anchor="t">
            <a:spAutoFit/>
          </a:bodyPr>
          <a:lstStyle/>
          <a:p>
            <a:pPr algn="l">
              <a:spcAft>
                <a:spcPts val="0"/>
              </a:spcAft>
            </a:pPr>
            <a:r>
              <a:rPr sz="1800" b="1">
                <a:solidFill>
                  <a:srgbClr val="114FF4"/>
                </a:solidFill>
                <a:latin typeface="Proxima Nova"/>
              </a:rPr>
              <a:t>LIVE QA</a:t>
            </a:r>
          </a:p>
        </p:txBody>
      </p:sp>
      <p:sp>
        <p:nvSpPr>
          <p:cNvPr id="21" name="TextBox 20"/>
          <p:cNvSpPr txBox="1"/>
          <p:nvPr/>
        </p:nvSpPr>
        <p:spPr>
          <a:xfrm>
            <a:off x="6510528" y="4828032"/>
            <a:ext cx="4663440" cy="292608"/>
          </a:xfrm>
          <a:prstGeom prst="rect">
            <a:avLst/>
          </a:prstGeom>
          <a:noFill/>
        </p:spPr>
        <p:txBody>
          <a:bodyPr wrap="square" lIns="0" rIns="0" tIns="0" bIns="0" anchor="t">
            <a:spAutoFit/>
          </a:bodyPr>
          <a:lstStyle/>
          <a:p>
            <a:pPr algn="l">
              <a:spcAft>
                <a:spcPts val="0"/>
              </a:spcAft>
            </a:pPr>
            <a:r>
              <a:rPr sz="1200" b="1">
                <a:solidFill>
                  <a:srgbClr val="232323"/>
                </a:solidFill>
                <a:latin typeface="Proxima Nova"/>
              </a:rPr>
              <a:t>Whether it is going wrong now</a:t>
            </a:r>
          </a:p>
        </p:txBody>
      </p:sp>
      <p:sp>
        <p:nvSpPr>
          <p:cNvPr id="22" name="TextBox 21"/>
          <p:cNvSpPr txBox="1"/>
          <p:nvPr/>
        </p:nvSpPr>
        <p:spPr>
          <a:xfrm>
            <a:off x="6510528" y="5193792"/>
            <a:ext cx="4709160" cy="731520"/>
          </a:xfrm>
          <a:prstGeom prst="rect">
            <a:avLst/>
          </a:prstGeom>
          <a:noFill/>
        </p:spPr>
        <p:txBody>
          <a:bodyPr wrap="square" lIns="0" rIns="0" tIns="0" bIns="0" anchor="t">
            <a:spAutoFit/>
          </a:bodyPr>
          <a:lstStyle/>
          <a:p>
            <a:pPr algn="l">
              <a:lnSpc>
                <a:spcPct val="135000"/>
              </a:lnSpc>
              <a:spcAft>
                <a:spcPts val="0"/>
              </a:spcAft>
            </a:pPr>
            <a:r>
              <a:rPr sz="1100" b="0">
                <a:solidFill>
                  <a:srgbClr val="4A4A4A"/>
                </a:solidFill>
                <a:latin typeface="Roboto"/>
              </a:rPr>
              <a:t>Deterministic scoring on every turn. Hours breach, third-party leak, identity-before-verify, authority-cap-exceeded, opt-out-ignored — critical flags can barge the live call.</a:t>
            </a:r>
          </a:p>
        </p:txBody>
      </p:sp>
      <p:sp>
        <p:nvSpPr>
          <p:cNvPr id="23" name="TextBox 22"/>
          <p:cNvSpPr txBox="1"/>
          <p:nvPr/>
        </p:nvSpPr>
        <p:spPr>
          <a:xfrm>
            <a:off x="685800" y="6291072"/>
            <a:ext cx="10789920" cy="274320"/>
          </a:xfrm>
          <a:prstGeom prst="rect">
            <a:avLst/>
          </a:prstGeom>
          <a:noFill/>
        </p:spPr>
        <p:txBody>
          <a:bodyPr wrap="square" lIns="0" rIns="0" tIns="0" bIns="0" anchor="t">
            <a:spAutoFit/>
          </a:bodyPr>
          <a:lstStyle/>
          <a:p>
            <a:pPr algn="l">
              <a:spcAft>
                <a:spcPts val="0"/>
              </a:spcAft>
            </a:pPr>
            <a:r>
              <a:rPr sz="900" b="0">
                <a:solidFill>
                  <a:srgbClr val="7B7B7B"/>
                </a:solidFill>
                <a:latin typeface="Roboto"/>
              </a:rPr>
              <a:t>Reco and treatment ship shadow-mode first: the engine decides, the log records, nothing acts until the numbers are trusted.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01</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AGENTIC DESIGN</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A MESH, NOT A MONOLOGUE</a:t>
            </a:r>
          </a:p>
        </p:txBody>
      </p:sp>
      <p:sp>
        <p:nvSpPr>
          <p:cNvPr id="6" name="TextBox 5"/>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Handoff is a typed tool with an allowlist, a payload schema and an audit row — never a sentence in a transcript.</a:t>
            </a:r>
          </a:p>
        </p:txBody>
      </p:sp>
      <p:sp>
        <p:nvSpPr>
          <p:cNvPr id="7" name="Rounded Rectangle 6"/>
          <p:cNvSpPr/>
          <p:nvPr/>
        </p:nvSpPr>
        <p:spPr>
          <a:xfrm>
            <a:off x="685800" y="2880360"/>
            <a:ext cx="2148840" cy="914400"/>
          </a:xfrm>
          <a:prstGeom prst="roundRect">
            <a:avLst>
              <a:gd name="adj" fmla="val 3500"/>
            </a:avLst>
          </a:prstGeom>
          <a:solidFill>
            <a:srgbClr val="232323"/>
          </a:solidFill>
          <a:ln>
            <a:noFill/>
          </a:ln>
          <a:effectLst/>
        </p:spPr>
        <p:txBody>
          <a:bodyPr rtlCol="0" anchor="ctr"/>
          <a:lstStyle/>
          <a:p>
            <a:pPr algn="ctr"/>
          </a:p>
        </p:txBody>
      </p:sp>
      <p:sp>
        <p:nvSpPr>
          <p:cNvPr id="8" name="TextBox 7"/>
          <p:cNvSpPr txBox="1"/>
          <p:nvPr/>
        </p:nvSpPr>
        <p:spPr>
          <a:xfrm>
            <a:off x="685800" y="3127248"/>
            <a:ext cx="2148840" cy="411480"/>
          </a:xfrm>
          <a:prstGeom prst="rect">
            <a:avLst/>
          </a:prstGeom>
          <a:noFill/>
        </p:spPr>
        <p:txBody>
          <a:bodyPr wrap="square" lIns="0" rIns="0" tIns="0" bIns="0" anchor="t">
            <a:spAutoFit/>
          </a:bodyPr>
          <a:lstStyle/>
          <a:p>
            <a:pPr algn="ctr">
              <a:spcAft>
                <a:spcPts val="0"/>
              </a:spcAft>
            </a:pPr>
            <a:r>
              <a:rPr sz="1500" b="1">
                <a:solidFill>
                  <a:srgbClr val="FFFFFF"/>
                </a:solidFill>
                <a:latin typeface="Proxima Nova"/>
              </a:rPr>
              <a:t>INTAKE</a:t>
            </a:r>
          </a:p>
        </p:txBody>
      </p:sp>
      <p:sp>
        <p:nvSpPr>
          <p:cNvPr id="9" name="TextBox 8"/>
          <p:cNvSpPr txBox="1"/>
          <p:nvPr/>
        </p:nvSpPr>
        <p:spPr>
          <a:xfrm>
            <a:off x="2898648" y="3072384"/>
            <a:ext cx="960120" cy="274320"/>
          </a:xfrm>
          <a:prstGeom prst="rect">
            <a:avLst/>
          </a:prstGeom>
          <a:noFill/>
        </p:spPr>
        <p:txBody>
          <a:bodyPr wrap="square" lIns="0" rIns="0" tIns="0" bIns="0" anchor="t">
            <a:spAutoFit/>
          </a:bodyPr>
          <a:lstStyle/>
          <a:p>
            <a:pPr algn="ctr">
              <a:spcAft>
                <a:spcPts val="0"/>
              </a:spcAft>
            </a:pPr>
            <a:r>
              <a:rPr sz="1000" b="1">
                <a:solidFill>
                  <a:srgbClr val="114FF4"/>
                </a:solidFill>
                <a:latin typeface="Roboto"/>
              </a:rPr>
              <a:t>verify</a:t>
            </a:r>
          </a:p>
        </p:txBody>
      </p:sp>
      <p:sp>
        <p:nvSpPr>
          <p:cNvPr id="10" name="TextBox 9"/>
          <p:cNvSpPr txBox="1"/>
          <p:nvPr/>
        </p:nvSpPr>
        <p:spPr>
          <a:xfrm>
            <a:off x="2898648" y="3291840"/>
            <a:ext cx="960120" cy="320040"/>
          </a:xfrm>
          <a:prstGeom prst="rect">
            <a:avLst/>
          </a:prstGeom>
          <a:noFill/>
        </p:spPr>
        <p:txBody>
          <a:bodyPr wrap="square" lIns="0" rIns="0" tIns="0" bIns="0" anchor="t">
            <a:spAutoFit/>
          </a:bodyPr>
          <a:lstStyle/>
          <a:p>
            <a:pPr algn="ctr">
              <a:spcAft>
                <a:spcPts val="0"/>
              </a:spcAft>
            </a:pPr>
            <a:r>
              <a:rPr sz="1500" b="1">
                <a:solidFill>
                  <a:srgbClr val="114FF4"/>
                </a:solidFill>
                <a:latin typeface="Proxima Nova"/>
              </a:rPr>
              <a:t>——›</a:t>
            </a:r>
          </a:p>
        </p:txBody>
      </p:sp>
      <p:sp>
        <p:nvSpPr>
          <p:cNvPr id="11" name="Rounded Rectangle 10"/>
          <p:cNvSpPr/>
          <p:nvPr/>
        </p:nvSpPr>
        <p:spPr>
          <a:xfrm>
            <a:off x="3931920" y="2880360"/>
            <a:ext cx="2331720" cy="914400"/>
          </a:xfrm>
          <a:prstGeom prst="roundRect">
            <a:avLst>
              <a:gd name="adj" fmla="val 3500"/>
            </a:avLst>
          </a:prstGeom>
          <a:solidFill>
            <a:srgbClr val="114FF4"/>
          </a:solidFill>
          <a:ln>
            <a:noFill/>
          </a:ln>
          <a:effectLst/>
        </p:spPr>
        <p:txBody>
          <a:bodyPr rtlCol="0" anchor="ctr"/>
          <a:lstStyle/>
          <a:p>
            <a:pPr algn="ctr"/>
          </a:p>
        </p:txBody>
      </p:sp>
      <p:sp>
        <p:nvSpPr>
          <p:cNvPr id="12" name="TextBox 11"/>
          <p:cNvSpPr txBox="1"/>
          <p:nvPr/>
        </p:nvSpPr>
        <p:spPr>
          <a:xfrm>
            <a:off x="3931920" y="3127248"/>
            <a:ext cx="2331720" cy="411480"/>
          </a:xfrm>
          <a:prstGeom prst="rect">
            <a:avLst/>
          </a:prstGeom>
          <a:noFill/>
        </p:spPr>
        <p:txBody>
          <a:bodyPr wrap="square" lIns="0" rIns="0" tIns="0" bIns="0" anchor="t">
            <a:spAutoFit/>
          </a:bodyPr>
          <a:lstStyle/>
          <a:p>
            <a:pPr algn="ctr">
              <a:spcAft>
                <a:spcPts val="0"/>
              </a:spcAft>
            </a:pPr>
            <a:r>
              <a:rPr sz="1500" b="1">
                <a:solidFill>
                  <a:srgbClr val="FFFFFF"/>
                </a:solidFill>
                <a:latin typeface="Proxima Nova"/>
              </a:rPr>
              <a:t>COLLECTIONS</a:t>
            </a:r>
          </a:p>
        </p:txBody>
      </p:sp>
      <p:sp>
        <p:nvSpPr>
          <p:cNvPr id="13" name="Rounded Rectangle 12"/>
          <p:cNvSpPr/>
          <p:nvPr/>
        </p:nvSpPr>
        <p:spPr>
          <a:xfrm>
            <a:off x="7360920" y="2487168"/>
            <a:ext cx="4142232" cy="786384"/>
          </a:xfrm>
          <a:prstGeom prst="roundRect">
            <a:avLst>
              <a:gd name="adj" fmla="val 3500"/>
            </a:avLst>
          </a:prstGeom>
          <a:solidFill>
            <a:srgbClr val="F3F3F3"/>
          </a:solidFill>
          <a:ln>
            <a:noFill/>
          </a:ln>
          <a:effectLst/>
        </p:spPr>
        <p:txBody>
          <a:bodyPr rtlCol="0" anchor="ctr"/>
          <a:lstStyle/>
          <a:p>
            <a:pPr algn="ctr"/>
          </a:p>
        </p:txBody>
      </p:sp>
      <p:sp>
        <p:nvSpPr>
          <p:cNvPr id="14" name="TextBox 13"/>
          <p:cNvSpPr txBox="1"/>
          <p:nvPr/>
        </p:nvSpPr>
        <p:spPr>
          <a:xfrm>
            <a:off x="7635240" y="2633472"/>
            <a:ext cx="2743200" cy="292608"/>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HARDSHIP</a:t>
            </a:r>
          </a:p>
        </p:txBody>
      </p:sp>
      <p:sp>
        <p:nvSpPr>
          <p:cNvPr id="15" name="TextBox 14"/>
          <p:cNvSpPr txBox="1"/>
          <p:nvPr/>
        </p:nvSpPr>
        <p:spPr>
          <a:xfrm>
            <a:off x="7635240" y="2944368"/>
            <a:ext cx="356616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treatment hold → human</a:t>
            </a:r>
          </a:p>
        </p:txBody>
      </p:sp>
      <p:sp>
        <p:nvSpPr>
          <p:cNvPr id="16" name="Rounded Rectangle 15"/>
          <p:cNvSpPr/>
          <p:nvPr/>
        </p:nvSpPr>
        <p:spPr>
          <a:xfrm>
            <a:off x="7360920" y="3401568"/>
            <a:ext cx="4142232" cy="786384"/>
          </a:xfrm>
          <a:prstGeom prst="roundRect">
            <a:avLst>
              <a:gd name="adj" fmla="val 3500"/>
            </a:avLst>
          </a:prstGeom>
          <a:solidFill>
            <a:srgbClr val="F3F3F3"/>
          </a:solidFill>
          <a:ln>
            <a:noFill/>
          </a:ln>
          <a:effectLst/>
        </p:spPr>
        <p:txBody>
          <a:bodyPr rtlCol="0" anchor="ctr"/>
          <a:lstStyle/>
          <a:p>
            <a:pPr algn="ctr"/>
          </a:p>
        </p:txBody>
      </p:sp>
      <p:sp>
        <p:nvSpPr>
          <p:cNvPr id="17" name="TextBox 16"/>
          <p:cNvSpPr txBox="1"/>
          <p:nvPr/>
        </p:nvSpPr>
        <p:spPr>
          <a:xfrm>
            <a:off x="7635240" y="3547872"/>
            <a:ext cx="2743200" cy="292608"/>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DISPUTE</a:t>
            </a:r>
          </a:p>
        </p:txBody>
      </p:sp>
      <p:sp>
        <p:nvSpPr>
          <p:cNvPr id="18" name="TextBox 17"/>
          <p:cNvSpPr txBox="1"/>
          <p:nvPr/>
        </p:nvSpPr>
        <p:spPr>
          <a:xfrm>
            <a:off x="7635240" y="3858768"/>
            <a:ext cx="356616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evidence capture, veto</a:t>
            </a:r>
          </a:p>
        </p:txBody>
      </p:sp>
      <p:sp>
        <p:nvSpPr>
          <p:cNvPr id="19" name="Rounded Rectangle 18"/>
          <p:cNvSpPr/>
          <p:nvPr/>
        </p:nvSpPr>
        <p:spPr>
          <a:xfrm>
            <a:off x="7360920" y="4315968"/>
            <a:ext cx="4142232" cy="786384"/>
          </a:xfrm>
          <a:prstGeom prst="roundRect">
            <a:avLst>
              <a:gd name="adj" fmla="val 3500"/>
            </a:avLst>
          </a:prstGeom>
          <a:solidFill>
            <a:srgbClr val="F3F3F3"/>
          </a:solidFill>
          <a:ln>
            <a:noFill/>
          </a:ln>
          <a:effectLst/>
        </p:spPr>
        <p:txBody>
          <a:bodyPr rtlCol="0" anchor="ctr"/>
          <a:lstStyle/>
          <a:p>
            <a:pPr algn="ctr"/>
          </a:p>
        </p:txBody>
      </p:sp>
      <p:sp>
        <p:nvSpPr>
          <p:cNvPr id="20" name="TextBox 19"/>
          <p:cNvSpPr txBox="1"/>
          <p:nvPr/>
        </p:nvSpPr>
        <p:spPr>
          <a:xfrm>
            <a:off x="7635240" y="4462272"/>
            <a:ext cx="2743200" cy="292608"/>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INSURANCE</a:t>
            </a:r>
          </a:p>
        </p:txBody>
      </p:sp>
      <p:sp>
        <p:nvSpPr>
          <p:cNvPr id="21" name="TextBox 20"/>
          <p:cNvSpPr txBox="1"/>
          <p:nvPr/>
        </p:nvSpPr>
        <p:spPr>
          <a:xfrm>
            <a:off x="7635240" y="4773168"/>
            <a:ext cx="356616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gated upsell only</a:t>
            </a:r>
          </a:p>
        </p:txBody>
      </p:sp>
      <p:sp>
        <p:nvSpPr>
          <p:cNvPr id="22" name="Rounded Rectangle 21"/>
          <p:cNvSpPr/>
          <p:nvPr/>
        </p:nvSpPr>
        <p:spPr>
          <a:xfrm>
            <a:off x="7360920" y="5230368"/>
            <a:ext cx="4142232" cy="786384"/>
          </a:xfrm>
          <a:prstGeom prst="roundRect">
            <a:avLst>
              <a:gd name="adj" fmla="val 3500"/>
            </a:avLst>
          </a:prstGeom>
          <a:solidFill>
            <a:srgbClr val="F3F3F3"/>
          </a:solidFill>
          <a:ln>
            <a:noFill/>
          </a:ln>
          <a:effectLst/>
        </p:spPr>
        <p:txBody>
          <a:bodyPr rtlCol="0" anchor="ctr"/>
          <a:lstStyle/>
          <a:p>
            <a:pPr algn="ctr"/>
          </a:p>
        </p:txBody>
      </p:sp>
      <p:sp>
        <p:nvSpPr>
          <p:cNvPr id="23" name="TextBox 22"/>
          <p:cNvSpPr txBox="1"/>
          <p:nvPr/>
        </p:nvSpPr>
        <p:spPr>
          <a:xfrm>
            <a:off x="7635240" y="5376672"/>
            <a:ext cx="2743200" cy="292608"/>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SUPERVISOR</a:t>
            </a:r>
          </a:p>
        </p:txBody>
      </p:sp>
      <p:sp>
        <p:nvSpPr>
          <p:cNvPr id="24" name="TextBox 23"/>
          <p:cNvSpPr txBox="1"/>
          <p:nvPr/>
        </p:nvSpPr>
        <p:spPr>
          <a:xfrm>
            <a:off x="7635240" y="5687568"/>
            <a:ext cx="356616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authority cap breached</a:t>
            </a:r>
          </a:p>
        </p:txBody>
      </p:sp>
      <p:sp>
        <p:nvSpPr>
          <p:cNvPr id="25" name="TextBox 24"/>
          <p:cNvSpPr txBox="1"/>
          <p:nvPr/>
        </p:nvSpPr>
        <p:spPr>
          <a:xfrm>
            <a:off x="6446520" y="3072384"/>
            <a:ext cx="822960" cy="457200"/>
          </a:xfrm>
          <a:prstGeom prst="rect">
            <a:avLst/>
          </a:prstGeom>
          <a:noFill/>
        </p:spPr>
        <p:txBody>
          <a:bodyPr wrap="square" lIns="0" rIns="0" tIns="0" bIns="0" anchor="t">
            <a:spAutoFit/>
          </a:bodyPr>
          <a:lstStyle/>
          <a:p>
            <a:pPr algn="ctr">
              <a:spcAft>
                <a:spcPts val="0"/>
              </a:spcAft>
            </a:pPr>
            <a:r>
              <a:rPr sz="1700" b="1">
                <a:solidFill>
                  <a:srgbClr val="A1B9FC"/>
                </a:solidFill>
                <a:latin typeface="Proxima Nova"/>
              </a:rPr>
              <a:t>—›</a:t>
            </a:r>
          </a:p>
        </p:txBody>
      </p:sp>
      <p:sp>
        <p:nvSpPr>
          <p:cNvPr id="26" name="TextBox 25"/>
          <p:cNvSpPr txBox="1"/>
          <p:nvPr/>
        </p:nvSpPr>
        <p:spPr>
          <a:xfrm>
            <a:off x="685800" y="4160520"/>
            <a:ext cx="5760720" cy="320040"/>
          </a:xfrm>
          <a:prstGeom prst="rect">
            <a:avLst/>
          </a:prstGeom>
          <a:noFill/>
        </p:spPr>
        <p:txBody>
          <a:bodyPr wrap="square" lIns="0" rIns="0" tIns="0" bIns="0" anchor="t">
            <a:spAutoFit/>
          </a:bodyPr>
          <a:lstStyle/>
          <a:p>
            <a:pPr algn="l">
              <a:spcAft>
                <a:spcPts val="0"/>
              </a:spcAft>
            </a:pPr>
            <a:r>
              <a:rPr sz="1300" b="1" spc="80">
                <a:solidFill>
                  <a:srgbClr val="114FF4"/>
                </a:solidFill>
                <a:latin typeface="Proxima Nova"/>
              </a:rPr>
              <a:t>THE NON-LLM EDGES</a:t>
            </a:r>
          </a:p>
        </p:txBody>
      </p:sp>
      <p:sp>
        <p:nvSpPr>
          <p:cNvPr id="27" name="Oval 26"/>
          <p:cNvSpPr/>
          <p:nvPr/>
        </p:nvSpPr>
        <p:spPr>
          <a:xfrm>
            <a:off x="685800" y="4626864"/>
            <a:ext cx="118872" cy="118872"/>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28" name="TextBox 27"/>
          <p:cNvSpPr txBox="1"/>
          <p:nvPr/>
        </p:nvSpPr>
        <p:spPr>
          <a:xfrm>
            <a:off x="941832" y="4572000"/>
            <a:ext cx="5394960" cy="320040"/>
          </a:xfrm>
          <a:prstGeom prst="rect">
            <a:avLst/>
          </a:prstGeom>
          <a:noFill/>
        </p:spPr>
        <p:txBody>
          <a:bodyPr wrap="square" lIns="0" rIns="0" tIns="0" bIns="0" anchor="t">
            <a:spAutoFit/>
          </a:bodyPr>
          <a:lstStyle/>
          <a:p>
            <a:pPr algn="l">
              <a:spcAft>
                <a:spcPts val="0"/>
              </a:spcAft>
            </a:pPr>
            <a:r>
              <a:rPr sz="1250" b="0">
                <a:solidFill>
                  <a:srgbClr val="444444"/>
                </a:solidFill>
                <a:latin typeface="Roboto"/>
              </a:rPr>
              <a:t>DPD ≥ 61 → the bot never stays on the call</a:t>
            </a:r>
          </a:p>
        </p:txBody>
      </p:sp>
      <p:sp>
        <p:nvSpPr>
          <p:cNvPr id="29" name="Oval 28"/>
          <p:cNvSpPr/>
          <p:nvPr/>
        </p:nvSpPr>
        <p:spPr>
          <a:xfrm>
            <a:off x="685800" y="5010912"/>
            <a:ext cx="118872" cy="118872"/>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30" name="TextBox 29"/>
          <p:cNvSpPr txBox="1"/>
          <p:nvPr/>
        </p:nvSpPr>
        <p:spPr>
          <a:xfrm>
            <a:off x="941832" y="4956048"/>
            <a:ext cx="5394960" cy="320040"/>
          </a:xfrm>
          <a:prstGeom prst="rect">
            <a:avLst/>
          </a:prstGeom>
          <a:noFill/>
        </p:spPr>
        <p:txBody>
          <a:bodyPr wrap="square" lIns="0" rIns="0" tIns="0" bIns="0" anchor="t">
            <a:spAutoFit/>
          </a:bodyPr>
          <a:lstStyle/>
          <a:p>
            <a:pPr algn="l">
              <a:spcAft>
                <a:spcPts val="0"/>
              </a:spcAft>
            </a:pPr>
            <a:r>
              <a:rPr sz="1250" b="0">
                <a:solidFill>
                  <a:srgbClr val="444444"/>
                </a:solidFill>
                <a:latin typeface="Roboto"/>
              </a:rPr>
              <a:t>DND or opt-out → no voice, on any list</a:t>
            </a:r>
          </a:p>
        </p:txBody>
      </p:sp>
      <p:sp>
        <p:nvSpPr>
          <p:cNvPr id="31" name="Oval 30"/>
          <p:cNvSpPr/>
          <p:nvPr/>
        </p:nvSpPr>
        <p:spPr>
          <a:xfrm>
            <a:off x="685800" y="5394959"/>
            <a:ext cx="118872" cy="118872"/>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32" name="TextBox 31"/>
          <p:cNvSpPr txBox="1"/>
          <p:nvPr/>
        </p:nvSpPr>
        <p:spPr>
          <a:xfrm>
            <a:off x="941832" y="5340096"/>
            <a:ext cx="5394960" cy="320040"/>
          </a:xfrm>
          <a:prstGeom prst="rect">
            <a:avLst/>
          </a:prstGeom>
          <a:noFill/>
        </p:spPr>
        <p:txBody>
          <a:bodyPr wrap="square" lIns="0" rIns="0" tIns="0" bIns="0" anchor="t">
            <a:spAutoFit/>
          </a:bodyPr>
          <a:lstStyle/>
          <a:p>
            <a:pPr algn="l">
              <a:spcAft>
                <a:spcPts val="0"/>
              </a:spcAft>
            </a:pPr>
            <a:r>
              <a:rPr sz="1250" b="0">
                <a:solidFill>
                  <a:srgbClr val="444444"/>
                </a:solidFill>
                <a:latin typeface="Roboto"/>
              </a:rPr>
              <a:t>Sentiment floor breached → no upsell, ever</a:t>
            </a:r>
          </a:p>
        </p:txBody>
      </p:sp>
      <p:sp>
        <p:nvSpPr>
          <p:cNvPr id="33" name="Oval 32"/>
          <p:cNvSpPr/>
          <p:nvPr/>
        </p:nvSpPr>
        <p:spPr>
          <a:xfrm>
            <a:off x="685800" y="5779007"/>
            <a:ext cx="118872" cy="118872"/>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34" name="TextBox 33"/>
          <p:cNvSpPr txBox="1"/>
          <p:nvPr/>
        </p:nvSpPr>
        <p:spPr>
          <a:xfrm>
            <a:off x="941832" y="5724144"/>
            <a:ext cx="5394960" cy="320040"/>
          </a:xfrm>
          <a:prstGeom prst="rect">
            <a:avLst/>
          </a:prstGeom>
          <a:noFill/>
        </p:spPr>
        <p:txBody>
          <a:bodyPr wrap="square" lIns="0" rIns="0" tIns="0" bIns="0" anchor="t">
            <a:spAutoFit/>
          </a:bodyPr>
          <a:lstStyle/>
          <a:p>
            <a:pPr algn="l">
              <a:spcAft>
                <a:spcPts val="0"/>
              </a:spcAft>
            </a:pPr>
            <a:r>
              <a:rPr sz="1250" b="0">
                <a:solidFill>
                  <a:srgbClr val="444444"/>
                </a:solidFill>
                <a:latin typeface="Roboto"/>
              </a:rPr>
              <a:t>Outside 8am–7pm → the dial never happens</a:t>
            </a:r>
          </a:p>
        </p:txBody>
      </p:sp>
      <p:sp>
        <p:nvSpPr>
          <p:cNvPr id="35" name="TextBox 34"/>
          <p:cNvSpPr txBox="1"/>
          <p:nvPr/>
        </p:nvSpPr>
        <p:spPr>
          <a:xfrm>
            <a:off x="685800" y="6199632"/>
            <a:ext cx="10789920" cy="320040"/>
          </a:xfrm>
          <a:prstGeom prst="rect">
            <a:avLst/>
          </a:prstGeom>
          <a:noFill/>
        </p:spPr>
        <p:txBody>
          <a:bodyPr wrap="square" lIns="0" rIns="0" tIns="0" bIns="0" anchor="t">
            <a:spAutoFit/>
          </a:bodyPr>
          <a:lstStyle/>
          <a:p>
            <a:pPr algn="l">
              <a:spcAft>
                <a:spcPts val="0"/>
              </a:spcAft>
            </a:pPr>
            <a:r>
              <a:rPr sz="1250" b="1">
                <a:solidFill>
                  <a:srgbClr val="232323"/>
                </a:solidFill>
                <a:latin typeface="Roboto"/>
              </a:rPr>
              <a:t>The agent graph is only what the model may traverse inside those rails.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Rounded Rectangle 2"/>
          <p:cNvSpPr/>
          <p:nvPr/>
        </p:nvSpPr>
        <p:spPr>
          <a:xfrm>
            <a:off x="0" y="0"/>
            <a:ext cx="310896" cy="6858000"/>
          </a:xfrm>
          <a:prstGeom prst="roundRect">
            <a:avLst>
              <a:gd name="adj" fmla="val 0"/>
            </a:avLst>
          </a:prstGeom>
          <a:solidFill>
            <a:srgbClr val="114FF4"/>
          </a:solidFill>
          <a:ln>
            <a:noFill/>
          </a:ln>
          <a:effectLst/>
        </p:spPr>
        <p:txBody>
          <a:bodyPr rtlCol="0" anchor="ctr"/>
          <a:lstStyle/>
          <a:p>
            <a:pPr algn="ctr"/>
          </a:p>
        </p:txBody>
      </p:sp>
      <p:sp>
        <p:nvSpPr>
          <p:cNvPr id="4" name="TextBox 3"/>
          <p:cNvSpPr txBox="1"/>
          <p:nvPr/>
        </p:nvSpPr>
        <p:spPr>
          <a:xfrm>
            <a:off x="1280160" y="2331720"/>
            <a:ext cx="1828800" cy="1463040"/>
          </a:xfrm>
          <a:prstGeom prst="rect">
            <a:avLst/>
          </a:prstGeom>
          <a:noFill/>
        </p:spPr>
        <p:txBody>
          <a:bodyPr wrap="square" lIns="0" rIns="0" tIns="0" bIns="0" anchor="t">
            <a:spAutoFit/>
          </a:bodyPr>
          <a:lstStyle/>
          <a:p>
            <a:pPr algn="l">
              <a:lnSpc>
                <a:spcPct val="90000"/>
              </a:lnSpc>
              <a:spcAft>
                <a:spcPts val="0"/>
              </a:spcAft>
            </a:pPr>
            <a:r>
              <a:rPr sz="11000" b="1">
                <a:solidFill>
                  <a:srgbClr val="114FF4"/>
                </a:solidFill>
                <a:latin typeface="Proxima Nova"/>
              </a:rPr>
              <a:t>02</a:t>
            </a:r>
          </a:p>
        </p:txBody>
      </p:sp>
      <p:sp>
        <p:nvSpPr>
          <p:cNvPr id="5" name="TextBox 4"/>
          <p:cNvSpPr txBox="1"/>
          <p:nvPr/>
        </p:nvSpPr>
        <p:spPr>
          <a:xfrm>
            <a:off x="3291840" y="2514600"/>
            <a:ext cx="7863840" cy="1188720"/>
          </a:xfrm>
          <a:prstGeom prst="rect">
            <a:avLst/>
          </a:prstGeom>
          <a:noFill/>
        </p:spPr>
        <p:txBody>
          <a:bodyPr wrap="square" lIns="0" rIns="0" tIns="0" bIns="0" anchor="t">
            <a:spAutoFit/>
          </a:bodyPr>
          <a:lstStyle/>
          <a:p>
            <a:pPr algn="l">
              <a:lnSpc>
                <a:spcPct val="100000"/>
              </a:lnSpc>
              <a:spcAft>
                <a:spcPts val="0"/>
              </a:spcAft>
            </a:pPr>
            <a:r>
              <a:rPr sz="4600" b="1">
                <a:solidFill>
                  <a:srgbClr val="FFFFFF"/>
                </a:solidFill>
                <a:latin typeface="Proxima Nova"/>
              </a:rPr>
              <a:t>CUSTOMISABILITY</a:t>
            </a:r>
          </a:p>
        </p:txBody>
      </p:sp>
      <p:sp>
        <p:nvSpPr>
          <p:cNvPr id="6" name="TextBox 5"/>
          <p:cNvSpPr txBox="1"/>
          <p:nvPr/>
        </p:nvSpPr>
        <p:spPr>
          <a:xfrm>
            <a:off x="3291840" y="3767328"/>
            <a:ext cx="7680960" cy="822960"/>
          </a:xfrm>
          <a:prstGeom prst="rect">
            <a:avLst/>
          </a:prstGeom>
          <a:noFill/>
        </p:spPr>
        <p:txBody>
          <a:bodyPr wrap="square" lIns="0" rIns="0" tIns="0" bIns="0" anchor="t">
            <a:spAutoFit/>
          </a:bodyPr>
          <a:lstStyle/>
          <a:p>
            <a:pPr algn="l">
              <a:lnSpc>
                <a:spcPct val="140000"/>
              </a:lnSpc>
              <a:spcAft>
                <a:spcPts val="0"/>
              </a:spcAft>
            </a:pPr>
            <a:r>
              <a:rPr sz="1600" b="0">
                <a:solidFill>
                  <a:srgbClr val="A7A7A7"/>
                </a:solidFill>
                <a:latin typeface="Roboto"/>
              </a:rPr>
              <a:t>The demo is one agent. The product is the studio a collections head uses to ship the next fifty — without forking the brain.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02</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CUSTOMISABILITY</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400" b="1">
                <a:solidFill>
                  <a:srgbClr val="232323"/>
                </a:solidFill>
                <a:latin typeface="Proxima Nova"/>
              </a:rPr>
              <a:t>THREE LAYERS YOU CAN EDIT.
ONE YOU CANNOT.</a:t>
            </a:r>
          </a:p>
        </p:txBody>
      </p:sp>
      <p:sp>
        <p:nvSpPr>
          <p:cNvPr id="6" name="Rounded Rectangle 5"/>
          <p:cNvSpPr/>
          <p:nvPr/>
        </p:nvSpPr>
        <p:spPr>
          <a:xfrm>
            <a:off x="685800" y="2606040"/>
            <a:ext cx="2551176" cy="3063240"/>
          </a:xfrm>
          <a:prstGeom prst="roundRect">
            <a:avLst>
              <a:gd name="adj" fmla="val 3500"/>
            </a:avLst>
          </a:prstGeom>
          <a:solidFill>
            <a:srgbClr val="EFF3FE"/>
          </a:solidFill>
          <a:ln>
            <a:noFill/>
          </a:ln>
          <a:effectLst/>
        </p:spPr>
        <p:txBody>
          <a:bodyPr rtlCol="0" anchor="ctr"/>
          <a:lstStyle/>
          <a:p>
            <a:pPr algn="ctr"/>
          </a:p>
        </p:txBody>
      </p:sp>
      <p:sp>
        <p:nvSpPr>
          <p:cNvPr id="7" name="Oval 6"/>
          <p:cNvSpPr/>
          <p:nvPr/>
        </p:nvSpPr>
        <p:spPr>
          <a:xfrm>
            <a:off x="960120" y="2834640"/>
            <a:ext cx="310896" cy="310896"/>
          </a:xfrm>
          <a:prstGeom prst="ellipse">
            <a:avLst/>
          </a:prstGeom>
          <a:solidFill>
            <a:srgbClr val="114FF4"/>
          </a:solidFill>
          <a:ln>
            <a:noFill/>
          </a:ln>
          <a:effectLst/>
        </p:spPr>
        <p:txBody>
          <a:bodyPr rtlCol="0" anchor="ctr" wrap="none" lIns="0" rIns="0" tIns="0" bIns="0"/>
          <a:lstStyle/>
          <a:p>
            <a:pPr algn="ctr"/>
            <a:r>
              <a:rPr sz="1300" b="1">
                <a:solidFill>
                  <a:srgbClr val="FFFFFF"/>
                </a:solidFill>
                <a:latin typeface="Proxima Nova"/>
              </a:rPr>
              <a:t>1</a:t>
            </a:r>
          </a:p>
        </p:txBody>
      </p:sp>
      <p:sp>
        <p:nvSpPr>
          <p:cNvPr id="8" name="TextBox 7"/>
          <p:cNvSpPr txBox="1"/>
          <p:nvPr/>
        </p:nvSpPr>
        <p:spPr>
          <a:xfrm>
            <a:off x="960120" y="3310128"/>
            <a:ext cx="2194560" cy="365760"/>
          </a:xfrm>
          <a:prstGeom prst="rect">
            <a:avLst/>
          </a:prstGeom>
          <a:noFill/>
        </p:spPr>
        <p:txBody>
          <a:bodyPr wrap="square" lIns="0" rIns="0" tIns="0" bIns="0" anchor="t">
            <a:spAutoFit/>
          </a:bodyPr>
          <a:lstStyle/>
          <a:p>
            <a:pPr algn="l">
              <a:spcAft>
                <a:spcPts val="0"/>
              </a:spcAft>
            </a:pPr>
            <a:r>
              <a:rPr sz="1450" b="1">
                <a:solidFill>
                  <a:srgbClr val="232323"/>
                </a:solidFill>
                <a:latin typeface="Proxima Nova"/>
              </a:rPr>
              <a:t>SKILLS</a:t>
            </a:r>
          </a:p>
        </p:txBody>
      </p:sp>
      <p:sp>
        <p:nvSpPr>
          <p:cNvPr id="9" name="TextBox 8"/>
          <p:cNvSpPr txBox="1"/>
          <p:nvPr/>
        </p:nvSpPr>
        <p:spPr>
          <a:xfrm>
            <a:off x="960120" y="3675887"/>
            <a:ext cx="2194560" cy="292608"/>
          </a:xfrm>
          <a:prstGeom prst="rect">
            <a:avLst/>
          </a:prstGeom>
          <a:noFill/>
        </p:spPr>
        <p:txBody>
          <a:bodyPr wrap="square" lIns="0" rIns="0" tIns="0" bIns="0" anchor="t">
            <a:spAutoFit/>
          </a:bodyPr>
          <a:lstStyle/>
          <a:p>
            <a:pPr algn="l">
              <a:spcAft>
                <a:spcPts val="0"/>
              </a:spcAft>
            </a:pPr>
            <a:r>
              <a:rPr sz="1050" b="1">
                <a:solidFill>
                  <a:srgbClr val="114FF4"/>
                </a:solidFill>
                <a:latin typeface="Roboto"/>
              </a:rPr>
              <a:t>Procedural knowledge</a:t>
            </a:r>
          </a:p>
        </p:txBody>
      </p:sp>
      <p:sp>
        <p:nvSpPr>
          <p:cNvPr id="10" name="TextBox 9"/>
          <p:cNvSpPr txBox="1"/>
          <p:nvPr/>
        </p:nvSpPr>
        <p:spPr>
          <a:xfrm>
            <a:off x="960120" y="4069080"/>
            <a:ext cx="2121408" cy="146304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A folder: SKILL.md, gold dialogues, objections, optional scripts. Loaded only when the turn is about that — so voice stays fast.</a:t>
            </a:r>
          </a:p>
        </p:txBody>
      </p:sp>
      <p:sp>
        <p:nvSpPr>
          <p:cNvPr id="11" name="Rounded Rectangle 10"/>
          <p:cNvSpPr/>
          <p:nvPr/>
        </p:nvSpPr>
        <p:spPr>
          <a:xfrm>
            <a:off x="3401568" y="2606040"/>
            <a:ext cx="2551176" cy="3063240"/>
          </a:xfrm>
          <a:prstGeom prst="roundRect">
            <a:avLst>
              <a:gd name="adj" fmla="val 3500"/>
            </a:avLst>
          </a:prstGeom>
          <a:solidFill>
            <a:srgbClr val="EFF3FE"/>
          </a:solidFill>
          <a:ln>
            <a:noFill/>
          </a:ln>
          <a:effectLst/>
        </p:spPr>
        <p:txBody>
          <a:bodyPr rtlCol="0" anchor="ctr"/>
          <a:lstStyle/>
          <a:p>
            <a:pPr algn="ctr"/>
          </a:p>
        </p:txBody>
      </p:sp>
      <p:sp>
        <p:nvSpPr>
          <p:cNvPr id="12" name="Oval 11"/>
          <p:cNvSpPr/>
          <p:nvPr/>
        </p:nvSpPr>
        <p:spPr>
          <a:xfrm>
            <a:off x="3675888" y="2834640"/>
            <a:ext cx="310896" cy="310896"/>
          </a:xfrm>
          <a:prstGeom prst="ellipse">
            <a:avLst/>
          </a:prstGeom>
          <a:solidFill>
            <a:srgbClr val="114FF4"/>
          </a:solidFill>
          <a:ln>
            <a:noFill/>
          </a:ln>
          <a:effectLst/>
        </p:spPr>
        <p:txBody>
          <a:bodyPr rtlCol="0" anchor="ctr" wrap="none" lIns="0" rIns="0" tIns="0" bIns="0"/>
          <a:lstStyle/>
          <a:p>
            <a:pPr algn="ctr"/>
            <a:r>
              <a:rPr sz="1300" b="1">
                <a:solidFill>
                  <a:srgbClr val="FFFFFF"/>
                </a:solidFill>
                <a:latin typeface="Proxima Nova"/>
              </a:rPr>
              <a:t>2</a:t>
            </a:r>
          </a:p>
        </p:txBody>
      </p:sp>
      <p:sp>
        <p:nvSpPr>
          <p:cNvPr id="13" name="TextBox 12"/>
          <p:cNvSpPr txBox="1"/>
          <p:nvPr/>
        </p:nvSpPr>
        <p:spPr>
          <a:xfrm>
            <a:off x="3675888" y="3310128"/>
            <a:ext cx="2194560" cy="365760"/>
          </a:xfrm>
          <a:prstGeom prst="rect">
            <a:avLst/>
          </a:prstGeom>
          <a:noFill/>
        </p:spPr>
        <p:txBody>
          <a:bodyPr wrap="square" lIns="0" rIns="0" tIns="0" bIns="0" anchor="t">
            <a:spAutoFit/>
          </a:bodyPr>
          <a:lstStyle/>
          <a:p>
            <a:pPr algn="l">
              <a:spcAft>
                <a:spcPts val="0"/>
              </a:spcAft>
            </a:pPr>
            <a:r>
              <a:rPr sz="1450" b="1">
                <a:solidFill>
                  <a:srgbClr val="232323"/>
                </a:solidFill>
                <a:latin typeface="Proxima Nova"/>
              </a:rPr>
              <a:t>AGENTS</a:t>
            </a:r>
          </a:p>
        </p:txBody>
      </p:sp>
      <p:sp>
        <p:nvSpPr>
          <p:cNvPr id="14" name="TextBox 13"/>
          <p:cNvSpPr txBox="1"/>
          <p:nvPr/>
        </p:nvSpPr>
        <p:spPr>
          <a:xfrm>
            <a:off x="3675888" y="3675887"/>
            <a:ext cx="2194560" cy="292608"/>
          </a:xfrm>
          <a:prstGeom prst="rect">
            <a:avLst/>
          </a:prstGeom>
          <a:noFill/>
        </p:spPr>
        <p:txBody>
          <a:bodyPr wrap="square" lIns="0" rIns="0" tIns="0" bIns="0" anchor="t">
            <a:spAutoFit/>
          </a:bodyPr>
          <a:lstStyle/>
          <a:p>
            <a:pPr algn="l">
              <a:spcAft>
                <a:spcPts val="0"/>
              </a:spcAft>
            </a:pPr>
            <a:r>
              <a:rPr sz="1050" b="1">
                <a:solidFill>
                  <a:srgbClr val="114FF4"/>
                </a:solidFill>
                <a:latin typeface="Roboto"/>
              </a:rPr>
              <a:t>Identity and order</a:t>
            </a:r>
          </a:p>
        </p:txBody>
      </p:sp>
      <p:sp>
        <p:nvSpPr>
          <p:cNvPr id="15" name="TextBox 14"/>
          <p:cNvSpPr txBox="1"/>
          <p:nvPr/>
        </p:nvSpPr>
        <p:spPr>
          <a:xfrm>
            <a:off x="3675888" y="4069080"/>
            <a:ext cx="2121408" cy="146304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Who this specialist is, its channels, its skills, the tools it may call, and exactly which agents it may hand to.</a:t>
            </a:r>
          </a:p>
        </p:txBody>
      </p:sp>
      <p:sp>
        <p:nvSpPr>
          <p:cNvPr id="16" name="Rounded Rectangle 15"/>
          <p:cNvSpPr/>
          <p:nvPr/>
        </p:nvSpPr>
        <p:spPr>
          <a:xfrm>
            <a:off x="6117336" y="2606040"/>
            <a:ext cx="2551176" cy="3063240"/>
          </a:xfrm>
          <a:prstGeom prst="roundRect">
            <a:avLst>
              <a:gd name="adj" fmla="val 3500"/>
            </a:avLst>
          </a:prstGeom>
          <a:solidFill>
            <a:srgbClr val="EFF3FE"/>
          </a:solidFill>
          <a:ln>
            <a:noFill/>
          </a:ln>
          <a:effectLst/>
        </p:spPr>
        <p:txBody>
          <a:bodyPr rtlCol="0" anchor="ctr"/>
          <a:lstStyle/>
          <a:p>
            <a:pPr algn="ctr"/>
          </a:p>
        </p:txBody>
      </p:sp>
      <p:sp>
        <p:nvSpPr>
          <p:cNvPr id="17" name="Oval 16"/>
          <p:cNvSpPr/>
          <p:nvPr/>
        </p:nvSpPr>
        <p:spPr>
          <a:xfrm>
            <a:off x="6391656" y="2834640"/>
            <a:ext cx="310896" cy="310896"/>
          </a:xfrm>
          <a:prstGeom prst="ellipse">
            <a:avLst/>
          </a:prstGeom>
          <a:solidFill>
            <a:srgbClr val="114FF4"/>
          </a:solidFill>
          <a:ln>
            <a:noFill/>
          </a:ln>
          <a:effectLst/>
        </p:spPr>
        <p:txBody>
          <a:bodyPr rtlCol="0" anchor="ctr" wrap="none" lIns="0" rIns="0" tIns="0" bIns="0"/>
          <a:lstStyle/>
          <a:p>
            <a:pPr algn="ctr"/>
            <a:r>
              <a:rPr sz="1300" b="1">
                <a:solidFill>
                  <a:srgbClr val="FFFFFF"/>
                </a:solidFill>
                <a:latin typeface="Proxima Nova"/>
              </a:rPr>
              <a:t>3</a:t>
            </a:r>
          </a:p>
        </p:txBody>
      </p:sp>
      <p:sp>
        <p:nvSpPr>
          <p:cNvPr id="18" name="TextBox 17"/>
          <p:cNvSpPr txBox="1"/>
          <p:nvPr/>
        </p:nvSpPr>
        <p:spPr>
          <a:xfrm>
            <a:off x="6391656" y="3310128"/>
            <a:ext cx="2194560" cy="365760"/>
          </a:xfrm>
          <a:prstGeom prst="rect">
            <a:avLst/>
          </a:prstGeom>
          <a:noFill/>
        </p:spPr>
        <p:txBody>
          <a:bodyPr wrap="square" lIns="0" rIns="0" tIns="0" bIns="0" anchor="t">
            <a:spAutoFit/>
          </a:bodyPr>
          <a:lstStyle/>
          <a:p>
            <a:pPr algn="l">
              <a:spcAft>
                <a:spcPts val="0"/>
              </a:spcAft>
            </a:pPr>
            <a:r>
              <a:rPr sz="1450" b="1">
                <a:solidFill>
                  <a:srgbClr val="232323"/>
                </a:solidFill>
                <a:latin typeface="Proxima Nova"/>
              </a:rPr>
              <a:t>CONNECTORS</a:t>
            </a:r>
          </a:p>
        </p:txBody>
      </p:sp>
      <p:sp>
        <p:nvSpPr>
          <p:cNvPr id="19" name="TextBox 18"/>
          <p:cNvSpPr txBox="1"/>
          <p:nvPr/>
        </p:nvSpPr>
        <p:spPr>
          <a:xfrm>
            <a:off x="6391656" y="3675887"/>
            <a:ext cx="2194560" cy="292608"/>
          </a:xfrm>
          <a:prstGeom prst="rect">
            <a:avLst/>
          </a:prstGeom>
          <a:noFill/>
        </p:spPr>
        <p:txBody>
          <a:bodyPr wrap="square" lIns="0" rIns="0" tIns="0" bIns="0" anchor="t">
            <a:spAutoFit/>
          </a:bodyPr>
          <a:lstStyle/>
          <a:p>
            <a:pPr algn="l">
              <a:spcAft>
                <a:spcPts val="0"/>
              </a:spcAft>
            </a:pPr>
            <a:r>
              <a:rPr sz="1050" b="1">
                <a:solidFill>
                  <a:srgbClr val="114FF4"/>
                </a:solidFill>
                <a:latin typeface="Roboto"/>
              </a:rPr>
              <a:t>How it touches systems</a:t>
            </a:r>
          </a:p>
        </p:txBody>
      </p:sp>
      <p:sp>
        <p:nvSpPr>
          <p:cNvPr id="20" name="TextBox 19"/>
          <p:cNvSpPr txBox="1"/>
          <p:nvPr/>
        </p:nvSpPr>
        <p:spPr>
          <a:xfrm>
            <a:off x="6391656" y="4069080"/>
            <a:ext cx="2121408" cy="146304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MCP servers with auth, allowed tools, data class, timeout and a circuit breaker. Core banking, UPI, bureau, WhatsApp, NDNC, ticketing.</a:t>
            </a:r>
          </a:p>
        </p:txBody>
      </p:sp>
      <p:sp>
        <p:nvSpPr>
          <p:cNvPr id="21" name="Rounded Rectangle 20"/>
          <p:cNvSpPr/>
          <p:nvPr/>
        </p:nvSpPr>
        <p:spPr>
          <a:xfrm>
            <a:off x="8833104" y="2606040"/>
            <a:ext cx="2551176" cy="3063240"/>
          </a:xfrm>
          <a:prstGeom prst="roundRect">
            <a:avLst>
              <a:gd name="adj" fmla="val 3500"/>
            </a:avLst>
          </a:prstGeom>
          <a:solidFill>
            <a:srgbClr val="2E2E2E"/>
          </a:solidFill>
          <a:ln>
            <a:noFill/>
          </a:ln>
          <a:effectLst/>
        </p:spPr>
        <p:txBody>
          <a:bodyPr rtlCol="0" anchor="ctr"/>
          <a:lstStyle/>
          <a:p>
            <a:pPr algn="ctr"/>
          </a:p>
        </p:txBody>
      </p:sp>
      <p:sp>
        <p:nvSpPr>
          <p:cNvPr id="22" name="Oval 21"/>
          <p:cNvSpPr/>
          <p:nvPr/>
        </p:nvSpPr>
        <p:spPr>
          <a:xfrm>
            <a:off x="9107424" y="2834640"/>
            <a:ext cx="310896" cy="310896"/>
          </a:xfrm>
          <a:prstGeom prst="ellipse">
            <a:avLst/>
          </a:prstGeom>
          <a:solidFill>
            <a:srgbClr val="114FF4"/>
          </a:solidFill>
          <a:ln>
            <a:noFill/>
          </a:ln>
          <a:effectLst/>
        </p:spPr>
        <p:txBody>
          <a:bodyPr rtlCol="0" anchor="ctr" wrap="none" lIns="0" rIns="0" tIns="0" bIns="0"/>
          <a:lstStyle/>
          <a:p>
            <a:pPr algn="ctr"/>
            <a:r>
              <a:rPr sz="1300" b="1">
                <a:solidFill>
                  <a:srgbClr val="FFFFFF"/>
                </a:solidFill>
                <a:latin typeface="Proxima Nova"/>
              </a:rPr>
              <a:t>4</a:t>
            </a:r>
          </a:p>
        </p:txBody>
      </p:sp>
      <p:sp>
        <p:nvSpPr>
          <p:cNvPr id="23" name="TextBox 22"/>
          <p:cNvSpPr txBox="1"/>
          <p:nvPr/>
        </p:nvSpPr>
        <p:spPr>
          <a:xfrm>
            <a:off x="9107424" y="3310128"/>
            <a:ext cx="2194560" cy="365760"/>
          </a:xfrm>
          <a:prstGeom prst="rect">
            <a:avLst/>
          </a:prstGeom>
          <a:noFill/>
        </p:spPr>
        <p:txBody>
          <a:bodyPr wrap="square" lIns="0" rIns="0" tIns="0" bIns="0" anchor="t">
            <a:spAutoFit/>
          </a:bodyPr>
          <a:lstStyle/>
          <a:p>
            <a:pPr algn="l">
              <a:spcAft>
                <a:spcPts val="0"/>
              </a:spcAft>
            </a:pPr>
            <a:r>
              <a:rPr sz="1450" b="1">
                <a:solidFill>
                  <a:srgbClr val="FFFFFF"/>
                </a:solidFill>
                <a:latin typeface="Proxima Nova"/>
              </a:rPr>
              <a:t>POLICY ENGINES</a:t>
            </a:r>
          </a:p>
        </p:txBody>
      </p:sp>
      <p:sp>
        <p:nvSpPr>
          <p:cNvPr id="24" name="TextBox 23"/>
          <p:cNvSpPr txBox="1"/>
          <p:nvPr/>
        </p:nvSpPr>
        <p:spPr>
          <a:xfrm>
            <a:off x="9107424" y="3675887"/>
            <a:ext cx="2194560" cy="292608"/>
          </a:xfrm>
          <a:prstGeom prst="rect">
            <a:avLst/>
          </a:prstGeom>
          <a:noFill/>
        </p:spPr>
        <p:txBody>
          <a:bodyPr wrap="square" lIns="0" rIns="0" tIns="0" bIns="0" anchor="t">
            <a:spAutoFit/>
          </a:bodyPr>
          <a:lstStyle/>
          <a:p>
            <a:pPr algn="l">
              <a:spcAft>
                <a:spcPts val="0"/>
              </a:spcAft>
            </a:pPr>
            <a:r>
              <a:rPr sz="1050" b="1">
                <a:solidFill>
                  <a:srgbClr val="A1B9FC"/>
                </a:solidFill>
                <a:latin typeface="Roboto"/>
              </a:rPr>
              <a:t>Not editable. On purpose.</a:t>
            </a:r>
          </a:p>
        </p:txBody>
      </p:sp>
      <p:sp>
        <p:nvSpPr>
          <p:cNvPr id="25" name="TextBox 24"/>
          <p:cNvSpPr txBox="1"/>
          <p:nvPr/>
        </p:nvSpPr>
        <p:spPr>
          <a:xfrm>
            <a:off x="9107424" y="4069080"/>
            <a:ext cx="2121408" cy="1463040"/>
          </a:xfrm>
          <a:prstGeom prst="rect">
            <a:avLst/>
          </a:prstGeom>
          <a:noFill/>
        </p:spPr>
        <p:txBody>
          <a:bodyPr wrap="square" lIns="0" rIns="0" tIns="0" bIns="0" anchor="t">
            <a:spAutoFit/>
          </a:bodyPr>
          <a:lstStyle/>
          <a:p>
            <a:pPr algn="l">
              <a:lnSpc>
                <a:spcPct val="135000"/>
              </a:lnSpc>
              <a:spcAft>
                <a:spcPts val="0"/>
              </a:spcAft>
            </a:pPr>
            <a:r>
              <a:rPr sz="1050" b="0">
                <a:solidFill>
                  <a:srgbClr val="D3D3D3"/>
                </a:solidFill>
                <a:latin typeface="Roboto"/>
              </a:rPr>
              <a:t>Reco, treatment, authority, live QA, consent, contact policy. Code with a log. A card can never grant authority the matrix does not.</a:t>
            </a:r>
          </a:p>
        </p:txBody>
      </p:sp>
      <p:sp>
        <p:nvSpPr>
          <p:cNvPr id="26" name="TextBox 25"/>
          <p:cNvSpPr txBox="1"/>
          <p:nvPr/>
        </p:nvSpPr>
        <p:spPr>
          <a:xfrm>
            <a:off x="685800" y="5989320"/>
            <a:ext cx="10789920" cy="365760"/>
          </a:xfrm>
          <a:prstGeom prst="rect">
            <a:avLst/>
          </a:prstGeom>
          <a:noFill/>
        </p:spPr>
        <p:txBody>
          <a:bodyPr wrap="square" lIns="0" rIns="0" tIns="0" bIns="0" anchor="t">
            <a:spAutoFit/>
          </a:bodyPr>
          <a:lstStyle/>
          <a:p>
            <a:pPr algn="l">
              <a:spcAft>
                <a:spcPts val="0"/>
              </a:spcAft>
            </a:pPr>
            <a:r>
              <a:rPr sz="1350" b="1">
                <a:solidFill>
                  <a:srgbClr val="232323"/>
                </a:solidFill>
                <a:latin typeface="Roboto"/>
              </a:rPr>
              <a:t>Users customise by forking a skill — tone, language, product line — not by rewriting the promise-to-pay tool.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02</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CUSTOMISABILITY</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400" b="1">
                <a:solidFill>
                  <a:srgbClr val="232323"/>
                </a:solidFill>
                <a:latin typeface="Proxima Nova"/>
              </a:rPr>
              <a:t>AN AGENT IS A VERSIONED CARD,
NOT A PROMPT DUMP</a:t>
            </a:r>
          </a:p>
        </p:txBody>
      </p:sp>
      <p:sp>
        <p:nvSpPr>
          <p:cNvPr id="6" name="TextBox 5"/>
          <p:cNvSpPr txBox="1"/>
          <p:nvPr/>
        </p:nvSpPr>
        <p:spPr>
          <a:xfrm>
            <a:off x="685800" y="2514600"/>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Identity</a:t>
            </a:r>
          </a:p>
        </p:txBody>
      </p:sp>
      <p:sp>
        <p:nvSpPr>
          <p:cNvPr id="7" name="TextBox 6"/>
          <p:cNvSpPr txBox="1"/>
          <p:nvPr/>
        </p:nvSpPr>
        <p:spPr>
          <a:xfrm>
            <a:off x="2651760" y="2514600"/>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name, purpose, channels — voice / WhatsApp / SMS / MCP</a:t>
            </a:r>
          </a:p>
        </p:txBody>
      </p:sp>
      <p:sp>
        <p:nvSpPr>
          <p:cNvPr id="8" name="TextBox 7"/>
          <p:cNvSpPr txBox="1"/>
          <p:nvPr/>
        </p:nvSpPr>
        <p:spPr>
          <a:xfrm>
            <a:off x="685800" y="2898648"/>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Persona</a:t>
            </a:r>
          </a:p>
        </p:txBody>
      </p:sp>
      <p:sp>
        <p:nvSpPr>
          <p:cNvPr id="9" name="TextBox 8"/>
          <p:cNvSpPr txBox="1"/>
          <p:nvPr/>
        </p:nvSpPr>
        <p:spPr>
          <a:xfrm>
            <a:off x="2651760" y="2898648"/>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voice from the TTS catalog, languages, tone sliders</a:t>
            </a:r>
          </a:p>
        </p:txBody>
      </p:sp>
      <p:sp>
        <p:nvSpPr>
          <p:cNvPr id="10" name="TextBox 9"/>
          <p:cNvSpPr txBox="1"/>
          <p:nvPr/>
        </p:nvSpPr>
        <p:spPr>
          <a:xfrm>
            <a:off x="685800" y="3282696"/>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Skills</a:t>
            </a:r>
          </a:p>
        </p:txBody>
      </p:sp>
      <p:sp>
        <p:nvSpPr>
          <p:cNvPr id="11" name="TextBox 10"/>
          <p:cNvSpPr txBox="1"/>
          <p:nvPr/>
        </p:nvSpPr>
        <p:spPr>
          <a:xfrm>
            <a:off x="2651760" y="3282696"/>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attach 1–N skill packs, or fork one and edit it</a:t>
            </a:r>
          </a:p>
        </p:txBody>
      </p:sp>
      <p:sp>
        <p:nvSpPr>
          <p:cNvPr id="12" name="TextBox 11"/>
          <p:cNvSpPr txBox="1"/>
          <p:nvPr/>
        </p:nvSpPr>
        <p:spPr>
          <a:xfrm>
            <a:off x="685800" y="3666744"/>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Tools</a:t>
            </a:r>
          </a:p>
        </p:txBody>
      </p:sp>
      <p:sp>
        <p:nvSpPr>
          <p:cNvPr id="13" name="TextBox 12"/>
          <p:cNvSpPr txBox="1"/>
          <p:nvPr/>
        </p:nvSpPr>
        <p:spPr>
          <a:xfrm>
            <a:off x="2651760" y="3666744"/>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a subset of the 24-tool catalog, plus MCP servers</a:t>
            </a:r>
          </a:p>
        </p:txBody>
      </p:sp>
      <p:sp>
        <p:nvSpPr>
          <p:cNvPr id="14" name="TextBox 13"/>
          <p:cNvSpPr txBox="1"/>
          <p:nvPr/>
        </p:nvSpPr>
        <p:spPr>
          <a:xfrm>
            <a:off x="685800" y="4050791"/>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Handoffs</a:t>
            </a:r>
          </a:p>
        </p:txBody>
      </p:sp>
      <p:sp>
        <p:nvSpPr>
          <p:cNvPr id="15" name="TextBox 14"/>
          <p:cNvSpPr txBox="1"/>
          <p:nvPr/>
        </p:nvSpPr>
        <p:spPr>
          <a:xfrm>
            <a:off x="2651760" y="4050791"/>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an allowlist of other agents. Never 'call anyone'</a:t>
            </a:r>
          </a:p>
        </p:txBody>
      </p:sp>
      <p:sp>
        <p:nvSpPr>
          <p:cNvPr id="16" name="TextBox 15"/>
          <p:cNvSpPr txBox="1"/>
          <p:nvPr/>
        </p:nvSpPr>
        <p:spPr>
          <a:xfrm>
            <a:off x="685800" y="4434840"/>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Policy bindings</a:t>
            </a:r>
          </a:p>
        </p:txBody>
      </p:sp>
      <p:sp>
        <p:nvSpPr>
          <p:cNvPr id="17" name="TextBox 16"/>
          <p:cNvSpPr txBox="1"/>
          <p:nvPr/>
        </p:nvSpPr>
        <p:spPr>
          <a:xfrm>
            <a:off x="2651760" y="4434840"/>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which engines it must consult. Not optional</a:t>
            </a:r>
          </a:p>
        </p:txBody>
      </p:sp>
      <p:sp>
        <p:nvSpPr>
          <p:cNvPr id="18" name="TextBox 17"/>
          <p:cNvSpPr txBox="1"/>
          <p:nvPr/>
        </p:nvSpPr>
        <p:spPr>
          <a:xfrm>
            <a:off x="685800" y="4818888"/>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Memory scope</a:t>
            </a:r>
          </a:p>
        </p:txBody>
      </p:sp>
      <p:sp>
        <p:nvSpPr>
          <p:cNvPr id="19" name="TextBox 18"/>
          <p:cNvSpPr txBox="1"/>
          <p:nvPr/>
        </p:nvSpPr>
        <p:spPr>
          <a:xfrm>
            <a:off x="2651760" y="4818888"/>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this call / this customer / this case / never</a:t>
            </a:r>
          </a:p>
        </p:txBody>
      </p:sp>
      <p:sp>
        <p:nvSpPr>
          <p:cNvPr id="20" name="TextBox 19"/>
          <p:cNvSpPr txBox="1"/>
          <p:nvPr/>
        </p:nvSpPr>
        <p:spPr>
          <a:xfrm>
            <a:off x="685800" y="5202936"/>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Human gates</a:t>
            </a:r>
          </a:p>
        </p:txBody>
      </p:sp>
      <p:sp>
        <p:nvSpPr>
          <p:cNvPr id="21" name="TextBox 20"/>
          <p:cNvSpPr txBox="1"/>
          <p:nvPr/>
        </p:nvSpPr>
        <p:spPr>
          <a:xfrm>
            <a:off x="2651760" y="5202936"/>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which writes need a floor-agent confirmation</a:t>
            </a:r>
          </a:p>
        </p:txBody>
      </p:sp>
      <p:sp>
        <p:nvSpPr>
          <p:cNvPr id="22" name="TextBox 21"/>
          <p:cNvSpPr txBox="1"/>
          <p:nvPr/>
        </p:nvSpPr>
        <p:spPr>
          <a:xfrm>
            <a:off x="685800" y="5586983"/>
            <a:ext cx="1874519" cy="292608"/>
          </a:xfrm>
          <a:prstGeom prst="rect">
            <a:avLst/>
          </a:prstGeom>
          <a:noFill/>
        </p:spPr>
        <p:txBody>
          <a:bodyPr wrap="square" lIns="0" rIns="0" tIns="0" bIns="0" anchor="t">
            <a:spAutoFit/>
          </a:bodyPr>
          <a:lstStyle/>
          <a:p>
            <a:pPr algn="l">
              <a:spcAft>
                <a:spcPts val="0"/>
              </a:spcAft>
            </a:pPr>
            <a:r>
              <a:rPr sz="1250" b="1">
                <a:solidFill>
                  <a:srgbClr val="114FF4"/>
                </a:solidFill>
                <a:latin typeface="Proxima Nova"/>
              </a:rPr>
              <a:t>Eval suite</a:t>
            </a:r>
          </a:p>
        </p:txBody>
      </p:sp>
      <p:sp>
        <p:nvSpPr>
          <p:cNvPr id="23" name="TextBox 22"/>
          <p:cNvSpPr txBox="1"/>
          <p:nvPr/>
        </p:nvSpPr>
        <p:spPr>
          <a:xfrm>
            <a:off x="2651760" y="5586983"/>
            <a:ext cx="4572000" cy="292608"/>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sandbox scenarios that must pass before publish</a:t>
            </a:r>
          </a:p>
        </p:txBody>
      </p:sp>
      <p:sp>
        <p:nvSpPr>
          <p:cNvPr id="24" name="Rounded Rectangle 23"/>
          <p:cNvSpPr/>
          <p:nvPr/>
        </p:nvSpPr>
        <p:spPr>
          <a:xfrm>
            <a:off x="7360920" y="2395728"/>
            <a:ext cx="4142232" cy="3703320"/>
          </a:xfrm>
          <a:prstGeom prst="roundRect">
            <a:avLst>
              <a:gd name="adj" fmla="val 3500"/>
            </a:avLst>
          </a:prstGeom>
          <a:solidFill>
            <a:srgbClr val="2E2E2E"/>
          </a:solidFill>
          <a:ln>
            <a:noFill/>
          </a:ln>
          <a:effectLst/>
        </p:spPr>
        <p:txBody>
          <a:bodyPr rtlCol="0" anchor="ctr"/>
          <a:lstStyle/>
          <a:p>
            <a:pPr algn="ctr"/>
          </a:p>
        </p:txBody>
      </p:sp>
      <p:sp>
        <p:nvSpPr>
          <p:cNvPr id="25" name="TextBox 24"/>
          <p:cNvSpPr txBox="1"/>
          <p:nvPr/>
        </p:nvSpPr>
        <p:spPr>
          <a:xfrm>
            <a:off x="7680960" y="2697480"/>
            <a:ext cx="3566160" cy="365760"/>
          </a:xfrm>
          <a:prstGeom prst="rect">
            <a:avLst/>
          </a:prstGeom>
          <a:noFill/>
        </p:spPr>
        <p:txBody>
          <a:bodyPr wrap="square" lIns="0" rIns="0" tIns="0" bIns="0" anchor="t">
            <a:spAutoFit/>
          </a:bodyPr>
          <a:lstStyle/>
          <a:p>
            <a:pPr algn="l">
              <a:lnSpc>
                <a:spcPct val="115000"/>
              </a:lnSpc>
              <a:spcAft>
                <a:spcPts val="0"/>
              </a:spcAft>
            </a:pPr>
            <a:r>
              <a:rPr sz="1700" b="1">
                <a:solidFill>
                  <a:srgbClr val="FFFFFF"/>
                </a:solidFill>
                <a:latin typeface="Proxima Nova"/>
              </a:rPr>
              <a:t>Publish is a gate,
not a save button</a:t>
            </a:r>
          </a:p>
        </p:txBody>
      </p:sp>
      <p:sp>
        <p:nvSpPr>
          <p:cNvPr id="26" name="Oval 25"/>
          <p:cNvSpPr/>
          <p:nvPr/>
        </p:nvSpPr>
        <p:spPr>
          <a:xfrm>
            <a:off x="7680960" y="3566160"/>
            <a:ext cx="118872" cy="118872"/>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7" name="TextBox 26"/>
          <p:cNvSpPr txBox="1"/>
          <p:nvPr/>
        </p:nvSpPr>
        <p:spPr>
          <a:xfrm>
            <a:off x="7936992" y="3502152"/>
            <a:ext cx="3337560" cy="502920"/>
          </a:xfrm>
          <a:prstGeom prst="rect">
            <a:avLst/>
          </a:prstGeom>
          <a:noFill/>
        </p:spPr>
        <p:txBody>
          <a:bodyPr wrap="square" lIns="0" rIns="0" tIns="0" bIns="0" anchor="t">
            <a:spAutoFit/>
          </a:bodyPr>
          <a:lstStyle/>
          <a:p>
            <a:pPr algn="l">
              <a:lnSpc>
                <a:spcPct val="130000"/>
              </a:lnSpc>
              <a:spcAft>
                <a:spcPts val="0"/>
              </a:spcAft>
            </a:pPr>
            <a:r>
              <a:rPr sz="1100" b="0">
                <a:solidFill>
                  <a:srgbClr val="D3D3D3"/>
                </a:solidFill>
                <a:latin typeface="Roboto"/>
              </a:rPr>
              <a:t>Scenario pack must pass in the sandbox</a:t>
            </a:r>
          </a:p>
        </p:txBody>
      </p:sp>
      <p:sp>
        <p:nvSpPr>
          <p:cNvPr id="28" name="Oval 27"/>
          <p:cNvSpPr/>
          <p:nvPr/>
        </p:nvSpPr>
        <p:spPr>
          <a:xfrm>
            <a:off x="7680960" y="4069080"/>
            <a:ext cx="118872" cy="118872"/>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29" name="TextBox 28"/>
          <p:cNvSpPr txBox="1"/>
          <p:nvPr/>
        </p:nvSpPr>
        <p:spPr>
          <a:xfrm>
            <a:off x="7936992" y="4005072"/>
            <a:ext cx="3337560" cy="502920"/>
          </a:xfrm>
          <a:prstGeom prst="rect">
            <a:avLst/>
          </a:prstGeom>
          <a:noFill/>
        </p:spPr>
        <p:txBody>
          <a:bodyPr wrap="square" lIns="0" rIns="0" tIns="0" bIns="0" anchor="t">
            <a:spAutoFit/>
          </a:bodyPr>
          <a:lstStyle/>
          <a:p>
            <a:pPr algn="l">
              <a:lnSpc>
                <a:spcPct val="130000"/>
              </a:lnSpc>
              <a:spcAft>
                <a:spcPts val="0"/>
              </a:spcAft>
            </a:pPr>
            <a:r>
              <a:rPr sz="1100" b="0">
                <a:solidFill>
                  <a:srgbClr val="D3D3D3"/>
                </a:solidFill>
                <a:latin typeface="Roboto"/>
              </a:rPr>
              <a:t>Flow validation blocks an invalid graph</a:t>
            </a:r>
          </a:p>
        </p:txBody>
      </p:sp>
      <p:sp>
        <p:nvSpPr>
          <p:cNvPr id="30" name="Oval 29"/>
          <p:cNvSpPr/>
          <p:nvPr/>
        </p:nvSpPr>
        <p:spPr>
          <a:xfrm>
            <a:off x="7680960" y="4572000"/>
            <a:ext cx="118872" cy="118872"/>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31" name="TextBox 30"/>
          <p:cNvSpPr txBox="1"/>
          <p:nvPr/>
        </p:nvSpPr>
        <p:spPr>
          <a:xfrm>
            <a:off x="7936992" y="4507992"/>
            <a:ext cx="3337560" cy="502920"/>
          </a:xfrm>
          <a:prstGeom prst="rect">
            <a:avLst/>
          </a:prstGeom>
          <a:noFill/>
        </p:spPr>
        <p:txBody>
          <a:bodyPr wrap="square" lIns="0" rIns="0" tIns="0" bIns="0" anchor="t">
            <a:spAutoFit/>
          </a:bodyPr>
          <a:lstStyle/>
          <a:p>
            <a:pPr algn="l">
              <a:lnSpc>
                <a:spcPct val="130000"/>
              </a:lnSpc>
              <a:spcAft>
                <a:spcPts val="0"/>
              </a:spcAft>
            </a:pPr>
            <a:r>
              <a:rPr sz="1100" b="0">
                <a:solidFill>
                  <a:srgbClr val="D3D3D3"/>
                </a:solidFill>
                <a:latin typeface="Roboto"/>
              </a:rPr>
              <a:t>Versioned deployment — rollback is one click</a:t>
            </a:r>
          </a:p>
        </p:txBody>
      </p:sp>
      <p:sp>
        <p:nvSpPr>
          <p:cNvPr id="32" name="Oval 31"/>
          <p:cNvSpPr/>
          <p:nvPr/>
        </p:nvSpPr>
        <p:spPr>
          <a:xfrm>
            <a:off x="7680960" y="5074920"/>
            <a:ext cx="118872" cy="118872"/>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33" name="TextBox 32"/>
          <p:cNvSpPr txBox="1"/>
          <p:nvPr/>
        </p:nvSpPr>
        <p:spPr>
          <a:xfrm>
            <a:off x="7936992" y="5010912"/>
            <a:ext cx="3337560" cy="502920"/>
          </a:xfrm>
          <a:prstGeom prst="rect">
            <a:avLst/>
          </a:prstGeom>
          <a:noFill/>
        </p:spPr>
        <p:txBody>
          <a:bodyPr wrap="square" lIns="0" rIns="0" tIns="0" bIns="0" anchor="t">
            <a:spAutoFit/>
          </a:bodyPr>
          <a:lstStyle/>
          <a:p>
            <a:pPr algn="l">
              <a:lnSpc>
                <a:spcPct val="130000"/>
              </a:lnSpc>
              <a:spcAft>
                <a:spcPts val="0"/>
              </a:spcAft>
            </a:pPr>
            <a:r>
              <a:rPr sz="1100" b="0">
                <a:solidFill>
                  <a:srgbClr val="D3D3D3"/>
                </a:solidFill>
                <a:latin typeface="Roboto"/>
              </a:rPr>
              <a:t>Prompt, KB snapshot, routing and voice are pinned together</a:t>
            </a:r>
          </a:p>
        </p:txBody>
      </p:sp>
      <p:sp>
        <p:nvSpPr>
          <p:cNvPr id="34" name="Oval 33"/>
          <p:cNvSpPr/>
          <p:nvPr/>
        </p:nvSpPr>
        <p:spPr>
          <a:xfrm>
            <a:off x="7680960" y="5577840"/>
            <a:ext cx="118872" cy="118872"/>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35" name="TextBox 34"/>
          <p:cNvSpPr txBox="1"/>
          <p:nvPr/>
        </p:nvSpPr>
        <p:spPr>
          <a:xfrm>
            <a:off x="7936992" y="5513832"/>
            <a:ext cx="3337560" cy="502920"/>
          </a:xfrm>
          <a:prstGeom prst="rect">
            <a:avLst/>
          </a:prstGeom>
          <a:noFill/>
        </p:spPr>
        <p:txBody>
          <a:bodyPr wrap="square" lIns="0" rIns="0" tIns="0" bIns="0" anchor="t">
            <a:spAutoFit/>
          </a:bodyPr>
          <a:lstStyle/>
          <a:p>
            <a:pPr algn="l">
              <a:lnSpc>
                <a:spcPct val="130000"/>
              </a:lnSpc>
              <a:spcAft>
                <a:spcPts val="0"/>
              </a:spcAft>
            </a:pPr>
            <a:r>
              <a:rPr sz="1100" b="0">
                <a:solidFill>
                  <a:srgbClr val="D3D3D3"/>
                </a:solidFill>
                <a:latin typeface="Roboto"/>
              </a:rPr>
              <a:t>Every publish writes an audit row with an author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02</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CUSTOMISABILITY</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SHIPPED WITHOUT AN ENGINEER</a:t>
            </a:r>
          </a:p>
        </p:txBody>
      </p:sp>
      <p:sp>
        <p:nvSpPr>
          <p:cNvPr id="6" name="TextBox 5"/>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Every one of these is a screen in the product today, not a roadmap promise.</a:t>
            </a:r>
          </a:p>
        </p:txBody>
      </p:sp>
      <p:sp>
        <p:nvSpPr>
          <p:cNvPr id="7" name="Rounded Rectangle 6"/>
          <p:cNvSpPr/>
          <p:nvPr/>
        </p:nvSpPr>
        <p:spPr>
          <a:xfrm>
            <a:off x="685800" y="2423160"/>
            <a:ext cx="2551176" cy="1572768"/>
          </a:xfrm>
          <a:prstGeom prst="roundRect">
            <a:avLst>
              <a:gd name="adj" fmla="val 3500"/>
            </a:avLst>
          </a:prstGeom>
          <a:solidFill>
            <a:srgbClr val="F6F7FB"/>
          </a:solidFill>
          <a:ln>
            <a:noFill/>
          </a:ln>
          <a:effectLst/>
        </p:spPr>
        <p:txBody>
          <a:bodyPr rtlCol="0" anchor="ctr"/>
          <a:lstStyle/>
          <a:p>
            <a:pPr algn="ctr"/>
          </a:p>
        </p:txBody>
      </p:sp>
      <p:sp>
        <p:nvSpPr>
          <p:cNvPr id="8" name="TextBox 7"/>
          <p:cNvSpPr txBox="1"/>
          <p:nvPr/>
        </p:nvSpPr>
        <p:spPr>
          <a:xfrm>
            <a:off x="941832" y="2660904"/>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Prompt Studio</a:t>
            </a:r>
          </a:p>
        </p:txBody>
      </p:sp>
      <p:sp>
        <p:nvSpPr>
          <p:cNvPr id="9" name="TextBox 8"/>
          <p:cNvSpPr txBox="1"/>
          <p:nvPr/>
        </p:nvSpPr>
        <p:spPr>
          <a:xfrm>
            <a:off x="941832" y="3044952"/>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Persona, voice catalog, versioned prompts, deploy and roll back</a:t>
            </a:r>
          </a:p>
        </p:txBody>
      </p:sp>
      <p:sp>
        <p:nvSpPr>
          <p:cNvPr id="10" name="Rounded Rectangle 9"/>
          <p:cNvSpPr/>
          <p:nvPr/>
        </p:nvSpPr>
        <p:spPr>
          <a:xfrm>
            <a:off x="3401568" y="2423160"/>
            <a:ext cx="2551176" cy="1572768"/>
          </a:xfrm>
          <a:prstGeom prst="roundRect">
            <a:avLst>
              <a:gd name="adj" fmla="val 3500"/>
            </a:avLst>
          </a:prstGeom>
          <a:solidFill>
            <a:srgbClr val="F6F7FB"/>
          </a:solidFill>
          <a:ln>
            <a:noFill/>
          </a:ln>
          <a:effectLst/>
        </p:spPr>
        <p:txBody>
          <a:bodyPr rtlCol="0" anchor="ctr"/>
          <a:lstStyle/>
          <a:p>
            <a:pPr algn="ctr"/>
          </a:p>
        </p:txBody>
      </p:sp>
      <p:sp>
        <p:nvSpPr>
          <p:cNvPr id="11" name="TextBox 10"/>
          <p:cNvSpPr txBox="1"/>
          <p:nvPr/>
        </p:nvSpPr>
        <p:spPr>
          <a:xfrm>
            <a:off x="3657600" y="2660904"/>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Flow canvas</a:t>
            </a:r>
          </a:p>
        </p:txBody>
      </p:sp>
      <p:sp>
        <p:nvSpPr>
          <p:cNvPr id="12" name="TextBox 11"/>
          <p:cNvSpPr txBox="1"/>
          <p:nvPr/>
        </p:nvSpPr>
        <p:spPr>
          <a:xfrm>
            <a:off x="3657600" y="3044952"/>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Node-graph conversation authoring — greet, verify, hub, wrap</a:t>
            </a:r>
          </a:p>
        </p:txBody>
      </p:sp>
      <p:sp>
        <p:nvSpPr>
          <p:cNvPr id="13" name="Rounded Rectangle 12"/>
          <p:cNvSpPr/>
          <p:nvPr/>
        </p:nvSpPr>
        <p:spPr>
          <a:xfrm>
            <a:off x="6117336" y="2423160"/>
            <a:ext cx="2551176" cy="1572768"/>
          </a:xfrm>
          <a:prstGeom prst="roundRect">
            <a:avLst>
              <a:gd name="adj" fmla="val 3500"/>
            </a:avLst>
          </a:prstGeom>
          <a:solidFill>
            <a:srgbClr val="F6F7FB"/>
          </a:solidFill>
          <a:ln>
            <a:noFill/>
          </a:ln>
          <a:effectLst/>
        </p:spPr>
        <p:txBody>
          <a:bodyPr rtlCol="0" anchor="ctr"/>
          <a:lstStyle/>
          <a:p>
            <a:pPr algn="ctr"/>
          </a:p>
        </p:txBody>
      </p:sp>
      <p:sp>
        <p:nvSpPr>
          <p:cNvPr id="14" name="TextBox 13"/>
          <p:cNvSpPr txBox="1"/>
          <p:nvPr/>
        </p:nvSpPr>
        <p:spPr>
          <a:xfrm>
            <a:off x="6373368" y="2660904"/>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Routing rules</a:t>
            </a:r>
          </a:p>
        </p:txBody>
      </p:sp>
      <p:sp>
        <p:nvSpPr>
          <p:cNvPr id="15" name="TextBox 14"/>
          <p:cNvSpPr txBox="1"/>
          <p:nvPr/>
        </p:nvSpPr>
        <p:spPr>
          <a:xfrm>
            <a:off x="6373368" y="3044952"/>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Conditions and actions, with a simulator to test before publish</a:t>
            </a:r>
          </a:p>
        </p:txBody>
      </p:sp>
      <p:sp>
        <p:nvSpPr>
          <p:cNvPr id="16" name="Rounded Rectangle 15"/>
          <p:cNvSpPr/>
          <p:nvPr/>
        </p:nvSpPr>
        <p:spPr>
          <a:xfrm>
            <a:off x="8833104" y="2423160"/>
            <a:ext cx="2551176" cy="1572768"/>
          </a:xfrm>
          <a:prstGeom prst="roundRect">
            <a:avLst>
              <a:gd name="adj" fmla="val 3500"/>
            </a:avLst>
          </a:prstGeom>
          <a:solidFill>
            <a:srgbClr val="F6F7FB"/>
          </a:solidFill>
          <a:ln>
            <a:noFill/>
          </a:ln>
          <a:effectLst/>
        </p:spPr>
        <p:txBody>
          <a:bodyPr rtlCol="0" anchor="ctr"/>
          <a:lstStyle/>
          <a:p>
            <a:pPr algn="ctr"/>
          </a:p>
        </p:txBody>
      </p:sp>
      <p:sp>
        <p:nvSpPr>
          <p:cNvPr id="17" name="TextBox 16"/>
          <p:cNvSpPr txBox="1"/>
          <p:nvPr/>
        </p:nvSpPr>
        <p:spPr>
          <a:xfrm>
            <a:off x="9089136" y="2660904"/>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Knowledge base</a:t>
            </a:r>
          </a:p>
        </p:txBody>
      </p:sp>
      <p:sp>
        <p:nvSpPr>
          <p:cNvPr id="18" name="TextBox 17"/>
          <p:cNvSpPr txBox="1"/>
          <p:nvPr/>
        </p:nvSpPr>
        <p:spPr>
          <a:xfrm>
            <a:off x="9089136" y="3044952"/>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Ingest, chunk, snapshot; unanswered questions feed back as gaps</a:t>
            </a:r>
          </a:p>
        </p:txBody>
      </p:sp>
      <p:sp>
        <p:nvSpPr>
          <p:cNvPr id="19" name="Rounded Rectangle 18"/>
          <p:cNvSpPr/>
          <p:nvPr/>
        </p:nvSpPr>
        <p:spPr>
          <a:xfrm>
            <a:off x="685800" y="4206240"/>
            <a:ext cx="2551176" cy="1572768"/>
          </a:xfrm>
          <a:prstGeom prst="roundRect">
            <a:avLst>
              <a:gd name="adj" fmla="val 3500"/>
            </a:avLst>
          </a:prstGeom>
          <a:solidFill>
            <a:srgbClr val="F6F7FB"/>
          </a:solidFill>
          <a:ln>
            <a:noFill/>
          </a:ln>
          <a:effectLst/>
        </p:spPr>
        <p:txBody>
          <a:bodyPr rtlCol="0" anchor="ctr"/>
          <a:lstStyle/>
          <a:p>
            <a:pPr algn="ctr"/>
          </a:p>
        </p:txBody>
      </p:sp>
      <p:sp>
        <p:nvSpPr>
          <p:cNvPr id="20" name="TextBox 19"/>
          <p:cNvSpPr txBox="1"/>
          <p:nvPr/>
        </p:nvSpPr>
        <p:spPr>
          <a:xfrm>
            <a:off x="941832" y="4443983"/>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QA rubrics</a:t>
            </a:r>
          </a:p>
        </p:txBody>
      </p:sp>
      <p:sp>
        <p:nvSpPr>
          <p:cNvPr id="21" name="TextBox 20"/>
          <p:cNvSpPr txBox="1"/>
          <p:nvPr/>
        </p:nvSpPr>
        <p:spPr>
          <a:xfrm>
            <a:off x="941832" y="4828031"/>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Scorecards and coaching — humans calibrate, the engine scores</a:t>
            </a:r>
          </a:p>
        </p:txBody>
      </p:sp>
      <p:sp>
        <p:nvSpPr>
          <p:cNvPr id="22" name="Rounded Rectangle 21"/>
          <p:cNvSpPr/>
          <p:nvPr/>
        </p:nvSpPr>
        <p:spPr>
          <a:xfrm>
            <a:off x="3401568" y="4206240"/>
            <a:ext cx="2551176" cy="1572768"/>
          </a:xfrm>
          <a:prstGeom prst="roundRect">
            <a:avLst>
              <a:gd name="adj" fmla="val 3500"/>
            </a:avLst>
          </a:prstGeom>
          <a:solidFill>
            <a:srgbClr val="F6F7FB"/>
          </a:solidFill>
          <a:ln>
            <a:noFill/>
          </a:ln>
          <a:effectLst/>
        </p:spPr>
        <p:txBody>
          <a:bodyPr rtlCol="0" anchor="ctr"/>
          <a:lstStyle/>
          <a:p>
            <a:pPr algn="ctr"/>
          </a:p>
        </p:txBody>
      </p:sp>
      <p:sp>
        <p:nvSpPr>
          <p:cNvPr id="23" name="TextBox 22"/>
          <p:cNvSpPr txBox="1"/>
          <p:nvPr/>
        </p:nvSpPr>
        <p:spPr>
          <a:xfrm>
            <a:off x="3657600" y="4443983"/>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Sandbox</a:t>
            </a:r>
          </a:p>
        </p:txBody>
      </p:sp>
      <p:sp>
        <p:nvSpPr>
          <p:cNvPr id="24" name="TextBox 23"/>
          <p:cNvSpPr txBox="1"/>
          <p:nvPr/>
        </p:nvSpPr>
        <p:spPr>
          <a:xfrm>
            <a:off x="3657600" y="4828031"/>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Rehearsal personas and scenario runs against a real deployment</a:t>
            </a:r>
          </a:p>
        </p:txBody>
      </p:sp>
      <p:sp>
        <p:nvSpPr>
          <p:cNvPr id="25" name="Rounded Rectangle 24"/>
          <p:cNvSpPr/>
          <p:nvPr/>
        </p:nvSpPr>
        <p:spPr>
          <a:xfrm>
            <a:off x="6117336" y="4206240"/>
            <a:ext cx="2551176" cy="1572768"/>
          </a:xfrm>
          <a:prstGeom prst="roundRect">
            <a:avLst>
              <a:gd name="adj" fmla="val 3500"/>
            </a:avLst>
          </a:prstGeom>
          <a:solidFill>
            <a:srgbClr val="F6F7FB"/>
          </a:solidFill>
          <a:ln>
            <a:noFill/>
          </a:ln>
          <a:effectLst/>
        </p:spPr>
        <p:txBody>
          <a:bodyPr rtlCol="0" anchor="ctr"/>
          <a:lstStyle/>
          <a:p>
            <a:pPr algn="ctr"/>
          </a:p>
        </p:txBody>
      </p:sp>
      <p:sp>
        <p:nvSpPr>
          <p:cNvPr id="26" name="TextBox 25"/>
          <p:cNvSpPr txBox="1"/>
          <p:nvPr/>
        </p:nvSpPr>
        <p:spPr>
          <a:xfrm>
            <a:off x="6373368" y="4443983"/>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Consent &amp; DND</a:t>
            </a:r>
          </a:p>
        </p:txBody>
      </p:sp>
      <p:sp>
        <p:nvSpPr>
          <p:cNvPr id="27" name="TextBox 26"/>
          <p:cNvSpPr txBox="1"/>
          <p:nvPr/>
        </p:nvSpPr>
        <p:spPr>
          <a:xfrm>
            <a:off x="6373368" y="4828031"/>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Channel consent, opt-out, cooling-off — enforced, not advisory</a:t>
            </a:r>
          </a:p>
        </p:txBody>
      </p:sp>
      <p:sp>
        <p:nvSpPr>
          <p:cNvPr id="28" name="Rounded Rectangle 27"/>
          <p:cNvSpPr/>
          <p:nvPr/>
        </p:nvSpPr>
        <p:spPr>
          <a:xfrm>
            <a:off x="8833104" y="4206240"/>
            <a:ext cx="2551176" cy="1572768"/>
          </a:xfrm>
          <a:prstGeom prst="roundRect">
            <a:avLst>
              <a:gd name="adj" fmla="val 3500"/>
            </a:avLst>
          </a:prstGeom>
          <a:solidFill>
            <a:srgbClr val="F6F7FB"/>
          </a:solidFill>
          <a:ln>
            <a:noFill/>
          </a:ln>
          <a:effectLst/>
        </p:spPr>
        <p:txBody>
          <a:bodyPr rtlCol="0" anchor="ctr"/>
          <a:lstStyle/>
          <a:p>
            <a:pPr algn="ctr"/>
          </a:p>
        </p:txBody>
      </p:sp>
      <p:sp>
        <p:nvSpPr>
          <p:cNvPr id="29" name="TextBox 28"/>
          <p:cNvSpPr txBox="1"/>
          <p:nvPr/>
        </p:nvSpPr>
        <p:spPr>
          <a:xfrm>
            <a:off x="9089136" y="4443983"/>
            <a:ext cx="2103120" cy="320040"/>
          </a:xfrm>
          <a:prstGeom prst="rect">
            <a:avLst/>
          </a:prstGeom>
          <a:noFill/>
        </p:spPr>
        <p:txBody>
          <a:bodyPr wrap="square" lIns="0" rIns="0" tIns="0" bIns="0" anchor="t">
            <a:spAutoFit/>
          </a:bodyPr>
          <a:lstStyle/>
          <a:p>
            <a:pPr algn="l">
              <a:spcAft>
                <a:spcPts val="0"/>
              </a:spcAft>
            </a:pPr>
            <a:r>
              <a:rPr sz="1300" b="1">
                <a:solidFill>
                  <a:srgbClr val="114FF4"/>
                </a:solidFill>
                <a:latin typeface="Proxima Nova"/>
              </a:rPr>
              <a:t>Integrations</a:t>
            </a:r>
          </a:p>
        </p:txBody>
      </p:sp>
      <p:sp>
        <p:nvSpPr>
          <p:cNvPr id="30" name="TextBox 29"/>
          <p:cNvSpPr txBox="1"/>
          <p:nvPr/>
        </p:nvSpPr>
        <p:spPr>
          <a:xfrm>
            <a:off x="9089136" y="4828031"/>
            <a:ext cx="2057400" cy="822960"/>
          </a:xfrm>
          <a:prstGeom prst="rect">
            <a:avLst/>
          </a:prstGeom>
          <a:noFill/>
        </p:spPr>
        <p:txBody>
          <a:bodyPr wrap="square" lIns="0" rIns="0" tIns="0" bIns="0" anchor="t">
            <a:spAutoFit/>
          </a:bodyPr>
          <a:lstStyle/>
          <a:p>
            <a:pPr algn="l">
              <a:lnSpc>
                <a:spcPct val="135000"/>
              </a:lnSpc>
              <a:spcAft>
                <a:spcPts val="0"/>
              </a:spcAft>
            </a:pPr>
            <a:r>
              <a:rPr sz="1050" b="0">
                <a:solidFill>
                  <a:srgbClr val="4A4A4A"/>
                </a:solidFill>
                <a:latin typeface="Roboto"/>
              </a:rPr>
              <a:t>Telephony, speech, LLM and webhook credentials per tenant</a:t>
            </a:r>
          </a:p>
        </p:txBody>
      </p:sp>
      <p:sp>
        <p:nvSpPr>
          <p:cNvPr id="31" name="TextBox 30"/>
          <p:cNvSpPr txBox="1"/>
          <p:nvPr/>
        </p:nvSpPr>
        <p:spPr>
          <a:xfrm>
            <a:off x="685800" y="6144768"/>
            <a:ext cx="10789920" cy="365760"/>
          </a:xfrm>
          <a:prstGeom prst="rect">
            <a:avLst/>
          </a:prstGeom>
          <a:noFill/>
        </p:spPr>
        <p:txBody>
          <a:bodyPr wrap="square" lIns="0" rIns="0" tIns="0" bIns="0" anchor="t">
            <a:spAutoFit/>
          </a:bodyPr>
          <a:lstStyle/>
          <a:p>
            <a:pPr algn="l">
              <a:spcAft>
                <a:spcPts val="0"/>
              </a:spcAft>
            </a:pPr>
            <a:r>
              <a:rPr sz="1350" b="1">
                <a:solidFill>
                  <a:srgbClr val="232323"/>
                </a:solidFill>
                <a:latin typeface="Roboto"/>
              </a:rPr>
              <a:t>A collections head, an insurance ops lead and a compliance officer each ship their own specialist — on the same brain.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Oval 2"/>
          <p:cNvSpPr/>
          <p:nvPr/>
        </p:nvSpPr>
        <p:spPr>
          <a:xfrm>
            <a:off x="685800" y="475488"/>
            <a:ext cx="384048" cy="38404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02</a:t>
            </a:r>
          </a:p>
        </p:txBody>
      </p:sp>
      <p:sp>
        <p:nvSpPr>
          <p:cNvPr id="4" name="TextBox 3"/>
          <p:cNvSpPr txBox="1"/>
          <p:nvPr/>
        </p:nvSpPr>
        <p:spPr>
          <a:xfrm>
            <a:off x="1252728"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CUSTOMISABILITY</a:t>
            </a:r>
          </a:p>
        </p:txBody>
      </p:sp>
      <p:sp>
        <p:nvSpPr>
          <p:cNvPr id="5" name="TextBox 4"/>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MCP IN BOTH DIRECTIONS</a:t>
            </a:r>
          </a:p>
        </p:txBody>
      </p:sp>
      <p:sp>
        <p:nvSpPr>
          <p:cNvPr id="6" name="TextBox 5"/>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This is what 'pluggable' actually means — the tenant's world plugs into us, and we plug into theirs.</a:t>
            </a:r>
          </a:p>
        </p:txBody>
      </p:sp>
      <p:sp>
        <p:nvSpPr>
          <p:cNvPr id="7" name="Rounded Rectangle 6"/>
          <p:cNvSpPr/>
          <p:nvPr/>
        </p:nvSpPr>
        <p:spPr>
          <a:xfrm>
            <a:off x="685800" y="2514600"/>
            <a:ext cx="5285232" cy="3246120"/>
          </a:xfrm>
          <a:prstGeom prst="roundRect">
            <a:avLst>
              <a:gd name="adj" fmla="val 3500"/>
            </a:avLst>
          </a:prstGeom>
          <a:solidFill>
            <a:srgbClr val="EFF3FE"/>
          </a:solidFill>
          <a:ln>
            <a:noFill/>
          </a:ln>
          <a:effectLst/>
        </p:spPr>
        <p:txBody>
          <a:bodyPr rtlCol="0" anchor="ctr"/>
          <a:lstStyle/>
          <a:p>
            <a:pPr algn="ctr"/>
          </a:p>
        </p:txBody>
      </p:sp>
      <p:sp>
        <p:nvSpPr>
          <p:cNvPr id="8" name="TextBox 7"/>
          <p:cNvSpPr txBox="1"/>
          <p:nvPr/>
        </p:nvSpPr>
        <p:spPr>
          <a:xfrm>
            <a:off x="1005840" y="2788920"/>
            <a:ext cx="4114800" cy="320040"/>
          </a:xfrm>
          <a:prstGeom prst="rect">
            <a:avLst/>
          </a:prstGeom>
          <a:noFill/>
        </p:spPr>
        <p:txBody>
          <a:bodyPr wrap="square" lIns="0" rIns="0" tIns="0" bIns="0" anchor="t">
            <a:spAutoFit/>
          </a:bodyPr>
          <a:lstStyle/>
          <a:p>
            <a:pPr algn="l">
              <a:spcAft>
                <a:spcPts val="0"/>
              </a:spcAft>
            </a:pPr>
            <a:r>
              <a:rPr sz="1700" b="1">
                <a:solidFill>
                  <a:srgbClr val="114FF4"/>
                </a:solidFill>
                <a:latin typeface="Proxima Nova"/>
              </a:rPr>
              <a:t>We are a server</a:t>
            </a:r>
          </a:p>
        </p:txBody>
      </p:sp>
      <p:sp>
        <p:nvSpPr>
          <p:cNvPr id="9" name="TextBox 8"/>
          <p:cNvSpPr txBox="1"/>
          <p:nvPr/>
        </p:nvSpPr>
        <p:spPr>
          <a:xfrm>
            <a:off x="1005840" y="3200400"/>
            <a:ext cx="4572000" cy="548640"/>
          </a:xfrm>
          <a:prstGeom prst="rect">
            <a:avLst/>
          </a:prstGeom>
          <a:noFill/>
        </p:spPr>
        <p:txBody>
          <a:bodyPr wrap="square" lIns="0" rIns="0" tIns="0" bIns="0" anchor="t">
            <a:spAutoFit/>
          </a:bodyPr>
          <a:lstStyle/>
          <a:p>
            <a:pPr algn="l">
              <a:lnSpc>
                <a:spcPct val="130000"/>
              </a:lnSpc>
              <a:spcAft>
                <a:spcPts val="0"/>
              </a:spcAft>
            </a:pPr>
            <a:r>
              <a:rPr sz="1150" b="0">
                <a:solidFill>
                  <a:srgbClr val="7B7B7B"/>
                </a:solidFill>
                <a:latin typeface="Roboto"/>
              </a:rPr>
              <a:t>A banking copilot or an internal Claude client reads customer context through us.</a:t>
            </a:r>
          </a:p>
        </p:txBody>
      </p:sp>
      <p:sp>
        <p:nvSpPr>
          <p:cNvPr id="10" name="Oval 9"/>
          <p:cNvSpPr/>
          <p:nvPr/>
        </p:nvSpPr>
        <p:spPr>
          <a:xfrm>
            <a:off x="1005840" y="3922776"/>
            <a:ext cx="109728" cy="10972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11" name="TextBox 10"/>
          <p:cNvSpPr txBox="1"/>
          <p:nvPr/>
        </p:nvSpPr>
        <p:spPr>
          <a:xfrm>
            <a:off x="1234440" y="3867912"/>
            <a:ext cx="448056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5 read-only tools exposed today</a:t>
            </a:r>
          </a:p>
        </p:txBody>
      </p:sp>
      <p:sp>
        <p:nvSpPr>
          <p:cNvPr id="12" name="Oval 11"/>
          <p:cNvSpPr/>
          <p:nvPr/>
        </p:nvSpPr>
        <p:spPr>
          <a:xfrm>
            <a:off x="1005840" y="4288536"/>
            <a:ext cx="109728" cy="10972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13" name="TextBox 12"/>
          <p:cNvSpPr txBox="1"/>
          <p:nvPr/>
        </p:nvSpPr>
        <p:spPr>
          <a:xfrm>
            <a:off x="1234440" y="4233672"/>
            <a:ext cx="448056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get_customer_context, payment_history, emi_schedule</a:t>
            </a:r>
          </a:p>
        </p:txBody>
      </p:sp>
      <p:sp>
        <p:nvSpPr>
          <p:cNvPr id="14" name="Oval 13"/>
          <p:cNvSpPr/>
          <p:nvPr/>
        </p:nvSpPr>
        <p:spPr>
          <a:xfrm>
            <a:off x="1005840" y="4654296"/>
            <a:ext cx="109728" cy="10972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15" name="TextBox 14"/>
          <p:cNvSpPr txBox="1"/>
          <p:nvPr/>
        </p:nvSpPr>
        <p:spPr>
          <a:xfrm>
            <a:off x="1234440" y="4599432"/>
            <a:ext cx="448056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check_product_eligibility, search_knowledge_base</a:t>
            </a:r>
          </a:p>
        </p:txBody>
      </p:sp>
      <p:sp>
        <p:nvSpPr>
          <p:cNvPr id="16" name="Oval 15"/>
          <p:cNvSpPr/>
          <p:nvPr/>
        </p:nvSpPr>
        <p:spPr>
          <a:xfrm>
            <a:off x="1005840" y="5020056"/>
            <a:ext cx="109728" cy="10972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17" name="TextBox 16"/>
          <p:cNvSpPr txBox="1"/>
          <p:nvPr/>
        </p:nvSpPr>
        <p:spPr>
          <a:xfrm>
            <a:off x="1234440" y="4965192"/>
            <a:ext cx="448056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Every mutator explicitly deny-listed — 403</a:t>
            </a:r>
          </a:p>
        </p:txBody>
      </p:sp>
      <p:sp>
        <p:nvSpPr>
          <p:cNvPr id="18" name="Oval 17"/>
          <p:cNvSpPr/>
          <p:nvPr/>
        </p:nvSpPr>
        <p:spPr>
          <a:xfrm>
            <a:off x="1005840" y="5385816"/>
            <a:ext cx="109728" cy="109728"/>
          </a:xfrm>
          <a:prstGeom prst="ellipse">
            <a:avLst/>
          </a:prstGeom>
          <a:solidFill>
            <a:srgbClr val="114FF4"/>
          </a:solidFill>
          <a:ln>
            <a:noFill/>
          </a:ln>
          <a:effectLst/>
        </p:spPr>
        <p:txBody>
          <a:bodyPr rtlCol="0" anchor="ctr" wrap="none" lIns="0" rIns="0" tIns="0" bIns="0"/>
          <a:lstStyle/>
          <a:p>
            <a:pPr algn="ctr"/>
            <a:r>
              <a:rPr sz="1500" b="1">
                <a:solidFill>
                  <a:srgbClr val="FFFFFF"/>
                </a:solidFill>
                <a:latin typeface="Proxima Nova"/>
              </a:rPr>
              <a:t/>
            </a:r>
          </a:p>
        </p:txBody>
      </p:sp>
      <p:sp>
        <p:nvSpPr>
          <p:cNvPr id="19" name="TextBox 18"/>
          <p:cNvSpPr txBox="1"/>
          <p:nvPr/>
        </p:nvSpPr>
        <p:spPr>
          <a:xfrm>
            <a:off x="1234440" y="5330952"/>
            <a:ext cx="448056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A CI contract test fails the build if that changes</a:t>
            </a:r>
          </a:p>
        </p:txBody>
      </p:sp>
      <p:sp>
        <p:nvSpPr>
          <p:cNvPr id="20" name="Rounded Rectangle 19"/>
          <p:cNvSpPr/>
          <p:nvPr/>
        </p:nvSpPr>
        <p:spPr>
          <a:xfrm>
            <a:off x="6291072" y="2514600"/>
            <a:ext cx="5212080" cy="3246120"/>
          </a:xfrm>
          <a:prstGeom prst="roundRect">
            <a:avLst>
              <a:gd name="adj" fmla="val 3500"/>
            </a:avLst>
          </a:prstGeom>
          <a:solidFill>
            <a:srgbClr val="F3F3F3"/>
          </a:solidFill>
          <a:ln>
            <a:noFill/>
          </a:ln>
          <a:effectLst/>
        </p:spPr>
        <p:txBody>
          <a:bodyPr rtlCol="0" anchor="ctr"/>
          <a:lstStyle/>
          <a:p>
            <a:pPr algn="ctr"/>
          </a:p>
        </p:txBody>
      </p:sp>
      <p:sp>
        <p:nvSpPr>
          <p:cNvPr id="21" name="TextBox 20"/>
          <p:cNvSpPr txBox="1"/>
          <p:nvPr/>
        </p:nvSpPr>
        <p:spPr>
          <a:xfrm>
            <a:off x="6611112" y="2788920"/>
            <a:ext cx="4114800" cy="320040"/>
          </a:xfrm>
          <a:prstGeom prst="rect">
            <a:avLst/>
          </a:prstGeom>
          <a:noFill/>
        </p:spPr>
        <p:txBody>
          <a:bodyPr wrap="square" lIns="0" rIns="0" tIns="0" bIns="0" anchor="t">
            <a:spAutoFit/>
          </a:bodyPr>
          <a:lstStyle/>
          <a:p>
            <a:pPr algn="l">
              <a:spcAft>
                <a:spcPts val="0"/>
              </a:spcAft>
            </a:pPr>
            <a:r>
              <a:rPr sz="1700" b="1">
                <a:solidFill>
                  <a:srgbClr val="232323"/>
                </a:solidFill>
                <a:latin typeface="Proxima Nova"/>
              </a:rPr>
              <a:t>We are a client</a:t>
            </a:r>
          </a:p>
        </p:txBody>
      </p:sp>
      <p:sp>
        <p:nvSpPr>
          <p:cNvPr id="22" name="TextBox 21"/>
          <p:cNvSpPr txBox="1"/>
          <p:nvPr/>
        </p:nvSpPr>
        <p:spPr>
          <a:xfrm>
            <a:off x="6611112" y="3200400"/>
            <a:ext cx="4572000" cy="548640"/>
          </a:xfrm>
          <a:prstGeom prst="rect">
            <a:avLst/>
          </a:prstGeom>
          <a:noFill/>
        </p:spPr>
        <p:txBody>
          <a:bodyPr wrap="square" lIns="0" rIns="0" tIns="0" bIns="0" anchor="t">
            <a:spAutoFit/>
          </a:bodyPr>
          <a:lstStyle/>
          <a:p>
            <a:pPr algn="l">
              <a:lnSpc>
                <a:spcPct val="130000"/>
              </a:lnSpc>
              <a:spcAft>
                <a:spcPts val="0"/>
              </a:spcAft>
            </a:pPr>
            <a:r>
              <a:rPr sz="1150" b="0">
                <a:solidFill>
                  <a:srgbClr val="7B7B7B"/>
                </a:solidFill>
                <a:latin typeface="Roboto"/>
              </a:rPr>
              <a:t>An agent card attaches connectors; the runtime merges their tools into one registry.</a:t>
            </a:r>
          </a:p>
        </p:txBody>
      </p:sp>
      <p:sp>
        <p:nvSpPr>
          <p:cNvPr id="23" name="Oval 22"/>
          <p:cNvSpPr/>
          <p:nvPr/>
        </p:nvSpPr>
        <p:spPr>
          <a:xfrm>
            <a:off x="6611112" y="3922776"/>
            <a:ext cx="109728" cy="109728"/>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24" name="TextBox 23"/>
          <p:cNvSpPr txBox="1"/>
          <p:nvPr/>
        </p:nvSpPr>
        <p:spPr>
          <a:xfrm>
            <a:off x="6839712" y="3867912"/>
            <a:ext cx="443484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Core banking / LMS — live balance, not a stale CRM row</a:t>
            </a:r>
          </a:p>
        </p:txBody>
      </p:sp>
      <p:sp>
        <p:nvSpPr>
          <p:cNvPr id="25" name="Oval 24"/>
          <p:cNvSpPr/>
          <p:nvPr/>
        </p:nvSpPr>
        <p:spPr>
          <a:xfrm>
            <a:off x="6611112" y="4288536"/>
            <a:ext cx="109728" cy="109728"/>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26" name="TextBox 25"/>
          <p:cNvSpPr txBox="1"/>
          <p:nvPr/>
        </p:nvSpPr>
        <p:spPr>
          <a:xfrm>
            <a:off x="6839712" y="4233672"/>
            <a:ext cx="443484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Payment gateway / UPI — 'I already paid' answered instantly</a:t>
            </a:r>
          </a:p>
        </p:txBody>
      </p:sp>
      <p:sp>
        <p:nvSpPr>
          <p:cNvPr id="27" name="Oval 26"/>
          <p:cNvSpPr/>
          <p:nvPr/>
        </p:nvSpPr>
        <p:spPr>
          <a:xfrm>
            <a:off x="6611112" y="4654296"/>
            <a:ext cx="109728" cy="109728"/>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28" name="TextBox 27"/>
          <p:cNvSpPr txBox="1"/>
          <p:nvPr/>
        </p:nvSpPr>
        <p:spPr>
          <a:xfrm>
            <a:off x="6839712" y="4599432"/>
            <a:ext cx="443484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Bureau / CKYC — eligibility without inventing KYC</a:t>
            </a:r>
          </a:p>
        </p:txBody>
      </p:sp>
      <p:sp>
        <p:nvSpPr>
          <p:cNvPr id="29" name="Oval 28"/>
          <p:cNvSpPr/>
          <p:nvPr/>
        </p:nvSpPr>
        <p:spPr>
          <a:xfrm>
            <a:off x="6611112" y="5020056"/>
            <a:ext cx="109728" cy="109728"/>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30" name="TextBox 29"/>
          <p:cNvSpPr txBox="1"/>
          <p:nvPr/>
        </p:nvSpPr>
        <p:spPr>
          <a:xfrm>
            <a:off x="6839712" y="4965192"/>
            <a:ext cx="443484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NDNC registry — a veto, not a prompt reminder</a:t>
            </a:r>
          </a:p>
        </p:txBody>
      </p:sp>
      <p:sp>
        <p:nvSpPr>
          <p:cNvPr id="31" name="Oval 30"/>
          <p:cNvSpPr/>
          <p:nvPr/>
        </p:nvSpPr>
        <p:spPr>
          <a:xfrm>
            <a:off x="6611112" y="5385816"/>
            <a:ext cx="109728" cy="109728"/>
          </a:xfrm>
          <a:prstGeom prst="ellipse">
            <a:avLst/>
          </a:prstGeom>
          <a:solidFill>
            <a:srgbClr val="232323"/>
          </a:solidFill>
          <a:ln>
            <a:noFill/>
          </a:ln>
          <a:effectLst/>
        </p:spPr>
        <p:txBody>
          <a:bodyPr rtlCol="0" anchor="ctr" wrap="none" lIns="0" rIns="0" tIns="0" bIns="0"/>
          <a:lstStyle/>
          <a:p>
            <a:pPr algn="ctr"/>
            <a:r>
              <a:rPr sz="1500" b="1">
                <a:solidFill>
                  <a:srgbClr val="FFFFFF"/>
                </a:solidFill>
                <a:latin typeface="Proxima Nova"/>
              </a:rPr>
              <a:t/>
            </a:r>
          </a:p>
        </p:txBody>
      </p:sp>
      <p:sp>
        <p:nvSpPr>
          <p:cNvPr id="32" name="TextBox 31"/>
          <p:cNvSpPr txBox="1"/>
          <p:nvPr/>
        </p:nvSpPr>
        <p:spPr>
          <a:xfrm>
            <a:off x="6839712" y="5330952"/>
            <a:ext cx="4434840" cy="320040"/>
          </a:xfrm>
          <a:prstGeom prst="rect">
            <a:avLst/>
          </a:prstGeom>
          <a:noFill/>
        </p:spPr>
        <p:txBody>
          <a:bodyPr wrap="square" lIns="0" rIns="0" tIns="0" bIns="0" anchor="t">
            <a:spAutoFit/>
          </a:bodyPr>
          <a:lstStyle/>
          <a:p>
            <a:pPr algn="l">
              <a:spcAft>
                <a:spcPts val="0"/>
              </a:spcAft>
            </a:pPr>
            <a:r>
              <a:rPr sz="1100" b="0">
                <a:solidFill>
                  <a:srgbClr val="444444"/>
                </a:solidFill>
                <a:latin typeface="Roboto"/>
              </a:rPr>
              <a:t>Ticketing and MIS — disputes and packs leave the island</a:t>
            </a:r>
          </a:p>
        </p:txBody>
      </p:sp>
      <p:sp>
        <p:nvSpPr>
          <p:cNvPr id="33" name="TextBox 32"/>
          <p:cNvSpPr txBox="1"/>
          <p:nvPr/>
        </p:nvSpPr>
        <p:spPr>
          <a:xfrm>
            <a:off x="685800" y="5989320"/>
            <a:ext cx="10789920" cy="365760"/>
          </a:xfrm>
          <a:prstGeom prst="rect">
            <a:avLst/>
          </a:prstGeom>
          <a:noFill/>
        </p:spPr>
        <p:txBody>
          <a:bodyPr wrap="square" lIns="0" rIns="0" tIns="0" bIns="0" anchor="t">
            <a:spAutoFit/>
          </a:bodyPr>
          <a:lstStyle/>
          <a:p>
            <a:pPr algn="l">
              <a:spcAft>
                <a:spcPts val="0"/>
              </a:spcAft>
            </a:pPr>
            <a:r>
              <a:rPr sz="1300" b="1">
                <a:solidFill>
                  <a:srgbClr val="114FF4"/>
                </a:solidFill>
                <a:latin typeface="Roboto"/>
              </a:rPr>
              <a:t>Progressive discovery is mandatory: we never inject eighty tools into a 400ms voice turn.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A1B9FC"/>
                </a:solidFill>
                <a:latin typeface="Roboto"/>
              </a:rPr>
              <a:t>THE MOAT</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400" b="1">
                <a:solidFill>
                  <a:srgbClr val="FFFFFF"/>
                </a:solidFill>
                <a:latin typeface="Proxima Nova"/>
              </a:rPr>
              <a:t>COMPLIANCE IS THE PRODUCT,
NOT THE PAPERWORK</a:t>
            </a:r>
          </a:p>
        </p:txBody>
      </p:sp>
      <p:sp>
        <p:nvSpPr>
          <p:cNvPr id="5" name="Rounded Rectangle 4"/>
          <p:cNvSpPr/>
          <p:nvPr/>
        </p:nvSpPr>
        <p:spPr>
          <a:xfrm>
            <a:off x="685800" y="2240280"/>
            <a:ext cx="10817352" cy="1188720"/>
          </a:xfrm>
          <a:prstGeom prst="roundRect">
            <a:avLst>
              <a:gd name="adj" fmla="val 3500"/>
            </a:avLst>
          </a:prstGeom>
          <a:solidFill>
            <a:srgbClr val="2E2E2E"/>
          </a:solidFill>
          <a:ln>
            <a:noFill/>
          </a:ln>
          <a:effectLst/>
        </p:spPr>
        <p:txBody>
          <a:bodyPr rtlCol="0" anchor="ctr"/>
          <a:lstStyle/>
          <a:p>
            <a:pPr algn="ctr"/>
          </a:p>
        </p:txBody>
      </p:sp>
      <p:sp>
        <p:nvSpPr>
          <p:cNvPr id="6" name="TextBox 5"/>
          <p:cNvSpPr txBox="1"/>
          <p:nvPr/>
        </p:nvSpPr>
        <p:spPr>
          <a:xfrm>
            <a:off x="1005840" y="2441448"/>
            <a:ext cx="3246120" cy="640080"/>
          </a:xfrm>
          <a:prstGeom prst="rect">
            <a:avLst/>
          </a:prstGeom>
          <a:noFill/>
        </p:spPr>
        <p:txBody>
          <a:bodyPr wrap="square" lIns="0" rIns="0" tIns="0" bIns="0" anchor="t">
            <a:spAutoFit/>
          </a:bodyPr>
          <a:lstStyle/>
          <a:p>
            <a:pPr algn="l">
              <a:lnSpc>
                <a:spcPct val="120000"/>
              </a:lnSpc>
              <a:spcAft>
                <a:spcPts val="0"/>
              </a:spcAft>
            </a:pPr>
            <a:r>
              <a:rPr sz="1300" b="1">
                <a:solidFill>
                  <a:srgbClr val="A1B9FC"/>
                </a:solidFill>
                <a:latin typeface="Proxima Nova"/>
              </a:rPr>
              <a:t>FAIL-CLOSED CONTACT GATE</a:t>
            </a:r>
          </a:p>
        </p:txBody>
      </p:sp>
      <p:sp>
        <p:nvSpPr>
          <p:cNvPr id="7" name="TextBox 6"/>
          <p:cNvSpPr txBox="1"/>
          <p:nvPr/>
        </p:nvSpPr>
        <p:spPr>
          <a:xfrm>
            <a:off x="4480560" y="2423160"/>
            <a:ext cx="6720840" cy="914400"/>
          </a:xfrm>
          <a:prstGeom prst="rect">
            <a:avLst/>
          </a:prstGeom>
          <a:noFill/>
        </p:spPr>
        <p:txBody>
          <a:bodyPr wrap="square" lIns="0" rIns="0" tIns="0" bIns="0" anchor="t">
            <a:spAutoFit/>
          </a:bodyPr>
          <a:lstStyle/>
          <a:p>
            <a:pPr algn="l">
              <a:lnSpc>
                <a:spcPct val="132000"/>
              </a:lnSpc>
              <a:spcAft>
                <a:spcPts val="0"/>
              </a:spcAft>
            </a:pPr>
            <a:r>
              <a:rPr sz="1150" b="0">
                <a:solidFill>
                  <a:srgbClr val="D3D3D3"/>
                </a:solidFill>
                <a:latin typeface="Roboto"/>
              </a:rPr>
              <a:t>Every outbound — voice, WhatsApp, SMS, even a PTP confirmation — is admitted or refused before it leaves. Daily and weekly caps, RBI 8am–7pm window, DND and opt-out, cooling-off. Shared across channels, so 'persistent calling' is structurally impossible.</a:t>
            </a:r>
          </a:p>
        </p:txBody>
      </p:sp>
      <p:sp>
        <p:nvSpPr>
          <p:cNvPr id="8" name="Rounded Rectangle 7"/>
          <p:cNvSpPr/>
          <p:nvPr/>
        </p:nvSpPr>
        <p:spPr>
          <a:xfrm>
            <a:off x="685800" y="3520440"/>
            <a:ext cx="10817352" cy="1188720"/>
          </a:xfrm>
          <a:prstGeom prst="roundRect">
            <a:avLst>
              <a:gd name="adj" fmla="val 3500"/>
            </a:avLst>
          </a:prstGeom>
          <a:solidFill>
            <a:srgbClr val="2E2E2E"/>
          </a:solidFill>
          <a:ln>
            <a:noFill/>
          </a:ln>
          <a:effectLst/>
        </p:spPr>
        <p:txBody>
          <a:bodyPr rtlCol="0" anchor="ctr"/>
          <a:lstStyle/>
          <a:p>
            <a:pPr algn="ctr"/>
          </a:p>
        </p:txBody>
      </p:sp>
      <p:sp>
        <p:nvSpPr>
          <p:cNvPr id="9" name="TextBox 8"/>
          <p:cNvSpPr txBox="1"/>
          <p:nvPr/>
        </p:nvSpPr>
        <p:spPr>
          <a:xfrm>
            <a:off x="1005840" y="3721608"/>
            <a:ext cx="3246120" cy="640080"/>
          </a:xfrm>
          <a:prstGeom prst="rect">
            <a:avLst/>
          </a:prstGeom>
          <a:noFill/>
        </p:spPr>
        <p:txBody>
          <a:bodyPr wrap="square" lIns="0" rIns="0" tIns="0" bIns="0" anchor="t">
            <a:spAutoFit/>
          </a:bodyPr>
          <a:lstStyle/>
          <a:p>
            <a:pPr algn="l">
              <a:lnSpc>
                <a:spcPct val="120000"/>
              </a:lnSpc>
              <a:spcAft>
                <a:spcPts val="0"/>
              </a:spcAft>
            </a:pPr>
            <a:r>
              <a:rPr sz="1300" b="1">
                <a:solidFill>
                  <a:srgbClr val="A1B9FC"/>
                </a:solidFill>
                <a:latin typeface="Proxima Nova"/>
              </a:rPr>
              <a:t>100% LIVE QA, WITH A BARGE SET</a:t>
            </a:r>
          </a:p>
        </p:txBody>
      </p:sp>
      <p:sp>
        <p:nvSpPr>
          <p:cNvPr id="10" name="TextBox 9"/>
          <p:cNvSpPr txBox="1"/>
          <p:nvPr/>
        </p:nvSpPr>
        <p:spPr>
          <a:xfrm>
            <a:off x="4480560" y="3703320"/>
            <a:ext cx="6720840" cy="914400"/>
          </a:xfrm>
          <a:prstGeom prst="rect">
            <a:avLst/>
          </a:prstGeom>
          <a:noFill/>
        </p:spPr>
        <p:txBody>
          <a:bodyPr wrap="square" lIns="0" rIns="0" tIns="0" bIns="0" anchor="t">
            <a:spAutoFit/>
          </a:bodyPr>
          <a:lstStyle/>
          <a:p>
            <a:pPr algn="l">
              <a:lnSpc>
                <a:spcPct val="132000"/>
              </a:lnSpc>
              <a:spcAft>
                <a:spcPts val="0"/>
              </a:spcAft>
            </a:pPr>
            <a:r>
              <a:rPr sz="1150" b="0">
                <a:solidFill>
                  <a:srgbClr val="D3D3D3"/>
                </a:solidFill>
                <a:latin typeface="Roboto"/>
              </a:rPr>
              <a:t>Not a 3% sample reviewed next week. Every turn scored deterministically, and a critical flag — hours breach, third-party leak, identity before verification, authority cap exceeded, opt-out ignored — can interrupt the live call.</a:t>
            </a:r>
          </a:p>
        </p:txBody>
      </p:sp>
      <p:sp>
        <p:nvSpPr>
          <p:cNvPr id="11" name="Rounded Rectangle 10"/>
          <p:cNvSpPr/>
          <p:nvPr/>
        </p:nvSpPr>
        <p:spPr>
          <a:xfrm>
            <a:off x="685800" y="4800600"/>
            <a:ext cx="10817352" cy="1188720"/>
          </a:xfrm>
          <a:prstGeom prst="roundRect">
            <a:avLst>
              <a:gd name="adj" fmla="val 3500"/>
            </a:avLst>
          </a:prstGeom>
          <a:solidFill>
            <a:srgbClr val="2E2E2E"/>
          </a:solidFill>
          <a:ln>
            <a:noFill/>
          </a:ln>
          <a:effectLst/>
        </p:spPr>
        <p:txBody>
          <a:bodyPr rtlCol="0" anchor="ctr"/>
          <a:lstStyle/>
          <a:p>
            <a:pPr algn="ctr"/>
          </a:p>
        </p:txBody>
      </p:sp>
      <p:sp>
        <p:nvSpPr>
          <p:cNvPr id="12" name="TextBox 11"/>
          <p:cNvSpPr txBox="1"/>
          <p:nvPr/>
        </p:nvSpPr>
        <p:spPr>
          <a:xfrm>
            <a:off x="1005840" y="5001768"/>
            <a:ext cx="3246120" cy="640080"/>
          </a:xfrm>
          <a:prstGeom prst="rect">
            <a:avLst/>
          </a:prstGeom>
          <a:noFill/>
        </p:spPr>
        <p:txBody>
          <a:bodyPr wrap="square" lIns="0" rIns="0" tIns="0" bIns="0" anchor="t">
            <a:spAutoFit/>
          </a:bodyPr>
          <a:lstStyle/>
          <a:p>
            <a:pPr algn="l">
              <a:lnSpc>
                <a:spcPct val="120000"/>
              </a:lnSpc>
              <a:spcAft>
                <a:spcPts val="0"/>
              </a:spcAft>
            </a:pPr>
            <a:r>
              <a:rPr sz="1300" b="1">
                <a:solidFill>
                  <a:srgbClr val="A1B9FC"/>
                </a:solidFill>
                <a:latin typeface="Proxima Nova"/>
              </a:rPr>
              <a:t>EVIDENCE, NOT ASSURANCES</a:t>
            </a:r>
          </a:p>
        </p:txBody>
      </p:sp>
      <p:sp>
        <p:nvSpPr>
          <p:cNvPr id="13" name="TextBox 12"/>
          <p:cNvSpPr txBox="1"/>
          <p:nvPr/>
        </p:nvSpPr>
        <p:spPr>
          <a:xfrm>
            <a:off x="4480560" y="4983480"/>
            <a:ext cx="6720840" cy="914400"/>
          </a:xfrm>
          <a:prstGeom prst="rect">
            <a:avLst/>
          </a:prstGeom>
          <a:noFill/>
        </p:spPr>
        <p:txBody>
          <a:bodyPr wrap="square" lIns="0" rIns="0" tIns="0" bIns="0" anchor="t">
            <a:spAutoFit/>
          </a:bodyPr>
          <a:lstStyle/>
          <a:p>
            <a:pPr algn="l">
              <a:lnSpc>
                <a:spcPct val="132000"/>
              </a:lnSpc>
              <a:spcAft>
                <a:spcPts val="0"/>
              </a:spcAft>
            </a:pPr>
            <a:r>
              <a:rPr sz="1150" b="0">
                <a:solidFill>
                  <a:srgbClr val="D3D3D3"/>
                </a:solidFill>
                <a:latin typeface="Roboto"/>
              </a:rPr>
              <a:t>PII redaction with masked audio segments, recording disclosure logs, append-only audit and activity events, and a one-call examiner export pack. Treatment holds for hardship, dispute, complaint, bereavement and legal bind the bot exactly as they bind a supervisor.</a:t>
            </a:r>
          </a:p>
        </p:txBody>
      </p:sp>
      <p:sp>
        <p:nvSpPr>
          <p:cNvPr id="14" name="TextBox 13"/>
          <p:cNvSpPr txBox="1"/>
          <p:nvPr/>
        </p:nvSpPr>
        <p:spPr>
          <a:xfrm>
            <a:off x="685800" y="6263640"/>
            <a:ext cx="10789920" cy="320040"/>
          </a:xfrm>
          <a:prstGeom prst="rect">
            <a:avLst/>
          </a:prstGeom>
          <a:noFill/>
        </p:spPr>
        <p:txBody>
          <a:bodyPr wrap="square" lIns="0" rIns="0" tIns="0" bIns="0" anchor="t">
            <a:spAutoFit/>
          </a:bodyPr>
          <a:lstStyle/>
          <a:p>
            <a:pPr algn="l">
              <a:spcAft>
                <a:spcPts val="0"/>
              </a:spcAft>
            </a:pPr>
            <a:r>
              <a:rPr sz="1100" b="0">
                <a:solidFill>
                  <a:srgbClr val="A7A7A7"/>
                </a:solidFill>
                <a:latin typeface="Roboto"/>
              </a:rPr>
              <a:t>RBI DOR.ORG.REC.65/2022-23  ·  RBI Digital Lending Directions 2025  ·  DPDP  ·  TRAI NDNC — encoded as vetoes, not reminders.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EVIDENCE</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THIS IS BUILT, NOT A MOCKUP</a:t>
            </a:r>
          </a:p>
        </p:txBody>
      </p:sp>
      <p:sp>
        <p:nvSpPr>
          <p:cNvPr id="5" name="Rounded Rectangle 4"/>
          <p:cNvSpPr/>
          <p:nvPr/>
        </p:nvSpPr>
        <p:spPr>
          <a:xfrm>
            <a:off x="685800"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6" name="TextBox 5"/>
          <p:cNvSpPr txBox="1"/>
          <p:nvPr/>
        </p:nvSpPr>
        <p:spPr>
          <a:xfrm>
            <a:off x="685800"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~153</a:t>
            </a:r>
          </a:p>
        </p:txBody>
      </p:sp>
      <p:sp>
        <p:nvSpPr>
          <p:cNvPr id="7" name="TextBox 6"/>
          <p:cNvSpPr txBox="1"/>
          <p:nvPr/>
        </p:nvSpPr>
        <p:spPr>
          <a:xfrm>
            <a:off x="804672"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tables in the system of record</a:t>
            </a:r>
          </a:p>
        </p:txBody>
      </p:sp>
      <p:sp>
        <p:nvSpPr>
          <p:cNvPr id="8" name="Rounded Rectangle 7"/>
          <p:cNvSpPr/>
          <p:nvPr/>
        </p:nvSpPr>
        <p:spPr>
          <a:xfrm>
            <a:off x="2505456"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9" name="TextBox 8"/>
          <p:cNvSpPr txBox="1"/>
          <p:nvPr/>
        </p:nvSpPr>
        <p:spPr>
          <a:xfrm>
            <a:off x="2505456"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282</a:t>
            </a:r>
          </a:p>
        </p:txBody>
      </p:sp>
      <p:sp>
        <p:nvSpPr>
          <p:cNvPr id="10" name="TextBox 9"/>
          <p:cNvSpPr txBox="1"/>
          <p:nvPr/>
        </p:nvSpPr>
        <p:spPr>
          <a:xfrm>
            <a:off x="2624328"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API route handlers</a:t>
            </a:r>
          </a:p>
        </p:txBody>
      </p:sp>
      <p:sp>
        <p:nvSpPr>
          <p:cNvPr id="11" name="Rounded Rectangle 10"/>
          <p:cNvSpPr/>
          <p:nvPr/>
        </p:nvSpPr>
        <p:spPr>
          <a:xfrm>
            <a:off x="4325112"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12" name="TextBox 11"/>
          <p:cNvSpPr txBox="1"/>
          <p:nvPr/>
        </p:nvSpPr>
        <p:spPr>
          <a:xfrm>
            <a:off x="4325112"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24</a:t>
            </a:r>
          </a:p>
        </p:txBody>
      </p:sp>
      <p:sp>
        <p:nvSpPr>
          <p:cNvPr id="13" name="TextBox 12"/>
          <p:cNvSpPr txBox="1"/>
          <p:nvPr/>
        </p:nvSpPr>
        <p:spPr>
          <a:xfrm>
            <a:off x="4443984"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typed tools in the catalog</a:t>
            </a:r>
          </a:p>
        </p:txBody>
      </p:sp>
      <p:sp>
        <p:nvSpPr>
          <p:cNvPr id="14" name="Rounded Rectangle 13"/>
          <p:cNvSpPr/>
          <p:nvPr/>
        </p:nvSpPr>
        <p:spPr>
          <a:xfrm>
            <a:off x="6144768"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15" name="TextBox 14"/>
          <p:cNvSpPr txBox="1"/>
          <p:nvPr/>
        </p:nvSpPr>
        <p:spPr>
          <a:xfrm>
            <a:off x="6144768"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109</a:t>
            </a:r>
          </a:p>
        </p:txBody>
      </p:sp>
      <p:sp>
        <p:nvSpPr>
          <p:cNvPr id="16" name="TextBox 15"/>
          <p:cNvSpPr txBox="1"/>
          <p:nvPr/>
        </p:nvSpPr>
        <p:spPr>
          <a:xfrm>
            <a:off x="6263640"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backend test files</a:t>
            </a:r>
          </a:p>
        </p:txBody>
      </p:sp>
      <p:sp>
        <p:nvSpPr>
          <p:cNvPr id="17" name="Rounded Rectangle 16"/>
          <p:cNvSpPr/>
          <p:nvPr/>
        </p:nvSpPr>
        <p:spPr>
          <a:xfrm>
            <a:off x="7964424"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18" name="TextBox 17"/>
          <p:cNvSpPr txBox="1"/>
          <p:nvPr/>
        </p:nvSpPr>
        <p:spPr>
          <a:xfrm>
            <a:off x="7964424"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4</a:t>
            </a:r>
          </a:p>
        </p:txBody>
      </p:sp>
      <p:sp>
        <p:nvSpPr>
          <p:cNvPr id="19" name="TextBox 18"/>
          <p:cNvSpPr txBox="1"/>
          <p:nvPr/>
        </p:nvSpPr>
        <p:spPr>
          <a:xfrm>
            <a:off x="8083296"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mesh roles, scoped per agent</a:t>
            </a:r>
          </a:p>
        </p:txBody>
      </p:sp>
      <p:sp>
        <p:nvSpPr>
          <p:cNvPr id="20" name="Rounded Rectangle 19"/>
          <p:cNvSpPr/>
          <p:nvPr/>
        </p:nvSpPr>
        <p:spPr>
          <a:xfrm>
            <a:off x="9784080" y="1965960"/>
            <a:ext cx="1700784" cy="1417320"/>
          </a:xfrm>
          <a:prstGeom prst="roundRect">
            <a:avLst>
              <a:gd name="adj" fmla="val 3500"/>
            </a:avLst>
          </a:prstGeom>
          <a:solidFill>
            <a:srgbClr val="EFF3FE"/>
          </a:solidFill>
          <a:ln>
            <a:noFill/>
          </a:ln>
          <a:effectLst/>
        </p:spPr>
        <p:txBody>
          <a:bodyPr rtlCol="0" anchor="ctr"/>
          <a:lstStyle/>
          <a:p>
            <a:pPr algn="ctr"/>
          </a:p>
        </p:txBody>
      </p:sp>
      <p:sp>
        <p:nvSpPr>
          <p:cNvPr id="21" name="TextBox 20"/>
          <p:cNvSpPr txBox="1"/>
          <p:nvPr/>
        </p:nvSpPr>
        <p:spPr>
          <a:xfrm>
            <a:off x="9784080" y="2157984"/>
            <a:ext cx="1700784" cy="502920"/>
          </a:xfrm>
          <a:prstGeom prst="rect">
            <a:avLst/>
          </a:prstGeom>
          <a:noFill/>
        </p:spPr>
        <p:txBody>
          <a:bodyPr wrap="square" lIns="0" rIns="0" tIns="0" bIns="0" anchor="t">
            <a:spAutoFit/>
          </a:bodyPr>
          <a:lstStyle/>
          <a:p>
            <a:pPr algn="ctr">
              <a:spcAft>
                <a:spcPts val="0"/>
              </a:spcAft>
            </a:pPr>
            <a:r>
              <a:rPr sz="3000" b="1">
                <a:solidFill>
                  <a:srgbClr val="114FF4"/>
                </a:solidFill>
                <a:latin typeface="Proxima Nova"/>
              </a:rPr>
              <a:t>2</a:t>
            </a:r>
          </a:p>
        </p:txBody>
      </p:sp>
      <p:sp>
        <p:nvSpPr>
          <p:cNvPr id="22" name="TextBox 21"/>
          <p:cNvSpPr txBox="1"/>
          <p:nvPr/>
        </p:nvSpPr>
        <p:spPr>
          <a:xfrm>
            <a:off x="9902952" y="2670048"/>
            <a:ext cx="1463040" cy="548640"/>
          </a:xfrm>
          <a:prstGeom prst="rect">
            <a:avLst/>
          </a:prstGeom>
          <a:noFill/>
        </p:spPr>
        <p:txBody>
          <a:bodyPr wrap="square" lIns="0" rIns="0" tIns="0" bIns="0" anchor="t">
            <a:spAutoFit/>
          </a:bodyPr>
          <a:lstStyle/>
          <a:p>
            <a:pPr algn="ctr">
              <a:lnSpc>
                <a:spcPct val="130000"/>
              </a:lnSpc>
              <a:spcAft>
                <a:spcPts val="0"/>
              </a:spcAft>
            </a:pPr>
            <a:r>
              <a:rPr sz="950" b="0">
                <a:solidFill>
                  <a:srgbClr val="7B7B7B"/>
                </a:solidFill>
                <a:latin typeface="Roboto"/>
              </a:rPr>
              <a:t>languages, switched mid-call</a:t>
            </a:r>
          </a:p>
        </p:txBody>
      </p:sp>
      <p:sp>
        <p:nvSpPr>
          <p:cNvPr id="23" name="TextBox 22"/>
          <p:cNvSpPr txBox="1"/>
          <p:nvPr/>
        </p:nvSpPr>
        <p:spPr>
          <a:xfrm>
            <a:off x="685800" y="3657600"/>
            <a:ext cx="5212080" cy="320040"/>
          </a:xfrm>
          <a:prstGeom prst="rect">
            <a:avLst/>
          </a:prstGeom>
          <a:noFill/>
        </p:spPr>
        <p:txBody>
          <a:bodyPr wrap="square" lIns="0" rIns="0" tIns="0" bIns="0" anchor="t">
            <a:spAutoFit/>
          </a:bodyPr>
          <a:lstStyle/>
          <a:p>
            <a:pPr algn="l">
              <a:spcAft>
                <a:spcPts val="0"/>
              </a:spcAft>
            </a:pPr>
            <a:r>
              <a:rPr sz="1400" b="1" spc="80">
                <a:solidFill>
                  <a:srgbClr val="232323"/>
                </a:solidFill>
                <a:latin typeface="Proxima Nova"/>
              </a:rPr>
              <a:t>SHIPPED THIS CYCLE</a:t>
            </a:r>
          </a:p>
        </p:txBody>
      </p:sp>
      <p:sp>
        <p:nvSpPr>
          <p:cNvPr id="24" name="TextBox 23"/>
          <p:cNvSpPr txBox="1"/>
          <p:nvPr/>
        </p:nvSpPr>
        <p:spPr>
          <a:xfrm>
            <a:off x="685800" y="4114800"/>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P1  Bounce-to-contact — a case opens the minute the mandate fails</a:t>
            </a:r>
          </a:p>
        </p:txBody>
      </p:sp>
      <p:sp>
        <p:nvSpPr>
          <p:cNvPr id="25" name="TextBox 24"/>
          <p:cNvSpPr txBox="1"/>
          <p:nvPr/>
        </p:nvSpPr>
        <p:spPr>
          <a:xfrm>
            <a:off x="685800" y="4425696"/>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P2  Written PTP with a pay-link, confirmed in minutes</a:t>
            </a:r>
          </a:p>
        </p:txBody>
      </p:sp>
      <p:sp>
        <p:nvSpPr>
          <p:cNvPr id="26" name="TextBox 25"/>
          <p:cNvSpPr txBox="1"/>
          <p:nvPr/>
        </p:nvSpPr>
        <p:spPr>
          <a:xfrm>
            <a:off x="685800" y="4736592"/>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P3  Next-best-treatment engine, running in shadow</a:t>
            </a:r>
          </a:p>
        </p:txBody>
      </p:sp>
      <p:sp>
        <p:nvSpPr>
          <p:cNvPr id="27" name="TextBox 26"/>
          <p:cNvSpPr txBox="1"/>
          <p:nvPr/>
        </p:nvSpPr>
        <p:spPr>
          <a:xfrm>
            <a:off x="685800" y="5047488"/>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P4  Live authority matrix on every call</a:t>
            </a:r>
          </a:p>
        </p:txBody>
      </p:sp>
      <p:sp>
        <p:nvSpPr>
          <p:cNvPr id="28" name="TextBox 27"/>
          <p:cNvSpPr txBox="1"/>
          <p:nvPr/>
        </p:nvSpPr>
        <p:spPr>
          <a:xfrm>
            <a:off x="685800" y="5358383"/>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P5  Broken-PTP auto-next-action ladder</a:t>
            </a:r>
          </a:p>
        </p:txBody>
      </p:sp>
      <p:sp>
        <p:nvSpPr>
          <p:cNvPr id="29" name="TextBox 28"/>
          <p:cNvSpPr txBox="1"/>
          <p:nvPr/>
        </p:nvSpPr>
        <p:spPr>
          <a:xfrm>
            <a:off x="685800" y="5669279"/>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P6  Cross-channel contact policy gate</a:t>
            </a:r>
          </a:p>
        </p:txBody>
      </p:sp>
      <p:sp>
        <p:nvSpPr>
          <p:cNvPr id="30" name="TextBox 29"/>
          <p:cNvSpPr txBox="1"/>
          <p:nvPr/>
        </p:nvSpPr>
        <p:spPr>
          <a:xfrm>
            <a:off x="685800" y="5980175"/>
            <a:ext cx="5257800" cy="274320"/>
          </a:xfrm>
          <a:prstGeom prst="rect">
            <a:avLst/>
          </a:prstGeom>
          <a:noFill/>
        </p:spPr>
        <p:txBody>
          <a:bodyPr wrap="square" lIns="0" rIns="0" tIns="0" bIns="0" anchor="t">
            <a:spAutoFit/>
          </a:bodyPr>
          <a:lstStyle/>
          <a:p>
            <a:pPr algn="l">
              <a:spcAft>
                <a:spcPts val="0"/>
              </a:spcAft>
            </a:pPr>
            <a:r>
              <a:rPr sz="1150" b="0">
                <a:solidFill>
                  <a:srgbClr val="444444"/>
                </a:solidFill>
                <a:latin typeface="Roboto"/>
              </a:rPr>
              <a:t>P7  100% live QA scoring, with auto-barge in shadow</a:t>
            </a:r>
          </a:p>
        </p:txBody>
      </p:sp>
      <p:sp>
        <p:nvSpPr>
          <p:cNvPr id="31" name="Rounded Rectangle 30"/>
          <p:cNvSpPr/>
          <p:nvPr/>
        </p:nvSpPr>
        <p:spPr>
          <a:xfrm>
            <a:off x="6291072" y="3611880"/>
            <a:ext cx="5212080" cy="2331720"/>
          </a:xfrm>
          <a:prstGeom prst="roundRect">
            <a:avLst>
              <a:gd name="adj" fmla="val 3500"/>
            </a:avLst>
          </a:prstGeom>
          <a:solidFill>
            <a:srgbClr val="F3F3F3"/>
          </a:solidFill>
          <a:ln>
            <a:noFill/>
          </a:ln>
          <a:effectLst/>
        </p:spPr>
        <p:txBody>
          <a:bodyPr rtlCol="0" anchor="ctr"/>
          <a:lstStyle/>
          <a:p>
            <a:pPr algn="ctr"/>
          </a:p>
        </p:txBody>
      </p:sp>
      <p:sp>
        <p:nvSpPr>
          <p:cNvPr id="32" name="TextBox 31"/>
          <p:cNvSpPr txBox="1"/>
          <p:nvPr/>
        </p:nvSpPr>
        <p:spPr>
          <a:xfrm>
            <a:off x="6611112" y="3840480"/>
            <a:ext cx="4480560" cy="320040"/>
          </a:xfrm>
          <a:prstGeom prst="rect">
            <a:avLst/>
          </a:prstGeom>
          <a:noFill/>
        </p:spPr>
        <p:txBody>
          <a:bodyPr wrap="square" lIns="0" rIns="0" tIns="0" bIns="0" anchor="t">
            <a:spAutoFit/>
          </a:bodyPr>
          <a:lstStyle/>
          <a:p>
            <a:pPr algn="l">
              <a:spcAft>
                <a:spcPts val="0"/>
              </a:spcAft>
            </a:pPr>
            <a:r>
              <a:rPr sz="1400" b="1" spc="80">
                <a:solidFill>
                  <a:srgbClr val="232323"/>
                </a:solidFill>
                <a:latin typeface="Proxima Nova"/>
              </a:rPr>
              <a:t>THE VOICE STACK, MEASURED</a:t>
            </a:r>
          </a:p>
        </p:txBody>
      </p:sp>
      <p:sp>
        <p:nvSpPr>
          <p:cNvPr id="33" name="TextBox 32"/>
          <p:cNvSpPr txBox="1"/>
          <p:nvPr/>
        </p:nvSpPr>
        <p:spPr>
          <a:xfrm>
            <a:off x="6611112" y="4279392"/>
            <a:ext cx="1051560" cy="274320"/>
          </a:xfrm>
          <a:prstGeom prst="rect">
            <a:avLst/>
          </a:prstGeom>
          <a:noFill/>
        </p:spPr>
        <p:txBody>
          <a:bodyPr wrap="square" lIns="0" rIns="0" tIns="0" bIns="0" anchor="t">
            <a:spAutoFit/>
          </a:bodyPr>
          <a:lstStyle/>
          <a:p>
            <a:pPr algn="l">
              <a:spcAft>
                <a:spcPts val="0"/>
              </a:spcAft>
            </a:pPr>
            <a:r>
              <a:rPr sz="1050" b="1">
                <a:solidFill>
                  <a:srgbClr val="114FF4"/>
                </a:solidFill>
                <a:latin typeface="Proxima Nova"/>
              </a:rPr>
              <a:t>Pipeline</a:t>
            </a:r>
          </a:p>
        </p:txBody>
      </p:sp>
      <p:sp>
        <p:nvSpPr>
          <p:cNvPr id="34" name="TextBox 33"/>
          <p:cNvSpPr txBox="1"/>
          <p:nvPr/>
        </p:nvSpPr>
        <p:spPr>
          <a:xfrm>
            <a:off x="7726679" y="4279392"/>
            <a:ext cx="3611880" cy="274320"/>
          </a:xfrm>
          <a:prstGeom prst="rect">
            <a:avLst/>
          </a:prstGeom>
          <a:noFill/>
        </p:spPr>
        <p:txBody>
          <a:bodyPr wrap="square" lIns="0" rIns="0" tIns="0" bIns="0" anchor="t">
            <a:spAutoFit/>
          </a:bodyPr>
          <a:lstStyle/>
          <a:p>
            <a:pPr algn="l">
              <a:spcAft>
                <a:spcPts val="0"/>
              </a:spcAft>
            </a:pPr>
            <a:r>
              <a:rPr sz="1050" b="0">
                <a:solidFill>
                  <a:srgbClr val="4A4A4A"/>
                </a:solidFill>
                <a:latin typeface="Roboto"/>
              </a:rPr>
              <a:t>Pipecat Flows · Silero VAD turn-taking · barge-in</a:t>
            </a:r>
          </a:p>
        </p:txBody>
      </p:sp>
      <p:sp>
        <p:nvSpPr>
          <p:cNvPr id="35" name="TextBox 34"/>
          <p:cNvSpPr txBox="1"/>
          <p:nvPr/>
        </p:nvSpPr>
        <p:spPr>
          <a:xfrm>
            <a:off x="6611112" y="4626864"/>
            <a:ext cx="1051560" cy="274320"/>
          </a:xfrm>
          <a:prstGeom prst="rect">
            <a:avLst/>
          </a:prstGeom>
          <a:noFill/>
        </p:spPr>
        <p:txBody>
          <a:bodyPr wrap="square" lIns="0" rIns="0" tIns="0" bIns="0" anchor="t">
            <a:spAutoFit/>
          </a:bodyPr>
          <a:lstStyle/>
          <a:p>
            <a:pPr algn="l">
              <a:spcAft>
                <a:spcPts val="0"/>
              </a:spcAft>
            </a:pPr>
            <a:r>
              <a:rPr sz="1050" b="1">
                <a:solidFill>
                  <a:srgbClr val="114FF4"/>
                </a:solidFill>
                <a:latin typeface="Proxima Nova"/>
              </a:rPr>
              <a:t>Speech</a:t>
            </a:r>
          </a:p>
        </p:txBody>
      </p:sp>
      <p:sp>
        <p:nvSpPr>
          <p:cNvPr id="36" name="TextBox 35"/>
          <p:cNvSpPr txBox="1"/>
          <p:nvPr/>
        </p:nvSpPr>
        <p:spPr>
          <a:xfrm>
            <a:off x="7726679" y="4626864"/>
            <a:ext cx="3611880" cy="274320"/>
          </a:xfrm>
          <a:prstGeom prst="rect">
            <a:avLst/>
          </a:prstGeom>
          <a:noFill/>
        </p:spPr>
        <p:txBody>
          <a:bodyPr wrap="square" lIns="0" rIns="0" tIns="0" bIns="0" anchor="t">
            <a:spAutoFit/>
          </a:bodyPr>
          <a:lstStyle/>
          <a:p>
            <a:pPr algn="l">
              <a:spcAft>
                <a:spcPts val="0"/>
              </a:spcAft>
            </a:pPr>
            <a:r>
              <a:rPr sz="1050" b="0">
                <a:solidFill>
                  <a:srgbClr val="4A4A4A"/>
                </a:solidFill>
                <a:latin typeface="Roboto"/>
              </a:rPr>
              <a:t>Azure STT/TTS, pooled keep-alive clients</a:t>
            </a:r>
          </a:p>
        </p:txBody>
      </p:sp>
      <p:sp>
        <p:nvSpPr>
          <p:cNvPr id="37" name="TextBox 36"/>
          <p:cNvSpPr txBox="1"/>
          <p:nvPr/>
        </p:nvSpPr>
        <p:spPr>
          <a:xfrm>
            <a:off x="6611112" y="4974336"/>
            <a:ext cx="1051560" cy="274320"/>
          </a:xfrm>
          <a:prstGeom prst="rect">
            <a:avLst/>
          </a:prstGeom>
          <a:noFill/>
        </p:spPr>
        <p:txBody>
          <a:bodyPr wrap="square" lIns="0" rIns="0" tIns="0" bIns="0" anchor="t">
            <a:spAutoFit/>
          </a:bodyPr>
          <a:lstStyle/>
          <a:p>
            <a:pPr algn="l">
              <a:spcAft>
                <a:spcPts val="0"/>
              </a:spcAft>
            </a:pPr>
            <a:r>
              <a:rPr sz="1050" b="1">
                <a:solidFill>
                  <a:srgbClr val="114FF4"/>
                </a:solidFill>
                <a:latin typeface="Proxima Nova"/>
              </a:rPr>
              <a:t>Model</a:t>
            </a:r>
          </a:p>
        </p:txBody>
      </p:sp>
      <p:sp>
        <p:nvSpPr>
          <p:cNvPr id="38" name="TextBox 37"/>
          <p:cNvSpPr txBox="1"/>
          <p:nvPr/>
        </p:nvSpPr>
        <p:spPr>
          <a:xfrm>
            <a:off x="7726679" y="4974336"/>
            <a:ext cx="3611880" cy="274320"/>
          </a:xfrm>
          <a:prstGeom prst="rect">
            <a:avLst/>
          </a:prstGeom>
          <a:noFill/>
        </p:spPr>
        <p:txBody>
          <a:bodyPr wrap="square" lIns="0" rIns="0" tIns="0" bIns="0" anchor="t">
            <a:spAutoFit/>
          </a:bodyPr>
          <a:lstStyle/>
          <a:p>
            <a:pPr algn="l">
              <a:spcAft>
                <a:spcPts val="0"/>
              </a:spcAft>
            </a:pPr>
            <a:r>
              <a:rPr sz="1050" b="0">
                <a:solidFill>
                  <a:srgbClr val="4A4A4A"/>
                </a:solidFill>
                <a:latin typeface="Roboto"/>
              </a:rPr>
              <a:t>Azure OpenAI gpt-4.1-mini, warm client pool</a:t>
            </a:r>
          </a:p>
        </p:txBody>
      </p:sp>
      <p:sp>
        <p:nvSpPr>
          <p:cNvPr id="39" name="TextBox 38"/>
          <p:cNvSpPr txBox="1"/>
          <p:nvPr/>
        </p:nvSpPr>
        <p:spPr>
          <a:xfrm>
            <a:off x="6611112" y="5321807"/>
            <a:ext cx="1051560" cy="274320"/>
          </a:xfrm>
          <a:prstGeom prst="rect">
            <a:avLst/>
          </a:prstGeom>
          <a:noFill/>
        </p:spPr>
        <p:txBody>
          <a:bodyPr wrap="square" lIns="0" rIns="0" tIns="0" bIns="0" anchor="t">
            <a:spAutoFit/>
          </a:bodyPr>
          <a:lstStyle/>
          <a:p>
            <a:pPr algn="l">
              <a:spcAft>
                <a:spcPts val="0"/>
              </a:spcAft>
            </a:pPr>
            <a:r>
              <a:rPr sz="1050" b="1">
                <a:solidFill>
                  <a:srgbClr val="114FF4"/>
                </a:solidFill>
                <a:latin typeface="Proxima Nova"/>
              </a:rPr>
              <a:t>Telephony</a:t>
            </a:r>
          </a:p>
        </p:txBody>
      </p:sp>
      <p:sp>
        <p:nvSpPr>
          <p:cNvPr id="40" name="TextBox 39"/>
          <p:cNvSpPr txBox="1"/>
          <p:nvPr/>
        </p:nvSpPr>
        <p:spPr>
          <a:xfrm>
            <a:off x="7726679" y="5321807"/>
            <a:ext cx="3611880" cy="274320"/>
          </a:xfrm>
          <a:prstGeom prst="rect">
            <a:avLst/>
          </a:prstGeom>
          <a:noFill/>
        </p:spPr>
        <p:txBody>
          <a:bodyPr wrap="square" lIns="0" rIns="0" tIns="0" bIns="0" anchor="t">
            <a:spAutoFit/>
          </a:bodyPr>
          <a:lstStyle/>
          <a:p>
            <a:pPr algn="l">
              <a:spcAft>
                <a:spcPts val="0"/>
              </a:spcAft>
            </a:pPr>
            <a:r>
              <a:rPr sz="1050" b="0">
                <a:solidFill>
                  <a:srgbClr val="4A4A4A"/>
                </a:solidFill>
                <a:latin typeface="Roboto"/>
              </a:rPr>
              <a:t>Twilio PSTN, media streams, warm transfer</a:t>
            </a:r>
          </a:p>
        </p:txBody>
      </p:sp>
      <p:sp>
        <p:nvSpPr>
          <p:cNvPr id="41" name="TextBox 40"/>
          <p:cNvSpPr txBox="1"/>
          <p:nvPr/>
        </p:nvSpPr>
        <p:spPr>
          <a:xfrm>
            <a:off x="6611112" y="5669279"/>
            <a:ext cx="1051560" cy="274320"/>
          </a:xfrm>
          <a:prstGeom prst="rect">
            <a:avLst/>
          </a:prstGeom>
          <a:noFill/>
        </p:spPr>
        <p:txBody>
          <a:bodyPr wrap="square" lIns="0" rIns="0" tIns="0" bIns="0" anchor="t">
            <a:spAutoFit/>
          </a:bodyPr>
          <a:lstStyle/>
          <a:p>
            <a:pPr algn="l">
              <a:spcAft>
                <a:spcPts val="0"/>
              </a:spcAft>
            </a:pPr>
            <a:r>
              <a:rPr sz="1050" b="1">
                <a:solidFill>
                  <a:srgbClr val="114FF4"/>
                </a:solidFill>
                <a:latin typeface="Proxima Nova"/>
              </a:rPr>
              <a:t>Latency</a:t>
            </a:r>
          </a:p>
        </p:txBody>
      </p:sp>
      <p:sp>
        <p:nvSpPr>
          <p:cNvPr id="42" name="TextBox 41"/>
          <p:cNvSpPr txBox="1"/>
          <p:nvPr/>
        </p:nvSpPr>
        <p:spPr>
          <a:xfrm>
            <a:off x="7726679" y="5669279"/>
            <a:ext cx="3611880" cy="274320"/>
          </a:xfrm>
          <a:prstGeom prst="rect">
            <a:avLst/>
          </a:prstGeom>
          <a:noFill/>
        </p:spPr>
        <p:txBody>
          <a:bodyPr wrap="square" lIns="0" rIns="0" tIns="0" bIns="0" anchor="t">
            <a:spAutoFit/>
          </a:bodyPr>
          <a:lstStyle/>
          <a:p>
            <a:pPr algn="l">
              <a:spcAft>
                <a:spcPts val="0"/>
              </a:spcAft>
            </a:pPr>
            <a:r>
              <a:rPr sz="1050" b="0">
                <a:solidFill>
                  <a:srgbClr val="4A4A4A"/>
                </a:solidFill>
                <a:latin typeface="Roboto"/>
              </a:rPr>
              <a:t>warm ~510–740ms; LLM TTFB 1.3–1.9s</a:t>
            </a:r>
          </a:p>
        </p:txBody>
      </p:sp>
      <p:sp>
        <p:nvSpPr>
          <p:cNvPr id="43" name="TextBox 42"/>
          <p:cNvSpPr txBox="1"/>
          <p:nvPr/>
        </p:nvSpPr>
        <p:spPr>
          <a:xfrm>
            <a:off x="685800" y="6291072"/>
            <a:ext cx="10789920" cy="274320"/>
          </a:xfrm>
          <a:prstGeom prst="rect">
            <a:avLst/>
          </a:prstGeom>
          <a:noFill/>
        </p:spPr>
        <p:txBody>
          <a:bodyPr wrap="square" lIns="0" rIns="0" tIns="0" bIns="0" anchor="t">
            <a:spAutoFit/>
          </a:bodyPr>
          <a:lstStyle/>
          <a:p>
            <a:pPr algn="l">
              <a:spcAft>
                <a:spcPts val="0"/>
              </a:spcAft>
            </a:pPr>
            <a:r>
              <a:rPr sz="900" b="0">
                <a:solidFill>
                  <a:srgbClr val="7B7B7B"/>
                </a:solidFill>
                <a:latin typeface="Roboto"/>
              </a:rPr>
              <a:t>Latency measured India → East US 2. Keep-alive pooling is the single largest win — roughly 3x on handshake.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BUSINESS CASE</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WE REPORT TO THEIR SCOREBOARD</a:t>
            </a:r>
          </a:p>
        </p:txBody>
      </p:sp>
      <p:sp>
        <p:nvSpPr>
          <p:cNvPr id="5" name="TextBox 4"/>
          <p:cNvSpPr txBox="1"/>
          <p:nvPr/>
        </p:nvSpPr>
        <p:spPr>
          <a:xfrm>
            <a:off x="685800" y="1847088"/>
            <a:ext cx="10515600" cy="365760"/>
          </a:xfrm>
          <a:prstGeom prst="rect">
            <a:avLst/>
          </a:prstGeom>
          <a:noFill/>
        </p:spPr>
        <p:txBody>
          <a:bodyPr wrap="square" lIns="0" rIns="0" tIns="0" bIns="0" anchor="t">
            <a:spAutoFit/>
          </a:bodyPr>
          <a:lstStyle/>
          <a:p>
            <a:pPr algn="l">
              <a:spcAft>
                <a:spcPts val="0"/>
              </a:spcAft>
            </a:pPr>
            <a:r>
              <a:rPr sz="1400" b="0">
                <a:solidFill>
                  <a:srgbClr val="7B7B7B"/>
                </a:solidFill>
                <a:latin typeface="Roboto"/>
              </a:rPr>
              <a:t>The buyer is a collections head, not a voice-AI enthusiast. These are the six numbers they are measured on.</a:t>
            </a:r>
          </a:p>
        </p:txBody>
      </p:sp>
      <p:sp>
        <p:nvSpPr>
          <p:cNvPr id="6" name="Rounded Rectangle 5"/>
          <p:cNvSpPr/>
          <p:nvPr/>
        </p:nvSpPr>
        <p:spPr>
          <a:xfrm>
            <a:off x="685800" y="2468880"/>
            <a:ext cx="5285232" cy="768096"/>
          </a:xfrm>
          <a:prstGeom prst="roundRect">
            <a:avLst>
              <a:gd name="adj" fmla="val 3500"/>
            </a:avLst>
          </a:prstGeom>
          <a:solidFill>
            <a:srgbClr val="F6F7FB"/>
          </a:solidFill>
          <a:ln>
            <a:noFill/>
          </a:ln>
          <a:effectLst/>
        </p:spPr>
        <p:txBody>
          <a:bodyPr rtlCol="0" anchor="ctr"/>
          <a:lstStyle/>
          <a:p>
            <a:pPr algn="ctr"/>
          </a:p>
        </p:txBody>
      </p:sp>
      <p:sp>
        <p:nvSpPr>
          <p:cNvPr id="7" name="TextBox 6"/>
          <p:cNvSpPr txBox="1"/>
          <p:nvPr/>
        </p:nvSpPr>
        <p:spPr>
          <a:xfrm>
            <a:off x="960120" y="2587752"/>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Cost to collect</a:t>
            </a:r>
          </a:p>
        </p:txBody>
      </p:sp>
      <p:sp>
        <p:nvSpPr>
          <p:cNvPr id="8" name="TextBox 7"/>
          <p:cNvSpPr txBox="1"/>
          <p:nvPr/>
        </p:nvSpPr>
        <p:spPr>
          <a:xfrm>
            <a:off x="960120" y="2907792"/>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Bot takes the volume buckets; humans take the exceptions</a:t>
            </a:r>
          </a:p>
        </p:txBody>
      </p:sp>
      <p:sp>
        <p:nvSpPr>
          <p:cNvPr id="9" name="Rounded Rectangle 8"/>
          <p:cNvSpPr/>
          <p:nvPr/>
        </p:nvSpPr>
        <p:spPr>
          <a:xfrm>
            <a:off x="6217920" y="2468880"/>
            <a:ext cx="5285232" cy="768096"/>
          </a:xfrm>
          <a:prstGeom prst="roundRect">
            <a:avLst>
              <a:gd name="adj" fmla="val 3500"/>
            </a:avLst>
          </a:prstGeom>
          <a:solidFill>
            <a:srgbClr val="F6F7FB"/>
          </a:solidFill>
          <a:ln>
            <a:noFill/>
          </a:ln>
          <a:effectLst/>
        </p:spPr>
        <p:txBody>
          <a:bodyPr rtlCol="0" anchor="ctr"/>
          <a:lstStyle/>
          <a:p>
            <a:pPr algn="ctr"/>
          </a:p>
        </p:txBody>
      </p:sp>
      <p:sp>
        <p:nvSpPr>
          <p:cNvPr id="10" name="TextBox 9"/>
          <p:cNvSpPr txBox="1"/>
          <p:nvPr/>
        </p:nvSpPr>
        <p:spPr>
          <a:xfrm>
            <a:off x="6492240" y="2587752"/>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PTP kept %</a:t>
            </a:r>
          </a:p>
        </p:txBody>
      </p:sp>
      <p:sp>
        <p:nvSpPr>
          <p:cNvPr id="11" name="TextBox 10"/>
          <p:cNvSpPr txBox="1"/>
          <p:nvPr/>
        </p:nvSpPr>
        <p:spPr>
          <a:xfrm>
            <a:off x="6492240" y="2907792"/>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Written confirmation, pay-link, day-of reminder, same-hour reaction</a:t>
            </a:r>
          </a:p>
        </p:txBody>
      </p:sp>
      <p:sp>
        <p:nvSpPr>
          <p:cNvPr id="12" name="Rounded Rectangle 11"/>
          <p:cNvSpPr/>
          <p:nvPr/>
        </p:nvSpPr>
        <p:spPr>
          <a:xfrm>
            <a:off x="685800" y="3364992"/>
            <a:ext cx="5285232" cy="768096"/>
          </a:xfrm>
          <a:prstGeom prst="roundRect">
            <a:avLst>
              <a:gd name="adj" fmla="val 3500"/>
            </a:avLst>
          </a:prstGeom>
          <a:solidFill>
            <a:srgbClr val="F6F7FB"/>
          </a:solidFill>
          <a:ln>
            <a:noFill/>
          </a:ln>
          <a:effectLst/>
        </p:spPr>
        <p:txBody>
          <a:bodyPr rtlCol="0" anchor="ctr"/>
          <a:lstStyle/>
          <a:p>
            <a:pPr algn="ctr"/>
          </a:p>
        </p:txBody>
      </p:sp>
      <p:sp>
        <p:nvSpPr>
          <p:cNvPr id="13" name="TextBox 12"/>
          <p:cNvSpPr txBox="1"/>
          <p:nvPr/>
        </p:nvSpPr>
        <p:spPr>
          <a:xfrm>
            <a:off x="960120" y="3483864"/>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Time to first touch</a:t>
            </a:r>
          </a:p>
        </p:txBody>
      </p:sp>
      <p:sp>
        <p:nvSpPr>
          <p:cNvPr id="14" name="TextBox 13"/>
          <p:cNvSpPr txBox="1"/>
          <p:nvPr/>
        </p:nvSpPr>
        <p:spPr>
          <a:xfrm>
            <a:off x="960120" y="3803904"/>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Bounce at 00:12 opens a case at 00:13, not at the 9am MIS</a:t>
            </a:r>
          </a:p>
        </p:txBody>
      </p:sp>
      <p:sp>
        <p:nvSpPr>
          <p:cNvPr id="15" name="Rounded Rectangle 14"/>
          <p:cNvSpPr/>
          <p:nvPr/>
        </p:nvSpPr>
        <p:spPr>
          <a:xfrm>
            <a:off x="6217920" y="3364992"/>
            <a:ext cx="5285232" cy="768096"/>
          </a:xfrm>
          <a:prstGeom prst="roundRect">
            <a:avLst>
              <a:gd name="adj" fmla="val 3500"/>
            </a:avLst>
          </a:prstGeom>
          <a:solidFill>
            <a:srgbClr val="F6F7FB"/>
          </a:solidFill>
          <a:ln>
            <a:noFill/>
          </a:ln>
          <a:effectLst/>
        </p:spPr>
        <p:txBody>
          <a:bodyPr rtlCol="0" anchor="ctr"/>
          <a:lstStyle/>
          <a:p>
            <a:pPr algn="ctr"/>
          </a:p>
        </p:txBody>
      </p:sp>
      <p:sp>
        <p:nvSpPr>
          <p:cNvPr id="16" name="TextBox 15"/>
          <p:cNvSpPr txBox="1"/>
          <p:nvPr/>
        </p:nvSpPr>
        <p:spPr>
          <a:xfrm>
            <a:off x="6492240" y="3483864"/>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1–30 DPD contacted in 48h</a:t>
            </a:r>
          </a:p>
        </p:txBody>
      </p:sp>
      <p:sp>
        <p:nvSpPr>
          <p:cNvPr id="17" name="TextBox 16"/>
          <p:cNvSpPr txBox="1"/>
          <p:nvPr/>
        </p:nvSpPr>
        <p:spPr>
          <a:xfrm>
            <a:off x="6492240" y="3803904"/>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Coverage is the early-bucket lift. Quality is second</a:t>
            </a:r>
          </a:p>
        </p:txBody>
      </p:sp>
      <p:sp>
        <p:nvSpPr>
          <p:cNvPr id="18" name="Rounded Rectangle 17"/>
          <p:cNvSpPr/>
          <p:nvPr/>
        </p:nvSpPr>
        <p:spPr>
          <a:xfrm>
            <a:off x="685800" y="4261104"/>
            <a:ext cx="5285232" cy="768096"/>
          </a:xfrm>
          <a:prstGeom prst="roundRect">
            <a:avLst>
              <a:gd name="adj" fmla="val 3500"/>
            </a:avLst>
          </a:prstGeom>
          <a:solidFill>
            <a:srgbClr val="F6F7FB"/>
          </a:solidFill>
          <a:ln>
            <a:noFill/>
          </a:ln>
          <a:effectLst/>
        </p:spPr>
        <p:txBody>
          <a:bodyPr rtlCol="0" anchor="ctr"/>
          <a:lstStyle/>
          <a:p>
            <a:pPr algn="ctr"/>
          </a:p>
        </p:txBody>
      </p:sp>
      <p:sp>
        <p:nvSpPr>
          <p:cNvPr id="19" name="TextBox 18"/>
          <p:cNvSpPr txBox="1"/>
          <p:nvPr/>
        </p:nvSpPr>
        <p:spPr>
          <a:xfrm>
            <a:off x="960120" y="4379976"/>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Compliance coverage</a:t>
            </a:r>
          </a:p>
        </p:txBody>
      </p:sp>
      <p:sp>
        <p:nvSpPr>
          <p:cNvPr id="20" name="TextBox 19"/>
          <p:cNvSpPr txBox="1"/>
          <p:nvPr/>
        </p:nvSpPr>
        <p:spPr>
          <a:xfrm>
            <a:off x="960120" y="4700016"/>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100% of calls scored. Sampling stops being the answer</a:t>
            </a:r>
          </a:p>
        </p:txBody>
      </p:sp>
      <p:sp>
        <p:nvSpPr>
          <p:cNvPr id="21" name="Rounded Rectangle 20"/>
          <p:cNvSpPr/>
          <p:nvPr/>
        </p:nvSpPr>
        <p:spPr>
          <a:xfrm>
            <a:off x="6217920" y="4261104"/>
            <a:ext cx="5285232" cy="768096"/>
          </a:xfrm>
          <a:prstGeom prst="roundRect">
            <a:avLst>
              <a:gd name="adj" fmla="val 3500"/>
            </a:avLst>
          </a:prstGeom>
          <a:solidFill>
            <a:srgbClr val="F6F7FB"/>
          </a:solidFill>
          <a:ln>
            <a:noFill/>
          </a:ln>
          <a:effectLst/>
        </p:spPr>
        <p:txBody>
          <a:bodyPr rtlCol="0" anchor="ctr"/>
          <a:lstStyle/>
          <a:p>
            <a:pPr algn="ctr"/>
          </a:p>
        </p:txBody>
      </p:sp>
      <p:sp>
        <p:nvSpPr>
          <p:cNvPr id="22" name="TextBox 21"/>
          <p:cNvSpPr txBox="1"/>
          <p:nvPr/>
        </p:nvSpPr>
        <p:spPr>
          <a:xfrm>
            <a:off x="6492240" y="4379976"/>
            <a:ext cx="4754880" cy="292608"/>
          </a:xfrm>
          <a:prstGeom prst="rect">
            <a:avLst/>
          </a:prstGeom>
          <a:noFill/>
        </p:spPr>
        <p:txBody>
          <a:bodyPr wrap="square" lIns="0" rIns="0" tIns="0" bIns="0" anchor="t">
            <a:spAutoFit/>
          </a:bodyPr>
          <a:lstStyle/>
          <a:p>
            <a:pPr algn="l">
              <a:spcAft>
                <a:spcPts val="0"/>
              </a:spcAft>
            </a:pPr>
            <a:r>
              <a:rPr sz="1300" b="1">
                <a:solidFill>
                  <a:srgbClr val="232323"/>
                </a:solidFill>
                <a:latin typeface="Proxima Nova"/>
              </a:rPr>
              <a:t>Cost per resolved contact</a:t>
            </a:r>
          </a:p>
        </p:txBody>
      </p:sp>
      <p:sp>
        <p:nvSpPr>
          <p:cNvPr id="23" name="TextBox 22"/>
          <p:cNvSpPr txBox="1"/>
          <p:nvPr/>
        </p:nvSpPr>
        <p:spPr>
          <a:xfrm>
            <a:off x="6492240" y="4700016"/>
            <a:ext cx="4754880" cy="274320"/>
          </a:xfrm>
          <a:prstGeom prst="rect">
            <a:avLst/>
          </a:prstGeom>
          <a:noFill/>
        </p:spPr>
        <p:txBody>
          <a:bodyPr wrap="square" lIns="0" rIns="0" tIns="0" bIns="0" anchor="t">
            <a:spAutoFit/>
          </a:bodyPr>
          <a:lstStyle/>
          <a:p>
            <a:pPr algn="l">
              <a:spcAft>
                <a:spcPts val="0"/>
              </a:spcAft>
            </a:pPr>
            <a:r>
              <a:rPr sz="1050" b="0">
                <a:solidFill>
                  <a:srgbClr val="7B7B7B"/>
                </a:solidFill>
                <a:latin typeface="Roboto"/>
              </a:rPr>
              <a:t>Already the billing hero metric inside the product</a:t>
            </a:r>
          </a:p>
        </p:txBody>
      </p:sp>
      <p:sp>
        <p:nvSpPr>
          <p:cNvPr id="24" name="Rounded Rectangle 23"/>
          <p:cNvSpPr/>
          <p:nvPr/>
        </p:nvSpPr>
        <p:spPr>
          <a:xfrm>
            <a:off x="685800" y="5257800"/>
            <a:ext cx="10817352" cy="914400"/>
          </a:xfrm>
          <a:prstGeom prst="roundRect">
            <a:avLst>
              <a:gd name="adj" fmla="val 3500"/>
            </a:avLst>
          </a:prstGeom>
          <a:solidFill>
            <a:srgbClr val="232323"/>
          </a:solidFill>
          <a:ln>
            <a:noFill/>
          </a:ln>
          <a:effectLst/>
        </p:spPr>
        <p:txBody>
          <a:bodyPr rtlCol="0" anchor="ctr"/>
          <a:lstStyle/>
          <a:p>
            <a:pPr algn="ctr"/>
          </a:p>
        </p:txBody>
      </p:sp>
      <p:sp>
        <p:nvSpPr>
          <p:cNvPr id="25" name="TextBox 24"/>
          <p:cNvSpPr txBox="1"/>
          <p:nvPr/>
        </p:nvSpPr>
        <p:spPr>
          <a:xfrm>
            <a:off x="1005840" y="5440680"/>
            <a:ext cx="3017520" cy="548640"/>
          </a:xfrm>
          <a:prstGeom prst="rect">
            <a:avLst/>
          </a:prstGeom>
          <a:noFill/>
        </p:spPr>
        <p:txBody>
          <a:bodyPr wrap="square" lIns="0" rIns="0" tIns="0" bIns="0" anchor="t">
            <a:spAutoFit/>
          </a:bodyPr>
          <a:lstStyle/>
          <a:p>
            <a:pPr algn="l">
              <a:lnSpc>
                <a:spcPct val="120000"/>
              </a:lnSpc>
              <a:spcAft>
                <a:spcPts val="0"/>
              </a:spcAft>
            </a:pPr>
            <a:r>
              <a:rPr sz="1250" b="1">
                <a:solidFill>
                  <a:srgbClr val="A1B9FC"/>
                </a:solidFill>
                <a:latin typeface="Proxima Nova"/>
              </a:rPr>
              <a:t>Published ranges,
not our telemetry</a:t>
            </a:r>
          </a:p>
        </p:txBody>
      </p:sp>
      <p:sp>
        <p:nvSpPr>
          <p:cNvPr id="26" name="TextBox 25"/>
          <p:cNvSpPr txBox="1"/>
          <p:nvPr/>
        </p:nvSpPr>
        <p:spPr>
          <a:xfrm>
            <a:off x="4023360" y="5468112"/>
            <a:ext cx="1737360" cy="365760"/>
          </a:xfrm>
          <a:prstGeom prst="rect">
            <a:avLst/>
          </a:prstGeom>
          <a:noFill/>
        </p:spPr>
        <p:txBody>
          <a:bodyPr wrap="square" lIns="0" rIns="0" tIns="0" bIns="0" anchor="t">
            <a:spAutoFit/>
          </a:bodyPr>
          <a:lstStyle/>
          <a:p>
            <a:pPr algn="l">
              <a:spcAft>
                <a:spcPts val="0"/>
              </a:spcAft>
            </a:pPr>
            <a:r>
              <a:rPr sz="2200" b="1">
                <a:solidFill>
                  <a:srgbClr val="FFFFFF"/>
                </a:solidFill>
                <a:latin typeface="Proxima Nova"/>
              </a:rPr>
              <a:t>40%</a:t>
            </a:r>
          </a:p>
        </p:txBody>
      </p:sp>
      <p:sp>
        <p:nvSpPr>
          <p:cNvPr id="27" name="TextBox 26"/>
          <p:cNvSpPr txBox="1"/>
          <p:nvPr/>
        </p:nvSpPr>
        <p:spPr>
          <a:xfrm>
            <a:off x="4023360" y="5870448"/>
            <a:ext cx="1828800" cy="274320"/>
          </a:xfrm>
          <a:prstGeom prst="rect">
            <a:avLst/>
          </a:prstGeom>
          <a:noFill/>
        </p:spPr>
        <p:txBody>
          <a:bodyPr wrap="square" lIns="0" rIns="0" tIns="0" bIns="0" anchor="t">
            <a:spAutoFit/>
          </a:bodyPr>
          <a:lstStyle/>
          <a:p>
            <a:pPr algn="l">
              <a:spcAft>
                <a:spcPts val="0"/>
              </a:spcAft>
            </a:pPr>
            <a:r>
              <a:rPr sz="950" b="0">
                <a:solidFill>
                  <a:srgbClr val="A7A7A7"/>
                </a:solidFill>
                <a:latin typeface="Roboto"/>
              </a:rPr>
              <a:t>opex cut, gen-AI</a:t>
            </a:r>
          </a:p>
        </p:txBody>
      </p:sp>
      <p:sp>
        <p:nvSpPr>
          <p:cNvPr id="28" name="TextBox 27"/>
          <p:cNvSpPr txBox="1"/>
          <p:nvPr/>
        </p:nvSpPr>
        <p:spPr>
          <a:xfrm>
            <a:off x="5897880" y="5468112"/>
            <a:ext cx="1737360" cy="365760"/>
          </a:xfrm>
          <a:prstGeom prst="rect">
            <a:avLst/>
          </a:prstGeom>
          <a:noFill/>
        </p:spPr>
        <p:txBody>
          <a:bodyPr wrap="square" lIns="0" rIns="0" tIns="0" bIns="0" anchor="t">
            <a:spAutoFit/>
          </a:bodyPr>
          <a:lstStyle/>
          <a:p>
            <a:pPr algn="l">
              <a:spcAft>
                <a:spcPts val="0"/>
              </a:spcAft>
            </a:pPr>
            <a:r>
              <a:rPr sz="2200" b="1">
                <a:solidFill>
                  <a:srgbClr val="FFFFFF"/>
                </a:solidFill>
                <a:latin typeface="Proxima Nova"/>
              </a:rPr>
              <a:t>~10%</a:t>
            </a:r>
          </a:p>
        </p:txBody>
      </p:sp>
      <p:sp>
        <p:nvSpPr>
          <p:cNvPr id="29" name="TextBox 28"/>
          <p:cNvSpPr txBox="1"/>
          <p:nvPr/>
        </p:nvSpPr>
        <p:spPr>
          <a:xfrm>
            <a:off x="5897880" y="5870448"/>
            <a:ext cx="1828800" cy="274320"/>
          </a:xfrm>
          <a:prstGeom prst="rect">
            <a:avLst/>
          </a:prstGeom>
          <a:noFill/>
        </p:spPr>
        <p:txBody>
          <a:bodyPr wrap="square" lIns="0" rIns="0" tIns="0" bIns="0" anchor="t">
            <a:spAutoFit/>
          </a:bodyPr>
          <a:lstStyle/>
          <a:p>
            <a:pPr algn="l">
              <a:spcAft>
                <a:spcPts val="0"/>
              </a:spcAft>
            </a:pPr>
            <a:r>
              <a:rPr sz="950" b="0">
                <a:solidFill>
                  <a:srgbClr val="A7A7A7"/>
                </a:solidFill>
                <a:latin typeface="Roboto"/>
              </a:rPr>
              <a:t>recovery lift</a:t>
            </a:r>
          </a:p>
        </p:txBody>
      </p:sp>
      <p:sp>
        <p:nvSpPr>
          <p:cNvPr id="30" name="TextBox 29"/>
          <p:cNvSpPr txBox="1"/>
          <p:nvPr/>
        </p:nvSpPr>
        <p:spPr>
          <a:xfrm>
            <a:off x="7772400" y="5468112"/>
            <a:ext cx="1737360" cy="365760"/>
          </a:xfrm>
          <a:prstGeom prst="rect">
            <a:avLst/>
          </a:prstGeom>
          <a:noFill/>
        </p:spPr>
        <p:txBody>
          <a:bodyPr wrap="square" lIns="0" rIns="0" tIns="0" bIns="0" anchor="t">
            <a:spAutoFit/>
          </a:bodyPr>
          <a:lstStyle/>
          <a:p>
            <a:pPr algn="l">
              <a:spcAft>
                <a:spcPts val="0"/>
              </a:spcAft>
            </a:pPr>
            <a:r>
              <a:rPr sz="2200" b="1">
                <a:solidFill>
                  <a:srgbClr val="FFFFFF"/>
                </a:solidFill>
                <a:latin typeface="Proxima Nova"/>
              </a:rPr>
              <a:t>15%</a:t>
            </a:r>
          </a:p>
        </p:txBody>
      </p:sp>
      <p:sp>
        <p:nvSpPr>
          <p:cNvPr id="31" name="TextBox 30"/>
          <p:cNvSpPr txBox="1"/>
          <p:nvPr/>
        </p:nvSpPr>
        <p:spPr>
          <a:xfrm>
            <a:off x="7772400" y="5870448"/>
            <a:ext cx="1828800" cy="274320"/>
          </a:xfrm>
          <a:prstGeom prst="rect">
            <a:avLst/>
          </a:prstGeom>
          <a:noFill/>
        </p:spPr>
        <p:txBody>
          <a:bodyPr wrap="square" lIns="0" rIns="0" tIns="0" bIns="0" anchor="t">
            <a:spAutoFit/>
          </a:bodyPr>
          <a:lstStyle/>
          <a:p>
            <a:pPr algn="l">
              <a:spcAft>
                <a:spcPts val="0"/>
              </a:spcAft>
            </a:pPr>
            <a:r>
              <a:rPr sz="950" b="0">
                <a:solidFill>
                  <a:srgbClr val="A7A7A7"/>
                </a:solidFill>
                <a:latin typeface="Roboto"/>
              </a:rPr>
              <a:t>cost to collect</a:t>
            </a:r>
          </a:p>
        </p:txBody>
      </p:sp>
      <p:sp>
        <p:nvSpPr>
          <p:cNvPr id="32" name="TextBox 31"/>
          <p:cNvSpPr txBox="1"/>
          <p:nvPr/>
        </p:nvSpPr>
        <p:spPr>
          <a:xfrm>
            <a:off x="9646920" y="5468112"/>
            <a:ext cx="1737360" cy="365760"/>
          </a:xfrm>
          <a:prstGeom prst="rect">
            <a:avLst/>
          </a:prstGeom>
          <a:noFill/>
        </p:spPr>
        <p:txBody>
          <a:bodyPr wrap="square" lIns="0" rIns="0" tIns="0" bIns="0" anchor="t">
            <a:spAutoFit/>
          </a:bodyPr>
          <a:lstStyle/>
          <a:p>
            <a:pPr algn="l">
              <a:spcAft>
                <a:spcPts val="0"/>
              </a:spcAft>
            </a:pPr>
            <a:r>
              <a:rPr sz="2200" b="1">
                <a:solidFill>
                  <a:srgbClr val="FFFFFF"/>
                </a:solidFill>
                <a:latin typeface="Proxima Nova"/>
              </a:rPr>
              <a:t>2–5%</a:t>
            </a:r>
          </a:p>
        </p:txBody>
      </p:sp>
      <p:sp>
        <p:nvSpPr>
          <p:cNvPr id="33" name="TextBox 32"/>
          <p:cNvSpPr txBox="1"/>
          <p:nvPr/>
        </p:nvSpPr>
        <p:spPr>
          <a:xfrm>
            <a:off x="9646920" y="5870448"/>
            <a:ext cx="1828800" cy="274320"/>
          </a:xfrm>
          <a:prstGeom prst="rect">
            <a:avLst/>
          </a:prstGeom>
          <a:noFill/>
        </p:spPr>
        <p:txBody>
          <a:bodyPr wrap="square" lIns="0" rIns="0" tIns="0" bIns="0" anchor="t">
            <a:spAutoFit/>
          </a:bodyPr>
          <a:lstStyle/>
          <a:p>
            <a:pPr algn="l">
              <a:spcAft>
                <a:spcPts val="0"/>
              </a:spcAft>
            </a:pPr>
            <a:r>
              <a:rPr sz="950" b="0">
                <a:solidFill>
                  <a:srgbClr val="A7A7A7"/>
                </a:solidFill>
                <a:latin typeface="Roboto"/>
              </a:rPr>
              <a:t>of calls QA'd today</a:t>
            </a:r>
          </a:p>
        </p:txBody>
      </p:sp>
      <p:sp>
        <p:nvSpPr>
          <p:cNvPr id="34" name="TextBox 33"/>
          <p:cNvSpPr txBox="1"/>
          <p:nvPr/>
        </p:nvSpPr>
        <p:spPr>
          <a:xfrm>
            <a:off x="685800" y="6291072"/>
            <a:ext cx="10789920" cy="274320"/>
          </a:xfrm>
          <a:prstGeom prst="rect">
            <a:avLst/>
          </a:prstGeom>
          <a:noFill/>
        </p:spPr>
        <p:txBody>
          <a:bodyPr wrap="square" lIns="0" rIns="0" tIns="0" bIns="0" anchor="t">
            <a:spAutoFit/>
          </a:bodyPr>
          <a:lstStyle/>
          <a:p>
            <a:pPr algn="l">
              <a:spcAft>
                <a:spcPts val="0"/>
              </a:spcAft>
            </a:pPr>
            <a:r>
              <a:rPr sz="900" b="0">
                <a:solidFill>
                  <a:srgbClr val="7B7B7B"/>
                </a:solidFill>
                <a:latin typeface="Roboto"/>
              </a:rPr>
              <a:t>McKinsey (Jun 2024) 'The promise of generative AI for credit customer assistance' and 'Holistic customer assistance'. Cited as industry benchmarks, not measured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685800" y="548640"/>
            <a:ext cx="8229600" cy="292608"/>
          </a:xfrm>
          <a:prstGeom prst="rect">
            <a:avLst/>
          </a:prstGeom>
          <a:noFill/>
        </p:spPr>
        <p:txBody>
          <a:bodyPr wrap="square" lIns="0" rIns="0" tIns="0" bIns="0" anchor="t">
            <a:spAutoFit/>
          </a:bodyPr>
          <a:lstStyle/>
          <a:p>
            <a:pPr algn="l">
              <a:spcAft>
                <a:spcPts val="0"/>
              </a:spcAft>
            </a:pPr>
            <a:r>
              <a:rPr sz="1100" b="1" spc="160">
                <a:solidFill>
                  <a:srgbClr val="114FF4"/>
                </a:solidFill>
                <a:latin typeface="Roboto"/>
              </a:rPr>
              <a:t>THE DIFFERENCE</a:t>
            </a:r>
          </a:p>
        </p:txBody>
      </p:sp>
      <p:sp>
        <p:nvSpPr>
          <p:cNvPr id="4" name="TextBox 3"/>
          <p:cNvSpPr txBox="1"/>
          <p:nvPr/>
        </p:nvSpPr>
        <p:spPr>
          <a:xfrm>
            <a:off x="685800" y="960120"/>
            <a:ext cx="10789920" cy="1234440"/>
          </a:xfrm>
          <a:prstGeom prst="rect">
            <a:avLst/>
          </a:prstGeom>
          <a:noFill/>
        </p:spPr>
        <p:txBody>
          <a:bodyPr wrap="square" lIns="0" rIns="0" tIns="0" bIns="0" anchor="t">
            <a:spAutoFit/>
          </a:bodyPr>
          <a:lstStyle/>
          <a:p>
            <a:pPr algn="l">
              <a:lnSpc>
                <a:spcPct val="100000"/>
              </a:lnSpc>
              <a:spcAft>
                <a:spcPts val="0"/>
              </a:spcAft>
            </a:pPr>
            <a:r>
              <a:rPr sz="3800" b="1">
                <a:solidFill>
                  <a:srgbClr val="232323"/>
                </a:solidFill>
                <a:latin typeface="Proxima Nova"/>
              </a:rPr>
              <a:t>SAME DEMO. DIFFERENT PRODUCT.</a:t>
            </a:r>
          </a:p>
        </p:txBody>
      </p:sp>
      <p:sp>
        <p:nvSpPr>
          <p:cNvPr id="5" name="TextBox 4"/>
          <p:cNvSpPr txBox="1"/>
          <p:nvPr/>
        </p:nvSpPr>
        <p:spPr>
          <a:xfrm>
            <a:off x="960120" y="2057400"/>
            <a:ext cx="3017520" cy="320040"/>
          </a:xfrm>
          <a:prstGeom prst="rect">
            <a:avLst/>
          </a:prstGeom>
          <a:noFill/>
        </p:spPr>
        <p:txBody>
          <a:bodyPr wrap="square" lIns="0" rIns="0" tIns="0" bIns="0" anchor="t">
            <a:spAutoFit/>
          </a:bodyPr>
          <a:lstStyle/>
          <a:p>
            <a:pPr algn="l">
              <a:spcAft>
                <a:spcPts val="0"/>
              </a:spcAft>
            </a:pPr>
            <a:r>
              <a:rPr sz="1100" b="1" spc="80">
                <a:solidFill>
                  <a:srgbClr val="7B7B7B"/>
                </a:solidFill>
                <a:latin typeface="Roboto"/>
              </a:rPr>
              <a:t>THE QUESTION</a:t>
            </a:r>
          </a:p>
        </p:txBody>
      </p:sp>
      <p:sp>
        <p:nvSpPr>
          <p:cNvPr id="6" name="TextBox 5"/>
          <p:cNvSpPr txBox="1"/>
          <p:nvPr/>
        </p:nvSpPr>
        <p:spPr>
          <a:xfrm>
            <a:off x="4343400" y="2057400"/>
            <a:ext cx="3291840" cy="320040"/>
          </a:xfrm>
          <a:prstGeom prst="rect">
            <a:avLst/>
          </a:prstGeom>
          <a:noFill/>
        </p:spPr>
        <p:txBody>
          <a:bodyPr wrap="square" lIns="0" rIns="0" tIns="0" bIns="0" anchor="t">
            <a:spAutoFit/>
          </a:bodyPr>
          <a:lstStyle/>
          <a:p>
            <a:pPr algn="l">
              <a:spcAft>
                <a:spcPts val="0"/>
              </a:spcAft>
            </a:pPr>
            <a:r>
              <a:rPr sz="1100" b="1" spc="80">
                <a:solidFill>
                  <a:srgbClr val="7B7B7B"/>
                </a:solidFill>
                <a:latin typeface="Roboto"/>
              </a:rPr>
              <a:t>GENERIC VOICE-AI BUILDER</a:t>
            </a:r>
          </a:p>
        </p:txBody>
      </p:sp>
      <p:sp>
        <p:nvSpPr>
          <p:cNvPr id="7" name="TextBox 6"/>
          <p:cNvSpPr txBox="1"/>
          <p:nvPr/>
        </p:nvSpPr>
        <p:spPr>
          <a:xfrm>
            <a:off x="7909560" y="2057400"/>
            <a:ext cx="3291840" cy="320040"/>
          </a:xfrm>
          <a:prstGeom prst="rect">
            <a:avLst/>
          </a:prstGeom>
          <a:noFill/>
        </p:spPr>
        <p:txBody>
          <a:bodyPr wrap="square" lIns="0" rIns="0" tIns="0" bIns="0" anchor="t">
            <a:spAutoFit/>
          </a:bodyPr>
          <a:lstStyle/>
          <a:p>
            <a:pPr algn="l">
              <a:spcAft>
                <a:spcPts val="0"/>
              </a:spcAft>
            </a:pPr>
            <a:r>
              <a:rPr sz="1100" b="1" spc="80">
                <a:solidFill>
                  <a:srgbClr val="114FF4"/>
                </a:solidFill>
                <a:latin typeface="Roboto"/>
              </a:rPr>
              <a:t>BIGBOUND AI</a:t>
            </a:r>
          </a:p>
        </p:txBody>
      </p:sp>
      <p:sp>
        <p:nvSpPr>
          <p:cNvPr id="8" name="Rounded Rectangle 7"/>
          <p:cNvSpPr/>
          <p:nvPr/>
        </p:nvSpPr>
        <p:spPr>
          <a:xfrm>
            <a:off x="685800" y="2359152"/>
            <a:ext cx="10817352" cy="621792"/>
          </a:xfrm>
          <a:prstGeom prst="roundRect">
            <a:avLst>
              <a:gd name="adj" fmla="val 3500"/>
            </a:avLst>
          </a:prstGeom>
          <a:solidFill>
            <a:srgbClr val="F7F8FB"/>
          </a:solidFill>
          <a:ln>
            <a:noFill/>
          </a:ln>
          <a:effectLst/>
        </p:spPr>
        <p:txBody>
          <a:bodyPr rtlCol="0" anchor="ctr"/>
          <a:lstStyle/>
          <a:p>
            <a:pPr algn="ctr"/>
          </a:p>
        </p:txBody>
      </p:sp>
      <p:sp>
        <p:nvSpPr>
          <p:cNvPr id="9" name="TextBox 8"/>
          <p:cNvSpPr txBox="1"/>
          <p:nvPr/>
        </p:nvSpPr>
        <p:spPr>
          <a:xfrm>
            <a:off x="960120" y="2487168"/>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Who decides the offer?</a:t>
            </a:r>
          </a:p>
        </p:txBody>
      </p:sp>
      <p:sp>
        <p:nvSpPr>
          <p:cNvPr id="10" name="TextBox 9"/>
          <p:cNvSpPr txBox="1"/>
          <p:nvPr/>
        </p:nvSpPr>
        <p:spPr>
          <a:xfrm>
            <a:off x="4343400" y="2505456"/>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The model, inside a prompt</a:t>
            </a:r>
          </a:p>
        </p:txBody>
      </p:sp>
      <p:sp>
        <p:nvSpPr>
          <p:cNvPr id="11" name="TextBox 10"/>
          <p:cNvSpPr txBox="1"/>
          <p:nvPr/>
        </p:nvSpPr>
        <p:spPr>
          <a:xfrm>
            <a:off x="7909560" y="2505456"/>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A gated engine — the model only speaks</a:t>
            </a:r>
          </a:p>
        </p:txBody>
      </p:sp>
      <p:sp>
        <p:nvSpPr>
          <p:cNvPr id="12" name="TextBox 11"/>
          <p:cNvSpPr txBox="1"/>
          <p:nvPr/>
        </p:nvSpPr>
        <p:spPr>
          <a:xfrm>
            <a:off x="960120" y="3145536"/>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Can it approve a waiver?</a:t>
            </a:r>
          </a:p>
        </p:txBody>
      </p:sp>
      <p:sp>
        <p:nvSpPr>
          <p:cNvPr id="13" name="TextBox 12"/>
          <p:cNvSpPr txBox="1"/>
          <p:nvPr/>
        </p:nvSpPr>
        <p:spPr>
          <a:xfrm>
            <a:off x="4343400" y="3163824"/>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Whatever the prompt allows</a:t>
            </a:r>
          </a:p>
        </p:txBody>
      </p:sp>
      <p:sp>
        <p:nvSpPr>
          <p:cNvPr id="14" name="TextBox 13"/>
          <p:cNvSpPr txBox="1"/>
          <p:nvPr/>
        </p:nvSpPr>
        <p:spPr>
          <a:xfrm>
            <a:off x="7909560" y="3163824"/>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An authority matrix in ₹, with an audit row</a:t>
            </a:r>
          </a:p>
        </p:txBody>
      </p:sp>
      <p:sp>
        <p:nvSpPr>
          <p:cNvPr id="15" name="Rounded Rectangle 14"/>
          <p:cNvSpPr/>
          <p:nvPr/>
        </p:nvSpPr>
        <p:spPr>
          <a:xfrm>
            <a:off x="685800" y="3675887"/>
            <a:ext cx="10817352" cy="621792"/>
          </a:xfrm>
          <a:prstGeom prst="roundRect">
            <a:avLst>
              <a:gd name="adj" fmla="val 3500"/>
            </a:avLst>
          </a:prstGeom>
          <a:solidFill>
            <a:srgbClr val="F7F8FB"/>
          </a:solidFill>
          <a:ln>
            <a:noFill/>
          </a:ln>
          <a:effectLst/>
        </p:spPr>
        <p:txBody>
          <a:bodyPr rtlCol="0" anchor="ctr"/>
          <a:lstStyle/>
          <a:p>
            <a:pPr algn="ctr"/>
          </a:p>
        </p:txBody>
      </p:sp>
      <p:sp>
        <p:nvSpPr>
          <p:cNvPr id="16" name="TextBox 15"/>
          <p:cNvSpPr txBox="1"/>
          <p:nvPr/>
        </p:nvSpPr>
        <p:spPr>
          <a:xfrm>
            <a:off x="960120" y="3803903"/>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How many calls are scored?</a:t>
            </a:r>
          </a:p>
        </p:txBody>
      </p:sp>
      <p:sp>
        <p:nvSpPr>
          <p:cNvPr id="17" name="TextBox 16"/>
          <p:cNvSpPr txBox="1"/>
          <p:nvPr/>
        </p:nvSpPr>
        <p:spPr>
          <a:xfrm>
            <a:off x="4343400" y="3822191"/>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Post-hoc, on a sample</a:t>
            </a:r>
          </a:p>
        </p:txBody>
      </p:sp>
      <p:sp>
        <p:nvSpPr>
          <p:cNvPr id="18" name="TextBox 17"/>
          <p:cNvSpPr txBox="1"/>
          <p:nvPr/>
        </p:nvSpPr>
        <p:spPr>
          <a:xfrm>
            <a:off x="7909560" y="3822191"/>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100%, live, with barge on critical flags</a:t>
            </a:r>
          </a:p>
        </p:txBody>
      </p:sp>
      <p:sp>
        <p:nvSpPr>
          <p:cNvPr id="19" name="TextBox 18"/>
          <p:cNvSpPr txBox="1"/>
          <p:nvPr/>
        </p:nvSpPr>
        <p:spPr>
          <a:xfrm>
            <a:off x="960120" y="4462271"/>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What stops an 8pm dial?</a:t>
            </a:r>
          </a:p>
        </p:txBody>
      </p:sp>
      <p:sp>
        <p:nvSpPr>
          <p:cNvPr id="20" name="TextBox 19"/>
          <p:cNvSpPr txBox="1"/>
          <p:nvPr/>
        </p:nvSpPr>
        <p:spPr>
          <a:xfrm>
            <a:off x="4343400" y="4480559"/>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A line in the system prompt</a:t>
            </a:r>
          </a:p>
        </p:txBody>
      </p:sp>
      <p:sp>
        <p:nvSpPr>
          <p:cNvPr id="21" name="TextBox 20"/>
          <p:cNvSpPr txBox="1"/>
          <p:nvPr/>
        </p:nvSpPr>
        <p:spPr>
          <a:xfrm>
            <a:off x="7909560" y="4480559"/>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A fail-closed gate the prompt can't reach</a:t>
            </a:r>
          </a:p>
        </p:txBody>
      </p:sp>
      <p:sp>
        <p:nvSpPr>
          <p:cNvPr id="22" name="Rounded Rectangle 21"/>
          <p:cNvSpPr/>
          <p:nvPr/>
        </p:nvSpPr>
        <p:spPr>
          <a:xfrm>
            <a:off x="685800" y="4992623"/>
            <a:ext cx="10817352" cy="621792"/>
          </a:xfrm>
          <a:prstGeom prst="roundRect">
            <a:avLst>
              <a:gd name="adj" fmla="val 3500"/>
            </a:avLst>
          </a:prstGeom>
          <a:solidFill>
            <a:srgbClr val="F7F8FB"/>
          </a:solidFill>
          <a:ln>
            <a:noFill/>
          </a:ln>
          <a:effectLst/>
        </p:spPr>
        <p:txBody>
          <a:bodyPr rtlCol="0" anchor="ctr"/>
          <a:lstStyle/>
          <a:p>
            <a:pPr algn="ctr"/>
          </a:p>
        </p:txBody>
      </p:sp>
      <p:sp>
        <p:nvSpPr>
          <p:cNvPr id="23" name="TextBox 22"/>
          <p:cNvSpPr txBox="1"/>
          <p:nvPr/>
        </p:nvSpPr>
        <p:spPr>
          <a:xfrm>
            <a:off x="960120" y="5120639"/>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Where does state live?</a:t>
            </a:r>
          </a:p>
        </p:txBody>
      </p:sp>
      <p:sp>
        <p:nvSpPr>
          <p:cNvPr id="24" name="TextBox 23"/>
          <p:cNvSpPr txBox="1"/>
          <p:nvPr/>
        </p:nvSpPr>
        <p:spPr>
          <a:xfrm>
            <a:off x="4343400" y="5138927"/>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A transcript and a webhook</a:t>
            </a:r>
          </a:p>
        </p:txBody>
      </p:sp>
      <p:sp>
        <p:nvSpPr>
          <p:cNvPr id="25" name="TextBox 24"/>
          <p:cNvSpPr txBox="1"/>
          <p:nvPr/>
        </p:nvSpPr>
        <p:spPr>
          <a:xfrm>
            <a:off x="7909560" y="5138927"/>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A ~153-table system of record</a:t>
            </a:r>
          </a:p>
        </p:txBody>
      </p:sp>
      <p:sp>
        <p:nvSpPr>
          <p:cNvPr id="26" name="TextBox 25"/>
          <p:cNvSpPr txBox="1"/>
          <p:nvPr/>
        </p:nvSpPr>
        <p:spPr>
          <a:xfrm>
            <a:off x="960120" y="5779007"/>
            <a:ext cx="3200400" cy="320040"/>
          </a:xfrm>
          <a:prstGeom prst="rect">
            <a:avLst/>
          </a:prstGeom>
          <a:noFill/>
        </p:spPr>
        <p:txBody>
          <a:bodyPr wrap="square" lIns="0" rIns="0" tIns="0" bIns="0" anchor="t">
            <a:spAutoFit/>
          </a:bodyPr>
          <a:lstStyle/>
          <a:p>
            <a:pPr algn="l">
              <a:spcAft>
                <a:spcPts val="0"/>
              </a:spcAft>
            </a:pPr>
            <a:r>
              <a:rPr sz="1250" b="1">
                <a:solidFill>
                  <a:srgbClr val="232323"/>
                </a:solidFill>
                <a:latin typeface="Proxima Nova"/>
              </a:rPr>
              <a:t>Who ships the next agent?</a:t>
            </a:r>
          </a:p>
        </p:txBody>
      </p:sp>
      <p:sp>
        <p:nvSpPr>
          <p:cNvPr id="27" name="TextBox 26"/>
          <p:cNvSpPr txBox="1"/>
          <p:nvPr/>
        </p:nvSpPr>
        <p:spPr>
          <a:xfrm>
            <a:off x="4343400" y="5797295"/>
            <a:ext cx="3291840" cy="320040"/>
          </a:xfrm>
          <a:prstGeom prst="rect">
            <a:avLst/>
          </a:prstGeom>
          <a:noFill/>
        </p:spPr>
        <p:txBody>
          <a:bodyPr wrap="square" lIns="0" rIns="0" tIns="0" bIns="0" anchor="t">
            <a:spAutoFit/>
          </a:bodyPr>
          <a:lstStyle/>
          <a:p>
            <a:pPr algn="l">
              <a:spcAft>
                <a:spcPts val="0"/>
              </a:spcAft>
            </a:pPr>
            <a:r>
              <a:rPr sz="1150" b="0">
                <a:solidFill>
                  <a:srgbClr val="7B7B7B"/>
                </a:solidFill>
                <a:latin typeface="Roboto"/>
              </a:rPr>
              <a:t>An engineer, in code</a:t>
            </a:r>
          </a:p>
        </p:txBody>
      </p:sp>
      <p:sp>
        <p:nvSpPr>
          <p:cNvPr id="28" name="TextBox 27"/>
          <p:cNvSpPr txBox="1"/>
          <p:nvPr/>
        </p:nvSpPr>
        <p:spPr>
          <a:xfrm>
            <a:off x="7909560" y="5797295"/>
            <a:ext cx="3566160" cy="320040"/>
          </a:xfrm>
          <a:prstGeom prst="rect">
            <a:avLst/>
          </a:prstGeom>
          <a:noFill/>
        </p:spPr>
        <p:txBody>
          <a:bodyPr wrap="square" lIns="0" rIns="0" tIns="0" bIns="0" anchor="t">
            <a:spAutoFit/>
          </a:bodyPr>
          <a:lstStyle/>
          <a:p>
            <a:pPr algn="l">
              <a:spcAft>
                <a:spcPts val="0"/>
              </a:spcAft>
            </a:pPr>
            <a:r>
              <a:rPr sz="1150" b="1">
                <a:solidFill>
                  <a:srgbClr val="114FF4"/>
                </a:solidFill>
                <a:latin typeface="Roboto"/>
              </a:rPr>
              <a:t>Ops, from a card that must pass evals</a:t>
            </a:r>
          </a:p>
        </p:txBody>
      </p:sp>
      <p:sp>
        <p:nvSpPr>
          <p:cNvPr id="29" name="TextBox 28"/>
          <p:cNvSpPr txBox="1"/>
          <p:nvPr/>
        </p:nvSpPr>
        <p:spPr>
          <a:xfrm>
            <a:off x="685800" y="6355080"/>
            <a:ext cx="10789920" cy="365760"/>
          </a:xfrm>
          <a:prstGeom prst="rect">
            <a:avLst/>
          </a:prstGeom>
          <a:noFill/>
        </p:spPr>
        <p:txBody>
          <a:bodyPr wrap="square" lIns="0" rIns="0" tIns="0" bIns="0" anchor="t">
            <a:spAutoFit/>
          </a:bodyPr>
          <a:lstStyle/>
          <a:p>
            <a:pPr algn="l">
              <a:spcAft>
                <a:spcPts val="0"/>
              </a:spcAft>
            </a:pPr>
            <a:r>
              <a:rPr sz="1300" b="1">
                <a:solidFill>
                  <a:srgbClr val="232323"/>
                </a:solidFill>
                <a:latin typeface="Roboto"/>
              </a:rPr>
              <a:t>They are building the best mouth in the market, and that is genuinely hard. We are building the operation it is allowed to speak for.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323"/>
          </a:solidFill>
          <a:ln>
            <a:noFill/>
          </a:ln>
          <a:effectLst/>
        </p:spPr>
        <p:txBody>
          <a:bodyPr rtlCol="0" anchor="ctr"/>
          <a:lstStyle/>
          <a:p>
            <a:pPr algn="ctr"/>
          </a:p>
        </p:txBody>
      </p:sp>
      <p:sp>
        <p:nvSpPr>
          <p:cNvPr id="3" name="Rounded Rectangle 2"/>
          <p:cNvSpPr/>
          <p:nvPr/>
        </p:nvSpPr>
        <p:spPr>
          <a:xfrm>
            <a:off x="0" y="0"/>
            <a:ext cx="310896" cy="6858000"/>
          </a:xfrm>
          <a:prstGeom prst="roundRect">
            <a:avLst>
              <a:gd name="adj" fmla="val 0"/>
            </a:avLst>
          </a:prstGeom>
          <a:solidFill>
            <a:srgbClr val="114FF4"/>
          </a:solidFill>
          <a:ln>
            <a:noFill/>
          </a:ln>
          <a:effectLst/>
        </p:spPr>
        <p:txBody>
          <a:bodyPr rtlCol="0" anchor="ctr"/>
          <a:lstStyle/>
          <a:p>
            <a:pPr algn="ctr"/>
          </a:p>
        </p:txBody>
      </p:sp>
      <p:sp>
        <p:nvSpPr>
          <p:cNvPr id="4" name="TextBox 3"/>
          <p:cNvSpPr txBox="1"/>
          <p:nvPr/>
        </p:nvSpPr>
        <p:spPr>
          <a:xfrm>
            <a:off x="1051560" y="1325880"/>
            <a:ext cx="10332720" cy="1828800"/>
          </a:xfrm>
          <a:prstGeom prst="rect">
            <a:avLst/>
          </a:prstGeom>
          <a:noFill/>
        </p:spPr>
        <p:txBody>
          <a:bodyPr wrap="square" lIns="0" rIns="0" tIns="0" bIns="0" anchor="t">
            <a:spAutoFit/>
          </a:bodyPr>
          <a:lstStyle/>
          <a:p>
            <a:pPr algn="l">
              <a:lnSpc>
                <a:spcPct val="115000"/>
              </a:lnSpc>
              <a:spcAft>
                <a:spcPts val="600"/>
              </a:spcAft>
            </a:pPr>
            <a:r>
              <a:rPr sz="3300" b="1">
                <a:solidFill>
                  <a:srgbClr val="FFFFFF"/>
                </a:solidFill>
                <a:latin typeface="Proxima Nova"/>
              </a:rPr>
              <a:t>WE DID NOT BUILD A VOICE AGENT.</a:t>
            </a:r>
          </a:p>
          <a:p>
            <a:pPr algn="l">
              <a:lnSpc>
                <a:spcPct val="115000"/>
              </a:lnSpc>
              <a:spcAft>
                <a:spcPts val="600"/>
              </a:spcAft>
            </a:pPr>
            <a:r>
              <a:rPr sz="3300" b="1">
                <a:solidFill>
                  <a:srgbClr val="FFFFFF"/>
                </a:solidFill>
                <a:latin typeface="Proxima Nova"/>
              </a:rPr>
              <a:t>WE BUILT THE FLOOR IT WORKS ON.</a:t>
            </a:r>
          </a:p>
        </p:txBody>
      </p:sp>
      <p:sp>
        <p:nvSpPr>
          <p:cNvPr id="5" name="TextBox 4"/>
          <p:cNvSpPr txBox="1"/>
          <p:nvPr/>
        </p:nvSpPr>
        <p:spPr>
          <a:xfrm>
            <a:off x="1051560" y="3246120"/>
            <a:ext cx="8961120" cy="640080"/>
          </a:xfrm>
          <a:prstGeom prst="rect">
            <a:avLst/>
          </a:prstGeom>
          <a:noFill/>
        </p:spPr>
        <p:txBody>
          <a:bodyPr wrap="square" lIns="0" rIns="0" tIns="0" bIns="0" anchor="t">
            <a:spAutoFit/>
          </a:bodyPr>
          <a:lstStyle/>
          <a:p>
            <a:pPr algn="l">
              <a:lnSpc>
                <a:spcPct val="140000"/>
              </a:lnSpc>
              <a:spcAft>
                <a:spcPts val="0"/>
              </a:spcAft>
            </a:pPr>
            <a:r>
              <a:rPr sz="1500" b="0">
                <a:solidFill>
                  <a:srgbClr val="D0DCFD"/>
                </a:solidFill>
                <a:latin typeface="Roboto"/>
              </a:rPr>
              <a:t>One deployed voice today. A governed agent factory next — where the dangerous decisions were never in the editable surface to begin with.</a:t>
            </a:r>
          </a:p>
        </p:txBody>
      </p:sp>
      <p:sp>
        <p:nvSpPr>
          <p:cNvPr id="6" name="TextBox 5"/>
          <p:cNvSpPr txBox="1"/>
          <p:nvPr/>
        </p:nvSpPr>
        <p:spPr>
          <a:xfrm>
            <a:off x="1051560" y="4206240"/>
            <a:ext cx="1188720" cy="292608"/>
          </a:xfrm>
          <a:prstGeom prst="rect">
            <a:avLst/>
          </a:prstGeom>
          <a:noFill/>
        </p:spPr>
        <p:txBody>
          <a:bodyPr wrap="square" lIns="0" rIns="0" tIns="0" bIns="0" anchor="t">
            <a:spAutoFit/>
          </a:bodyPr>
          <a:lstStyle/>
          <a:p>
            <a:pPr algn="l">
              <a:spcAft>
                <a:spcPts val="0"/>
              </a:spcAft>
            </a:pPr>
            <a:r>
              <a:rPr sz="1100" b="1" spc="120">
                <a:solidFill>
                  <a:srgbClr val="A1B9FC"/>
                </a:solidFill>
                <a:latin typeface="Proxima Nova"/>
              </a:rPr>
              <a:t>NEXT</a:t>
            </a:r>
          </a:p>
        </p:txBody>
      </p:sp>
      <p:sp>
        <p:nvSpPr>
          <p:cNvPr id="7" name="TextBox 6"/>
          <p:cNvSpPr txBox="1"/>
          <p:nvPr/>
        </p:nvSpPr>
        <p:spPr>
          <a:xfrm>
            <a:off x="2377440" y="4187952"/>
            <a:ext cx="8503920" cy="365760"/>
          </a:xfrm>
          <a:prstGeom prst="rect">
            <a:avLst/>
          </a:prstGeom>
          <a:noFill/>
        </p:spPr>
        <p:txBody>
          <a:bodyPr wrap="square" lIns="0" rIns="0" tIns="0" bIns="0" anchor="t">
            <a:spAutoFit/>
          </a:bodyPr>
          <a:lstStyle/>
          <a:p>
            <a:pPr algn="l">
              <a:spcAft>
                <a:spcPts val="0"/>
              </a:spcAft>
            </a:pPr>
            <a:r>
              <a:rPr sz="1250" b="0">
                <a:solidFill>
                  <a:srgbClr val="D3D3D3"/>
                </a:solidFill>
                <a:latin typeface="Roboto"/>
              </a:rPr>
              <a:t>P8–P9, then Agent Studio: cards, skills and typed handoffs in the UI</a:t>
            </a:r>
          </a:p>
        </p:txBody>
      </p:sp>
      <p:sp>
        <p:nvSpPr>
          <p:cNvPr id="8" name="TextBox 7"/>
          <p:cNvSpPr txBox="1"/>
          <p:nvPr/>
        </p:nvSpPr>
        <p:spPr>
          <a:xfrm>
            <a:off x="1051560" y="4663440"/>
            <a:ext cx="1188720" cy="292608"/>
          </a:xfrm>
          <a:prstGeom prst="rect">
            <a:avLst/>
          </a:prstGeom>
          <a:noFill/>
        </p:spPr>
        <p:txBody>
          <a:bodyPr wrap="square" lIns="0" rIns="0" tIns="0" bIns="0" anchor="t">
            <a:spAutoFit/>
          </a:bodyPr>
          <a:lstStyle/>
          <a:p>
            <a:pPr algn="l">
              <a:spcAft>
                <a:spcPts val="0"/>
              </a:spcAft>
            </a:pPr>
            <a:r>
              <a:rPr sz="1100" b="1" spc="120">
                <a:solidFill>
                  <a:srgbClr val="A1B9FC"/>
                </a:solidFill>
                <a:latin typeface="Proxima Nova"/>
              </a:rPr>
              <a:t>THEN</a:t>
            </a:r>
          </a:p>
        </p:txBody>
      </p:sp>
      <p:sp>
        <p:nvSpPr>
          <p:cNvPr id="9" name="TextBox 8"/>
          <p:cNvSpPr txBox="1"/>
          <p:nvPr/>
        </p:nvSpPr>
        <p:spPr>
          <a:xfrm>
            <a:off x="2377440" y="4645152"/>
            <a:ext cx="8503920" cy="365760"/>
          </a:xfrm>
          <a:prstGeom prst="rect">
            <a:avLst/>
          </a:prstGeom>
          <a:noFill/>
        </p:spPr>
        <p:txBody>
          <a:bodyPr wrap="square" lIns="0" rIns="0" tIns="0" bIns="0" anchor="t">
            <a:spAutoFit/>
          </a:bodyPr>
          <a:lstStyle/>
          <a:p>
            <a:pPr algn="l">
              <a:spcAft>
                <a:spcPts val="0"/>
              </a:spcAft>
            </a:pPr>
            <a:r>
              <a:rPr sz="1250" b="0">
                <a:solidFill>
                  <a:srgbClr val="D3D3D3"/>
                </a:solidFill>
                <a:latin typeface="Roboto"/>
              </a:rPr>
              <a:t>MCP client registry — core banking, UPI and bureau as tenant connectors</a:t>
            </a:r>
          </a:p>
        </p:txBody>
      </p:sp>
      <p:sp>
        <p:nvSpPr>
          <p:cNvPr id="10" name="TextBox 9"/>
          <p:cNvSpPr txBox="1"/>
          <p:nvPr/>
        </p:nvSpPr>
        <p:spPr>
          <a:xfrm>
            <a:off x="1051560" y="5120640"/>
            <a:ext cx="1188720" cy="292608"/>
          </a:xfrm>
          <a:prstGeom prst="rect">
            <a:avLst/>
          </a:prstGeom>
          <a:noFill/>
        </p:spPr>
        <p:txBody>
          <a:bodyPr wrap="square" lIns="0" rIns="0" tIns="0" bIns="0" anchor="t">
            <a:spAutoFit/>
          </a:bodyPr>
          <a:lstStyle/>
          <a:p>
            <a:pPr algn="l">
              <a:spcAft>
                <a:spcPts val="0"/>
              </a:spcAft>
            </a:pPr>
            <a:r>
              <a:rPr sz="1100" b="1" spc="120">
                <a:solidFill>
                  <a:srgbClr val="A1B9FC"/>
                </a:solidFill>
                <a:latin typeface="Proxima Nova"/>
              </a:rPr>
              <a:t>ALWAYS</a:t>
            </a:r>
          </a:p>
        </p:txBody>
      </p:sp>
      <p:sp>
        <p:nvSpPr>
          <p:cNvPr id="11" name="TextBox 10"/>
          <p:cNvSpPr txBox="1"/>
          <p:nvPr/>
        </p:nvSpPr>
        <p:spPr>
          <a:xfrm>
            <a:off x="2377440" y="5102352"/>
            <a:ext cx="8503920" cy="365760"/>
          </a:xfrm>
          <a:prstGeom prst="rect">
            <a:avLst/>
          </a:prstGeom>
          <a:noFill/>
        </p:spPr>
        <p:txBody>
          <a:bodyPr wrap="square" lIns="0" rIns="0" tIns="0" bIns="0" anchor="t">
            <a:spAutoFit/>
          </a:bodyPr>
          <a:lstStyle/>
          <a:p>
            <a:pPr algn="l">
              <a:spcAft>
                <a:spcPts val="0"/>
              </a:spcAft>
            </a:pPr>
            <a:r>
              <a:rPr sz="1250" b="0">
                <a:solidFill>
                  <a:srgbClr val="D3D3D3"/>
                </a:solidFill>
                <a:latin typeface="Roboto"/>
              </a:rPr>
              <a:t>Shadow mode first. Nothing acts until the log says it should</a:t>
            </a:r>
          </a:p>
        </p:txBody>
      </p:sp>
      <p:sp>
        <p:nvSpPr>
          <p:cNvPr id="12" name="Rounded Rectangle 11"/>
          <p:cNvSpPr/>
          <p:nvPr/>
        </p:nvSpPr>
        <p:spPr>
          <a:xfrm>
            <a:off x="1051560" y="5806440"/>
            <a:ext cx="4572000" cy="18288"/>
          </a:xfrm>
          <a:prstGeom prst="roundRect">
            <a:avLst>
              <a:gd name="adj" fmla="val 0"/>
            </a:avLst>
          </a:prstGeom>
          <a:solidFill>
            <a:srgbClr val="2E2E2E"/>
          </a:solidFill>
          <a:ln>
            <a:noFill/>
          </a:ln>
          <a:effectLst/>
        </p:spPr>
        <p:txBody>
          <a:bodyPr rtlCol="0" anchor="ctr"/>
          <a:lstStyle/>
          <a:p>
            <a:pPr algn="ctr"/>
          </a:p>
        </p:txBody>
      </p:sp>
      <p:sp>
        <p:nvSpPr>
          <p:cNvPr id="13" name="TextBox 12"/>
          <p:cNvSpPr txBox="1"/>
          <p:nvPr/>
        </p:nvSpPr>
        <p:spPr>
          <a:xfrm>
            <a:off x="1051560" y="6035040"/>
            <a:ext cx="5486400" cy="365760"/>
          </a:xfrm>
          <a:prstGeom prst="rect">
            <a:avLst/>
          </a:prstGeom>
          <a:noFill/>
        </p:spPr>
        <p:txBody>
          <a:bodyPr wrap="square" lIns="0" rIns="0" tIns="0" bIns="0" anchor="t">
            <a:spAutoFit/>
          </a:bodyPr>
          <a:lstStyle/>
          <a:p>
            <a:pPr algn="l">
              <a:spcAft>
                <a:spcPts val="0"/>
              </a:spcAft>
            </a:pPr>
            <a:r>
              <a:rPr sz="1700" b="1">
                <a:solidFill>
                  <a:srgbClr val="114FF4"/>
                </a:solidFill>
                <a:latin typeface="Proxima Nova"/>
              </a:rPr>
              <a:t>Now — the live demo.</a:t>
            </a:r>
          </a:p>
        </p:txBody>
      </p:sp>
      <p:sp>
        <p:nvSpPr>
          <p:cNvPr id="14" name="TextBox 13"/>
          <p:cNvSpPr txBox="1"/>
          <p:nvPr/>
        </p:nvSpPr>
        <p:spPr>
          <a:xfrm>
            <a:off x="6949440" y="6053328"/>
            <a:ext cx="4297680" cy="365760"/>
          </a:xfrm>
          <a:prstGeom prst="rect">
            <a:avLst/>
          </a:prstGeom>
          <a:noFill/>
        </p:spPr>
        <p:txBody>
          <a:bodyPr wrap="square" lIns="0" rIns="0" tIns="0" bIns="0" anchor="t">
            <a:spAutoFit/>
          </a:bodyPr>
          <a:lstStyle/>
          <a:p>
            <a:pPr algn="r">
              <a:spcAft>
                <a:spcPts val="0"/>
              </a:spcAft>
            </a:pPr>
            <a:r>
              <a:rPr sz="1100" b="0">
                <a:solidFill>
                  <a:srgbClr val="7B7B7B"/>
                </a:solidFill>
                <a:latin typeface="Roboto"/>
              </a:rPr>
              <a:t>BigBound AI  ·  BigTapp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